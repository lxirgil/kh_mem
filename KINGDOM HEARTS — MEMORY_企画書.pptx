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9" r:id="rId17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264" y="-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2E8D6-3DE6-4A4C-AEE5-C6587B99CA7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E36EB9-FCA6-4742-8E61-EFCE08F49E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3862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36EB9-FCA6-4742-8E61-EFCE08F49E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021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36EB9-FCA6-4742-8E61-EFCE08F49E6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371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36EB9-FCA6-4742-8E61-EFCE08F49E63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35279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図 25" descr="キングダムハーツ キャラクター解説 ソラ編 :: Hearts &amp; Keys">
            <a:extLst>
              <a:ext uri="{FF2B5EF4-FFF2-40B4-BE49-F238E27FC236}">
                <a16:creationId xmlns:a16="http://schemas.microsoft.com/office/drawing/2014/main" id="{556C8E54-B1B9-05D4-AB0C-CA2A4CEE3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7738" cy="685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822960" y="-1005840"/>
            <a:ext cx="3840480" cy="3840480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2A6BB5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700000">
            <a:off x="-822960" y="-1005840"/>
            <a:ext cx="3840480" cy="3840480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2A6BB5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66851" y="683971"/>
            <a:ext cx="460857" cy="460857"/>
          </a:xfrm>
          <a:prstGeom prst="ellipse">
            <a:avLst/>
          </a:prstGeom>
          <a:solidFill>
            <a:srgbClr val="2A6BB5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 spc="400">
                <a:solidFill>
                  <a:srgbClr val="E6D5A3"/>
                </a:solidFill>
                <a:latin typeface="Georgia"/>
              </a:rPr>
              <a:t>WEB SITE PLANNING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148840"/>
            <a:ext cx="100584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 i="0" spc="50">
                <a:solidFill>
                  <a:srgbClr val="EEF4FF"/>
                </a:solidFill>
                <a:latin typeface="Georgia"/>
              </a:rPr>
              <a:t>KINGDOM HEARTS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1" i="0">
                <a:solidFill>
                  <a:srgbClr val="E6D5A3"/>
                </a:solidFill>
                <a:latin typeface="Georgia"/>
              </a:rPr>
              <a:t>— </a:t>
            </a:r>
            <a:r>
              <a:rPr sz="4600" b="1" i="0" spc="50">
                <a:solidFill>
                  <a:srgbClr val="EEF4FF"/>
                </a:solidFill>
                <a:latin typeface="Georgia"/>
              </a:rP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7315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 spc="150" dirty="0" err="1">
                <a:solidFill>
                  <a:srgbClr val="9AD5FF"/>
                </a:solidFill>
                <a:highlight>
                  <a:srgbClr val="000000"/>
                </a:highlight>
                <a:latin typeface="Meiryo UI" panose="020B0604030504040204" pitchFamily="50" charset="-128"/>
              </a:rPr>
              <a:t>記憶を辿る、光と闇の旅</a:t>
            </a:r>
            <a:endParaRPr sz="1700" b="0" i="0" spc="150" dirty="0">
              <a:solidFill>
                <a:srgbClr val="9AD5FF"/>
              </a:solidFill>
              <a:highlight>
                <a:srgbClr val="000000"/>
              </a:highlight>
              <a:latin typeface="Meiryo UI" panose="020B0604030504040204" pitchFamily="50" charset="-12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14400" y="4526280"/>
            <a:ext cx="1280160" cy="1524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-1369772" y="6532605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i="0" spc="50" dirty="0">
                <a:solidFill>
                  <a:srgbClr val="7D8FAE"/>
                </a:solidFill>
                <a:latin typeface="Meiryo UI" panose="020B0604030504040204" pitchFamily="50" charset="-128"/>
              </a:rPr>
              <a:t>高度情報工学科4年　23418190　</a:t>
            </a:r>
            <a:r>
              <a:rPr lang="en-US" sz="1200" b="0" i="0" spc="50" dirty="0">
                <a:solidFill>
                  <a:srgbClr val="7D8FAE"/>
                </a:solidFill>
                <a:latin typeface="Meiryo UI" panose="020B0604030504040204" pitchFamily="50" charset="-128"/>
              </a:rPr>
              <a:t>5.</a:t>
            </a:r>
            <a:r>
              <a:rPr sz="1200" b="0" i="0" spc="50" dirty="0">
                <a:solidFill>
                  <a:srgbClr val="7D8FAE"/>
                </a:solidFill>
                <a:latin typeface="Meiryo UI" panose="020B0604030504040204" pitchFamily="50" charset="-128"/>
              </a:rPr>
              <a:t>佐藤万宙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2FD6F9C3-82AC-F134-C347-1631B98C1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366" y="1304636"/>
            <a:ext cx="3133667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296211" y="3833425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319272" y="-10579608"/>
            <a:ext cx="12746735" cy="12746735"/>
          </a:xfrm>
          <a:prstGeom prst="ellipse">
            <a:avLst/>
          </a:prstGeom>
          <a:solidFill>
            <a:srgbClr val="E6D5A3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474720" y="-10424160"/>
            <a:ext cx="12435840" cy="12435840"/>
          </a:xfrm>
          <a:prstGeom prst="ellipse">
            <a:avLst/>
          </a:prstGeom>
          <a:noFill/>
          <a:ln w="330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215737" y="-8683142"/>
            <a:ext cx="8953804" cy="8953804"/>
          </a:xfrm>
          <a:prstGeom prst="ellipse">
            <a:avLst/>
          </a:prstGeom>
          <a:noFill/>
          <a:ln w="2540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832396" y="-7066483"/>
            <a:ext cx="5720486" cy="5720486"/>
          </a:xfrm>
          <a:prstGeom prst="ellipse">
            <a:avLst/>
          </a:prstGeom>
          <a:noFill/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2335160" y="-3111672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4906034" y="-215605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0787207" y="-1563719"/>
            <a:ext cx="1142158" cy="275741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1742827" y="1007154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7455914" y="-1563719"/>
            <a:ext cx="1142158" cy="275741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7269377" y="1007154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4292707" y="-3111672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106169" y="-215605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292707" y="-6442965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4106169" y="-662950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7455914" y="-9606172"/>
            <a:ext cx="1142158" cy="27574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7269377" y="-9792710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0787207" y="-9606172"/>
            <a:ext cx="1142158" cy="27574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1742827" y="-9792710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335160" y="-6442965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4906034" y="-662950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887206" y="1513199"/>
            <a:ext cx="107503" cy="10750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5625734" y="4384779"/>
            <a:ext cx="59451" cy="59451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649481" y="4562154"/>
            <a:ext cx="59313" cy="5931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235629" y="1504206"/>
            <a:ext cx="51407" cy="5140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512409" y="3209791"/>
            <a:ext cx="66588" cy="6658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mond 37"/>
          <p:cNvSpPr/>
          <p:nvPr/>
        </p:nvSpPr>
        <p:spPr>
          <a:xfrm>
            <a:off x="4925983" y="1595987"/>
            <a:ext cx="73253" cy="73253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683108" y="5364531"/>
            <a:ext cx="89254" cy="89254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220800" y="2737812"/>
            <a:ext cx="69996" cy="69996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933287" y="4418257"/>
            <a:ext cx="46137" cy="4613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377493" y="2436825"/>
            <a:ext cx="47119" cy="4711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Diamond 42"/>
          <p:cNvSpPr/>
          <p:nvPr/>
        </p:nvSpPr>
        <p:spPr>
          <a:xfrm>
            <a:off x="561689" y="3777889"/>
            <a:ext cx="55536" cy="55536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458078" y="722788"/>
            <a:ext cx="55369" cy="5536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515024" y="2542631"/>
            <a:ext cx="87478" cy="8747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5972189" y="5686229"/>
            <a:ext cx="65645" cy="65645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Diamond 46"/>
          <p:cNvSpPr/>
          <p:nvPr/>
        </p:nvSpPr>
        <p:spPr>
          <a:xfrm>
            <a:off x="8103478" y="4507222"/>
            <a:ext cx="46100" cy="46100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11177" y="2438364"/>
            <a:ext cx="106277" cy="10627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735402" y="1048307"/>
            <a:ext cx="90892" cy="90892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Diamond 49"/>
          <p:cNvSpPr/>
          <p:nvPr/>
        </p:nvSpPr>
        <p:spPr>
          <a:xfrm>
            <a:off x="9411011" y="5173646"/>
            <a:ext cx="54701" cy="54701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226050" y="4589618"/>
            <a:ext cx="334172" cy="121517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241240" y="4502278"/>
            <a:ext cx="60758" cy="11392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>
            <a:off x="1241240" y="4449114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362757" y="4418735"/>
            <a:ext cx="60758" cy="197465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>
            <a:off x="1362757" y="4365571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469084" y="4502278"/>
            <a:ext cx="60758" cy="11392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Isosceles Triangle 56"/>
          <p:cNvSpPr/>
          <p:nvPr/>
        </p:nvSpPr>
        <p:spPr>
          <a:xfrm>
            <a:off x="1469084" y="4449114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70352" y="4638984"/>
            <a:ext cx="45568" cy="72150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437299" y="6401557"/>
            <a:ext cx="554389" cy="2015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462498" y="6256660"/>
            <a:ext cx="100798" cy="1889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Isosceles Triangle 60"/>
          <p:cNvSpPr/>
          <p:nvPr/>
        </p:nvSpPr>
        <p:spPr>
          <a:xfrm>
            <a:off x="10462498" y="6168461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0664094" y="6118062"/>
            <a:ext cx="100798" cy="327593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Isosceles Triangle 62"/>
          <p:cNvSpPr/>
          <p:nvPr/>
        </p:nvSpPr>
        <p:spPr>
          <a:xfrm>
            <a:off x="10664094" y="6029864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10840491" y="6256660"/>
            <a:ext cx="100798" cy="1889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Isosceles Triangle 64"/>
          <p:cNvSpPr/>
          <p:nvPr/>
        </p:nvSpPr>
        <p:spPr>
          <a:xfrm>
            <a:off x="10840491" y="6168461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10676694" y="6483455"/>
            <a:ext cx="75598" cy="119697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5-Point Star 66"/>
          <p:cNvSpPr/>
          <p:nvPr/>
        </p:nvSpPr>
        <p:spPr>
          <a:xfrm>
            <a:off x="3938405" y="2904924"/>
            <a:ext cx="591403" cy="591403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2463218" y="2345972"/>
            <a:ext cx="141143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2593218" y="233482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2456124" y="2367804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559168" y="2439623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2437552" y="2381297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470025" y="250438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H="1">
            <a:off x="2370981" y="2381297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359838" y="250438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 flipH="1">
            <a:off x="2281838" y="2367804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2270695" y="2439623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 flipH="1">
            <a:off x="2247788" y="2345972"/>
            <a:ext cx="141144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2236645" y="233482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 flipH="1" flipV="1">
            <a:off x="2281838" y="2241177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2270695" y="2230034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2370981" y="2176411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2359838" y="2165268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 flipV="1">
            <a:off x="2437552" y="2176411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470025" y="2165268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 flipV="1">
            <a:off x="2456124" y="2241177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2559168" y="2230034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2403789" y="2323686"/>
            <a:ext cx="44571" cy="44571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>
            <a:off x="2657579" y="4131231"/>
            <a:ext cx="173412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2817300" y="4117541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2648863" y="4158054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2775466" y="4246293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>
            <a:off x="2626046" y="4174632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665943" y="4325866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 flipH="1">
            <a:off x="2544255" y="4174632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2530564" y="4325866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/>
          <p:cNvCxnSpPr/>
          <p:nvPr/>
        </p:nvCxnSpPr>
        <p:spPr>
          <a:xfrm flipH="1">
            <a:off x="2434732" y="4158054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2421041" y="4246293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/>
          <p:cNvCxnSpPr/>
          <p:nvPr/>
        </p:nvCxnSpPr>
        <p:spPr>
          <a:xfrm flipH="1">
            <a:off x="2392897" y="4131231"/>
            <a:ext cx="173412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79207" y="4117541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 flipH="1" flipV="1">
            <a:off x="2434732" y="4002479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2421041" y="3988788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/>
          <p:cNvCxnSpPr/>
          <p:nvPr/>
        </p:nvCxnSpPr>
        <p:spPr>
          <a:xfrm flipH="1" flipV="1">
            <a:off x="2544255" y="3922905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2530564" y="3909215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626046" y="3922905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2665943" y="3909215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/>
          <p:cNvCxnSpPr/>
          <p:nvPr/>
        </p:nvCxnSpPr>
        <p:spPr>
          <a:xfrm flipV="1">
            <a:off x="2648863" y="4002479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2775466" y="3988788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84563" y="4103850"/>
            <a:ext cx="54761" cy="54761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1091878" y="4653985"/>
            <a:ext cx="463368" cy="168497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1112940" y="4532877"/>
            <a:ext cx="84248" cy="15796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Isosceles Triangle 111"/>
          <p:cNvSpPr/>
          <p:nvPr/>
        </p:nvSpPr>
        <p:spPr>
          <a:xfrm>
            <a:off x="11112940" y="4459159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11281438" y="4417035"/>
            <a:ext cx="84248" cy="273808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Isosceles Triangle 113"/>
          <p:cNvSpPr/>
          <p:nvPr/>
        </p:nvSpPr>
        <p:spPr>
          <a:xfrm>
            <a:off x="11281438" y="4343317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11428873" y="4532877"/>
            <a:ext cx="84248" cy="15796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Isosceles Triangle 115"/>
          <p:cNvSpPr/>
          <p:nvPr/>
        </p:nvSpPr>
        <p:spPr>
          <a:xfrm>
            <a:off x="11428873" y="4459159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11291969" y="4722437"/>
            <a:ext cx="63186" cy="100045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5-Point Star 117"/>
          <p:cNvSpPr/>
          <p:nvPr/>
        </p:nvSpPr>
        <p:spPr>
          <a:xfrm>
            <a:off x="10776440" y="4979449"/>
            <a:ext cx="621177" cy="621177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ABOUT KINGDOM HEARTS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キングダムハーツとは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02 / 11</a:t>
            </a:r>
          </a:p>
        </p:txBody>
      </p:sp>
      <p:pic>
        <p:nvPicPr>
          <p:cNvPr id="152" name="図 23">
            <a:extLst>
              <a:ext uri="{FF2B5EF4-FFF2-40B4-BE49-F238E27FC236}">
                <a16:creationId xmlns:a16="http://schemas.microsoft.com/office/drawing/2014/main" id="{2FD6F9C3-82AC-F134-C347-1631B98C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92523"/>
            <a:ext cx="3657600" cy="3998833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822960" y="20574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B39A63"/>
                </a:solidFill>
                <a:latin typeface="Georgia"/>
              </a:rPr>
              <a:t>01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874519" y="2057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spc="20">
                <a:solidFill>
                  <a:srgbClr val="EEF4FF"/>
                </a:solidFill>
                <a:latin typeface="Meiryo UI"/>
              </a:rPr>
              <a:t>シリーズ概要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74519" y="25328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3D2EA"/>
                </a:solidFill>
                <a:latin typeface="Meiryo UI"/>
              </a:rPr>
              <a:t>スクウェア・エニックス×ディズニーのアクションRPGシリーズ(2002年〜)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2960" y="352044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B39A63"/>
                </a:solidFill>
                <a:latin typeface="Georgia"/>
              </a:rPr>
              <a:t>02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874519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spc="20">
                <a:solidFill>
                  <a:srgbClr val="EEF4FF"/>
                </a:solidFill>
                <a:latin typeface="Meiryo UI"/>
              </a:rPr>
              <a:t>物語のテーマ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74519" y="39959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3D2EA"/>
                </a:solidFill>
                <a:latin typeface="Meiryo UI"/>
              </a:rPr>
              <a:t>「心」「記憶」「光と闇」を巡る、少年ソラの旅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22960" y="49834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B39A63"/>
                </a:solidFill>
                <a:latin typeface="Georgia"/>
              </a:rPr>
              <a:t>03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74519" y="4983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spc="20">
                <a:solidFill>
                  <a:srgbClr val="EEF4FF"/>
                </a:solidFill>
                <a:latin typeface="Meiryo UI"/>
              </a:rPr>
              <a:t>シリーズの広がり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74519" y="54589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3D2EA"/>
                </a:solidFill>
                <a:latin typeface="Meiryo UI"/>
              </a:rPr>
              <a:t>本編・外伝あわせて10作以上、20年以上続く人気シリーズ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2960" y="3108960"/>
            <a:ext cx="6537960" cy="9525"/>
          </a:xfrm>
          <a:prstGeom prst="rect">
            <a:avLst/>
          </a:prstGeom>
          <a:solidFill>
            <a:srgbClr val="2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22960" y="4572000"/>
            <a:ext cx="6537960" cy="9525"/>
          </a:xfrm>
          <a:prstGeom prst="rect">
            <a:avLst/>
          </a:prstGeom>
          <a:solidFill>
            <a:srgbClr val="2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296211" y="3833425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319272" y="-10579608"/>
            <a:ext cx="12746735" cy="12746735"/>
          </a:xfrm>
          <a:prstGeom prst="ellipse">
            <a:avLst/>
          </a:prstGeom>
          <a:solidFill>
            <a:srgbClr val="E6D5A3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474720" y="-10424160"/>
            <a:ext cx="12435840" cy="12435840"/>
          </a:xfrm>
          <a:prstGeom prst="ellipse">
            <a:avLst/>
          </a:prstGeom>
          <a:noFill/>
          <a:ln w="330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215737" y="-8683142"/>
            <a:ext cx="8953804" cy="8953804"/>
          </a:xfrm>
          <a:prstGeom prst="ellipse">
            <a:avLst/>
          </a:prstGeom>
          <a:noFill/>
          <a:ln w="2540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832396" y="-7066483"/>
            <a:ext cx="5720486" cy="5720486"/>
          </a:xfrm>
          <a:prstGeom prst="ellipse">
            <a:avLst/>
          </a:prstGeom>
          <a:noFill/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2335160" y="-3111672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4906034" y="-215605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0787207" y="-1563719"/>
            <a:ext cx="1142158" cy="275741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1742827" y="1007154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7455914" y="-1563719"/>
            <a:ext cx="1142158" cy="275741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7269377" y="1007154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4292707" y="-3111672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106169" y="-215605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292707" y="-6442965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4106169" y="-662950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7455914" y="-9606172"/>
            <a:ext cx="1142158" cy="27574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7269377" y="-9792710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0787207" y="-9606172"/>
            <a:ext cx="1142158" cy="27574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1742827" y="-9792710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335160" y="-6442965"/>
            <a:ext cx="2757412" cy="1142158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4906034" y="-6629502"/>
            <a:ext cx="373075" cy="373075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887206" y="1513199"/>
            <a:ext cx="107503" cy="10750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5625734" y="4384779"/>
            <a:ext cx="59451" cy="59451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649481" y="4562154"/>
            <a:ext cx="59313" cy="5931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235629" y="1504206"/>
            <a:ext cx="51407" cy="5140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512409" y="3209791"/>
            <a:ext cx="66588" cy="6658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mond 37"/>
          <p:cNvSpPr/>
          <p:nvPr/>
        </p:nvSpPr>
        <p:spPr>
          <a:xfrm>
            <a:off x="4925983" y="1595987"/>
            <a:ext cx="73253" cy="73253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683108" y="5364531"/>
            <a:ext cx="89254" cy="89254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220800" y="2737812"/>
            <a:ext cx="69996" cy="69996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933287" y="4418257"/>
            <a:ext cx="46137" cy="4613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377493" y="2436825"/>
            <a:ext cx="47119" cy="4711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Diamond 42"/>
          <p:cNvSpPr/>
          <p:nvPr/>
        </p:nvSpPr>
        <p:spPr>
          <a:xfrm>
            <a:off x="561689" y="3777889"/>
            <a:ext cx="55536" cy="55536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458078" y="722788"/>
            <a:ext cx="55369" cy="5536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515024" y="2542631"/>
            <a:ext cx="87478" cy="8747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5972189" y="5686229"/>
            <a:ext cx="65645" cy="65645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Diamond 46"/>
          <p:cNvSpPr/>
          <p:nvPr/>
        </p:nvSpPr>
        <p:spPr>
          <a:xfrm>
            <a:off x="8103478" y="4507222"/>
            <a:ext cx="46100" cy="46100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11177" y="2438364"/>
            <a:ext cx="106277" cy="10627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735402" y="1048307"/>
            <a:ext cx="90892" cy="90892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Diamond 49"/>
          <p:cNvSpPr/>
          <p:nvPr/>
        </p:nvSpPr>
        <p:spPr>
          <a:xfrm>
            <a:off x="9411011" y="5173646"/>
            <a:ext cx="54701" cy="54701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226050" y="4589618"/>
            <a:ext cx="334172" cy="121517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241240" y="4502278"/>
            <a:ext cx="60758" cy="11392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>
            <a:off x="1241240" y="4449114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362757" y="4418735"/>
            <a:ext cx="60758" cy="197465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>
            <a:off x="1362757" y="4365571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469084" y="4502278"/>
            <a:ext cx="60758" cy="11392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Isosceles Triangle 56"/>
          <p:cNvSpPr/>
          <p:nvPr/>
        </p:nvSpPr>
        <p:spPr>
          <a:xfrm>
            <a:off x="1469084" y="4449114"/>
            <a:ext cx="60758" cy="5316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370352" y="4638984"/>
            <a:ext cx="45568" cy="72150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437299" y="6401557"/>
            <a:ext cx="554389" cy="2015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462498" y="6256660"/>
            <a:ext cx="100798" cy="1889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Isosceles Triangle 60"/>
          <p:cNvSpPr/>
          <p:nvPr/>
        </p:nvSpPr>
        <p:spPr>
          <a:xfrm>
            <a:off x="10462498" y="6168461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0664094" y="6118062"/>
            <a:ext cx="100798" cy="327593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Isosceles Triangle 62"/>
          <p:cNvSpPr/>
          <p:nvPr/>
        </p:nvSpPr>
        <p:spPr>
          <a:xfrm>
            <a:off x="10664094" y="6029864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10840491" y="6256660"/>
            <a:ext cx="100798" cy="18899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Isosceles Triangle 64"/>
          <p:cNvSpPr/>
          <p:nvPr/>
        </p:nvSpPr>
        <p:spPr>
          <a:xfrm>
            <a:off x="10840491" y="6168461"/>
            <a:ext cx="100798" cy="88198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10676694" y="6483455"/>
            <a:ext cx="75598" cy="119697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5-Point Star 66"/>
          <p:cNvSpPr/>
          <p:nvPr/>
        </p:nvSpPr>
        <p:spPr>
          <a:xfrm>
            <a:off x="3938405" y="2904924"/>
            <a:ext cx="591403" cy="591403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2463218" y="2345972"/>
            <a:ext cx="141143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2593218" y="233482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2456124" y="2367804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559168" y="2439623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2437552" y="2381297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470025" y="250438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H="1">
            <a:off x="2370981" y="2381297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359838" y="250438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 flipH="1">
            <a:off x="2281838" y="2367804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2270695" y="2439623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 flipH="1">
            <a:off x="2247788" y="2345972"/>
            <a:ext cx="141144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2236645" y="2334829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 flipH="1" flipV="1">
            <a:off x="2281838" y="2241177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2270695" y="2230034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2370981" y="2176411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2359838" y="2165268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 flipV="1">
            <a:off x="2437552" y="2176411"/>
            <a:ext cx="43616" cy="13423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470025" y="2165268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 flipV="1">
            <a:off x="2456124" y="2241177"/>
            <a:ext cx="114187" cy="8296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2559168" y="2230034"/>
            <a:ext cx="22285" cy="22285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2403789" y="2323686"/>
            <a:ext cx="44571" cy="44571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>
            <a:off x="2657579" y="4131231"/>
            <a:ext cx="173412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2817300" y="4117541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2648863" y="4158054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2775466" y="4246293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>
            <a:off x="2626046" y="4174632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665943" y="4325866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 flipH="1">
            <a:off x="2544255" y="4174632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2530564" y="4325866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/>
          <p:cNvCxnSpPr/>
          <p:nvPr/>
        </p:nvCxnSpPr>
        <p:spPr>
          <a:xfrm flipH="1">
            <a:off x="2434732" y="4158054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2421041" y="4246293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/>
          <p:cNvCxnSpPr/>
          <p:nvPr/>
        </p:nvCxnSpPr>
        <p:spPr>
          <a:xfrm flipH="1">
            <a:off x="2392897" y="4131231"/>
            <a:ext cx="173412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2379207" y="4117541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 flipH="1" flipV="1">
            <a:off x="2434732" y="4002479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2421041" y="3988788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/>
          <p:cNvCxnSpPr/>
          <p:nvPr/>
        </p:nvCxnSpPr>
        <p:spPr>
          <a:xfrm flipH="1" flipV="1">
            <a:off x="2544255" y="3922905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2530564" y="3909215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626046" y="3922905"/>
            <a:ext cx="53587" cy="164925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2665943" y="3909215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/>
          <p:cNvCxnSpPr/>
          <p:nvPr/>
        </p:nvCxnSpPr>
        <p:spPr>
          <a:xfrm flipV="1">
            <a:off x="2648863" y="4002479"/>
            <a:ext cx="140293" cy="10192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2775466" y="3988788"/>
            <a:ext cx="27380" cy="27380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84563" y="4103850"/>
            <a:ext cx="54761" cy="54761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1091878" y="4653985"/>
            <a:ext cx="463368" cy="168497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1112940" y="4532877"/>
            <a:ext cx="84248" cy="15796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Isosceles Triangle 111"/>
          <p:cNvSpPr/>
          <p:nvPr/>
        </p:nvSpPr>
        <p:spPr>
          <a:xfrm>
            <a:off x="11112940" y="4459159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11281438" y="4417035"/>
            <a:ext cx="84248" cy="273808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Isosceles Triangle 113"/>
          <p:cNvSpPr/>
          <p:nvPr/>
        </p:nvSpPr>
        <p:spPr>
          <a:xfrm>
            <a:off x="11281438" y="4343317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11428873" y="4532877"/>
            <a:ext cx="84248" cy="157966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Isosceles Triangle 115"/>
          <p:cNvSpPr/>
          <p:nvPr/>
        </p:nvSpPr>
        <p:spPr>
          <a:xfrm>
            <a:off x="11428873" y="4459159"/>
            <a:ext cx="84248" cy="73717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11291969" y="4722437"/>
            <a:ext cx="63186" cy="100045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5-Point Star 117"/>
          <p:cNvSpPr/>
          <p:nvPr/>
        </p:nvSpPr>
        <p:spPr>
          <a:xfrm>
            <a:off x="10776440" y="4979449"/>
            <a:ext cx="621177" cy="621177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OVERVIEW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サイト概要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822960" y="178308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097280" y="2057400"/>
            <a:ext cx="685800" cy="685800"/>
          </a:xfrm>
          <a:prstGeom prst="ellipse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Heart 123"/>
          <p:cNvSpPr/>
          <p:nvPr/>
        </p:nvSpPr>
        <p:spPr>
          <a:xfrm>
            <a:off x="1243584" y="2203704"/>
            <a:ext cx="393192" cy="393192"/>
          </a:xfrm>
          <a:prstGeom prst="heart">
            <a:avLst/>
          </a:prstGeom>
          <a:noFill/>
          <a:ln w="20320">
            <a:solidFill>
              <a:srgbClr val="9A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1408724" y="2321661"/>
            <a:ext cx="62910" cy="62910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Isosceles Triangle 125"/>
          <p:cNvSpPr/>
          <p:nvPr/>
        </p:nvSpPr>
        <p:spPr>
          <a:xfrm>
            <a:off x="1408724" y="2356262"/>
            <a:ext cx="62910" cy="86502"/>
          </a:xfrm>
          <a:prstGeom prst="triangl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2057400" y="1965960"/>
            <a:ext cx="886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企画の核心</a:t>
            </a:r>
            <a:endParaRPr sz="16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057400" y="2350008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「記憶の欠片」を集めて巡る、体験型Webサイト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22960" y="324612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097280" y="3520440"/>
            <a:ext cx="685800" cy="685800"/>
          </a:xfrm>
          <a:prstGeom prst="ellipse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1243584" y="3666744"/>
            <a:ext cx="393192" cy="393192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9A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ounded Rectangle 131"/>
          <p:cNvSpPr/>
          <p:nvPr/>
        </p:nvSpPr>
        <p:spPr>
          <a:xfrm rot="2700000">
            <a:off x="1243584" y="3666744"/>
            <a:ext cx="393192" cy="393192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9A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1416588" y="3839748"/>
            <a:ext cx="47183" cy="47183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057400" y="3429000"/>
            <a:ext cx="886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世界観のテーマ</a:t>
            </a:r>
            <a:endParaRPr sz="16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2057400" y="3813048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「心」「記憶」「光と闇」を幻想的に表現。公式サイトの再現ではなく、オリジナル企画として制作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22960" y="470916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097280" y="4983480"/>
            <a:ext cx="685800" cy="685800"/>
          </a:xfrm>
          <a:prstGeom prst="ellipse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2" name="Group 141"/>
          <p:cNvGrpSpPr/>
          <p:nvPr/>
        </p:nvGrpSpPr>
        <p:grpSpPr>
          <a:xfrm rot="19200000">
            <a:off x="1381201" y="5129784"/>
            <a:ext cx="145481" cy="326349"/>
            <a:chOff x="1381201" y="5129784"/>
            <a:chExt cx="145481" cy="326349"/>
          </a:xfrm>
        </p:grpSpPr>
        <p:sp>
          <p:nvSpPr>
            <p:cNvPr id="138" name="Oval 137"/>
            <p:cNvSpPr/>
            <p:nvPr/>
          </p:nvSpPr>
          <p:spPr>
            <a:xfrm>
              <a:off x="1381201" y="5129784"/>
              <a:ext cx="117957" cy="117957"/>
            </a:xfrm>
            <a:prstGeom prst="ellipse">
              <a:avLst/>
            </a:prstGeom>
            <a:noFill/>
            <a:ln w="17780">
              <a:solidFill>
                <a:srgbClr val="9AD5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1422486" y="5212354"/>
              <a:ext cx="35387" cy="243779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1440180" y="5330311"/>
              <a:ext cx="62910" cy="31455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1440180" y="5393222"/>
              <a:ext cx="86502" cy="31455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47" name="Group 146"/>
          <p:cNvGrpSpPr/>
          <p:nvPr/>
        </p:nvGrpSpPr>
        <p:grpSpPr>
          <a:xfrm rot="2400000">
            <a:off x="1381201" y="5129784"/>
            <a:ext cx="145481" cy="326349"/>
            <a:chOff x="1381201" y="5129784"/>
            <a:chExt cx="145481" cy="326349"/>
          </a:xfrm>
        </p:grpSpPr>
        <p:sp>
          <p:nvSpPr>
            <p:cNvPr id="143" name="Oval 142"/>
            <p:cNvSpPr/>
            <p:nvPr/>
          </p:nvSpPr>
          <p:spPr>
            <a:xfrm>
              <a:off x="1381201" y="5129784"/>
              <a:ext cx="117957" cy="117957"/>
            </a:xfrm>
            <a:prstGeom prst="ellipse">
              <a:avLst/>
            </a:prstGeom>
            <a:noFill/>
            <a:ln w="17780">
              <a:solidFill>
                <a:srgbClr val="9AD5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1422486" y="5212354"/>
              <a:ext cx="35387" cy="243779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1440180" y="5330311"/>
              <a:ext cx="62910" cy="31455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1440180" y="5393222"/>
              <a:ext cx="86502" cy="31455"/>
            </a:xfrm>
            <a:prstGeom prst="rect">
              <a:avLst/>
            </a:prstGeom>
            <a:solidFill>
              <a:srgbClr val="9AD5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8" name="TextBox 147"/>
          <p:cNvSpPr txBox="1"/>
          <p:nvPr/>
        </p:nvSpPr>
        <p:spPr>
          <a:xfrm>
            <a:off x="2057400" y="4892040"/>
            <a:ext cx="886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技術的な実現</a:t>
            </a:r>
            <a:endParaRPr sz="16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057400" y="5276088"/>
            <a:ext cx="88696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HTML・CSS・JavaScriptのみで、ゲームのような体験を再現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4183379" y="4503420"/>
            <a:ext cx="13121639" cy="13121639"/>
          </a:xfrm>
          <a:prstGeom prst="ellipse">
            <a:avLst/>
          </a:prstGeom>
          <a:solidFill>
            <a:srgbClr val="9AD5FF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4023360" y="4663440"/>
            <a:ext cx="12801600" cy="12801600"/>
          </a:xfrm>
          <a:prstGeom prst="ellipse">
            <a:avLst/>
          </a:prstGeom>
          <a:noFill/>
          <a:ln w="330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2231136" y="6455664"/>
            <a:ext cx="9217152" cy="9217152"/>
          </a:xfrm>
          <a:prstGeom prst="ellipse">
            <a:avLst/>
          </a:prstGeom>
          <a:noFill/>
          <a:ln w="2540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-566928" y="8119872"/>
            <a:ext cx="5888736" cy="5888736"/>
          </a:xfrm>
          <a:prstGeom prst="ellipse">
            <a:avLst/>
          </a:prstGeom>
          <a:noFill/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5097681" y="12191000"/>
            <a:ext cx="2838513" cy="117575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7744170" y="13174727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3504200" y="13784481"/>
            <a:ext cx="1175751" cy="2838513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4487927" y="16430970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74928" y="13784481"/>
            <a:ext cx="1175751" cy="2838513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-117095" y="16430970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-3181314" y="12191000"/>
            <a:ext cx="2838513" cy="117575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-3373338" y="13174727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-3181314" y="8761728"/>
            <a:ext cx="2838513" cy="117575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-3373338" y="8569704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74928" y="5505485"/>
            <a:ext cx="1175751" cy="2838513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-117095" y="5313461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3504200" y="5505485"/>
            <a:ext cx="1175751" cy="2838513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4487927" y="5313461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5097681" y="8761728"/>
            <a:ext cx="2838513" cy="117575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7744170" y="8569704"/>
            <a:ext cx="384048" cy="384048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2096601" y="4093739"/>
            <a:ext cx="56581" cy="5658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182404" y="2674675"/>
            <a:ext cx="85244" cy="85244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935421" y="3567798"/>
            <a:ext cx="85383" cy="85383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10187780" y="4824909"/>
            <a:ext cx="69858" cy="69858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873968" y="5283724"/>
            <a:ext cx="89871" cy="8987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344627" y="3389657"/>
            <a:ext cx="59931" cy="5993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065410" y="4125206"/>
            <a:ext cx="86055" cy="86055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183868" y="883695"/>
            <a:ext cx="67033" cy="67033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099010" y="4900255"/>
            <a:ext cx="73310" cy="7331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498819" y="1343211"/>
            <a:ext cx="58992" cy="58992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443137" y="2971803"/>
            <a:ext cx="81440" cy="8144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855623" y="5765365"/>
            <a:ext cx="98530" cy="9853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5658874" y="6125180"/>
            <a:ext cx="74340" cy="7434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066271" y="4506856"/>
            <a:ext cx="70730" cy="7073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7098977" y="5925730"/>
            <a:ext cx="85602" cy="85602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1233920" y="3552655"/>
            <a:ext cx="71223" cy="71223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0902642" y="1373898"/>
            <a:ext cx="50355" cy="50355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0223960" y="2675490"/>
            <a:ext cx="62024" cy="62024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293464" y="4678848"/>
            <a:ext cx="435304" cy="158292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313251" y="4565075"/>
            <a:ext cx="79146" cy="148399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>
            <a:off x="2313251" y="4495822"/>
            <a:ext cx="79146" cy="6925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471543" y="4456249"/>
            <a:ext cx="79146" cy="257225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>
            <a:off x="2471543" y="4386996"/>
            <a:ext cx="79146" cy="6925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610049" y="4565075"/>
            <a:ext cx="79146" cy="148399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Isosceles Triangle 56"/>
          <p:cNvSpPr/>
          <p:nvPr/>
        </p:nvSpPr>
        <p:spPr>
          <a:xfrm>
            <a:off x="2610049" y="4495822"/>
            <a:ext cx="79146" cy="6925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2481437" y="4743154"/>
            <a:ext cx="59359" cy="93986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 rot="19800000">
            <a:off x="2787539" y="1331237"/>
            <a:ext cx="40271" cy="268477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5-Point Star 59"/>
          <p:cNvSpPr/>
          <p:nvPr/>
        </p:nvSpPr>
        <p:spPr>
          <a:xfrm>
            <a:off x="2711470" y="1179100"/>
            <a:ext cx="205832" cy="205832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4-Point Star 60"/>
          <p:cNvSpPr/>
          <p:nvPr/>
        </p:nvSpPr>
        <p:spPr>
          <a:xfrm>
            <a:off x="2653300" y="1358084"/>
            <a:ext cx="71593" cy="71593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4-Point Star 61"/>
          <p:cNvSpPr/>
          <p:nvPr/>
        </p:nvSpPr>
        <p:spPr>
          <a:xfrm>
            <a:off x="2617503" y="1447577"/>
            <a:ext cx="49220" cy="49220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 rot="19800000">
            <a:off x="2281864" y="6432741"/>
            <a:ext cx="44316" cy="295446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5-Point Star 63"/>
          <p:cNvSpPr/>
          <p:nvPr/>
        </p:nvSpPr>
        <p:spPr>
          <a:xfrm>
            <a:off x="2198154" y="6265322"/>
            <a:ext cx="226509" cy="226509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4-Point Star 64"/>
          <p:cNvSpPr/>
          <p:nvPr/>
        </p:nvSpPr>
        <p:spPr>
          <a:xfrm>
            <a:off x="2134141" y="6462286"/>
            <a:ext cx="78785" cy="78785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4-Point Star 65"/>
          <p:cNvSpPr/>
          <p:nvPr/>
        </p:nvSpPr>
        <p:spPr>
          <a:xfrm>
            <a:off x="2094748" y="6560768"/>
            <a:ext cx="54165" cy="54165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5-Point Star 66"/>
          <p:cNvSpPr/>
          <p:nvPr/>
        </p:nvSpPr>
        <p:spPr>
          <a:xfrm>
            <a:off x="10398230" y="1108303"/>
            <a:ext cx="401462" cy="401462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19955" y="3734002"/>
            <a:ext cx="541817" cy="197024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44583" y="3592390"/>
            <a:ext cx="98512" cy="18471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Isosceles Triangle 69"/>
          <p:cNvSpPr/>
          <p:nvPr/>
        </p:nvSpPr>
        <p:spPr>
          <a:xfrm>
            <a:off x="544583" y="3506192"/>
            <a:ext cx="98512" cy="86198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41607" y="3456936"/>
            <a:ext cx="98512" cy="320165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Isosceles Triangle 71"/>
          <p:cNvSpPr/>
          <p:nvPr/>
        </p:nvSpPr>
        <p:spPr>
          <a:xfrm>
            <a:off x="741607" y="3370737"/>
            <a:ext cx="98512" cy="86198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914004" y="3592390"/>
            <a:ext cx="98512" cy="18471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Isosceles Triangle 73"/>
          <p:cNvSpPr/>
          <p:nvPr/>
        </p:nvSpPr>
        <p:spPr>
          <a:xfrm>
            <a:off x="914004" y="3506192"/>
            <a:ext cx="98512" cy="86198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53921" y="3814043"/>
            <a:ext cx="73884" cy="116983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5-Point Star 75"/>
          <p:cNvSpPr/>
          <p:nvPr/>
        </p:nvSpPr>
        <p:spPr>
          <a:xfrm>
            <a:off x="2881357" y="2385802"/>
            <a:ext cx="389026" cy="389026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5-Point Star 76"/>
          <p:cNvSpPr/>
          <p:nvPr/>
        </p:nvSpPr>
        <p:spPr>
          <a:xfrm>
            <a:off x="10085885" y="5482115"/>
            <a:ext cx="685585" cy="685585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 dirty="0">
                <a:solidFill>
                  <a:srgbClr val="4DA6FF"/>
                </a:solidFill>
                <a:latin typeface="Georgia"/>
              </a:rPr>
              <a:t>TARGET &amp; PURPOSE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ターゲットとサイトの目的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22960" y="1938528"/>
            <a:ext cx="3657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ターゲット</a:t>
            </a:r>
            <a:endParaRPr sz="1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822960" y="2423160"/>
            <a:ext cx="4251960" cy="141732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51560" y="2587752"/>
            <a:ext cx="384048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50" dirty="0" err="1">
                <a:solidFill>
                  <a:srgbClr val="9AD5FF"/>
                </a:solidFill>
                <a:latin typeface="Meiryo UI" panose="020B0604030504040204" pitchFamily="50" charset="-128"/>
              </a:rPr>
              <a:t>主ターゲット</a:t>
            </a:r>
            <a:endParaRPr sz="1150" b="1" i="0" spc="5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51560" y="2898648"/>
            <a:ext cx="3840480" cy="2105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キングダムハーツシリーズが好きなゲームユーザ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22960" y="4023360"/>
            <a:ext cx="4251960" cy="141732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51560" y="4187952"/>
            <a:ext cx="384048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 spc="50" dirty="0" err="1">
                <a:solidFill>
                  <a:srgbClr val="9AD5FF"/>
                </a:solidFill>
                <a:latin typeface="Meiryo UI" panose="020B0604030504040204" pitchFamily="50" charset="-128"/>
              </a:rPr>
              <a:t>サブターゲット</a:t>
            </a:r>
            <a:endParaRPr sz="1150" b="1" i="0" spc="5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51560" y="4498848"/>
            <a:ext cx="384048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シリーズを最近知った人、過去の作品を振り返りたい人、幻想的なWebデザインに興味がある人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89" name="Connector 88"/>
          <p:cNvCxnSpPr/>
          <p:nvPr/>
        </p:nvCxnSpPr>
        <p:spPr>
          <a:xfrm>
            <a:off x="5349240" y="1691640"/>
            <a:ext cx="0" cy="434340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623560" y="1938528"/>
            <a:ext cx="3657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目的の柱</a:t>
            </a:r>
            <a:endParaRPr sz="1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5623560" y="2423160"/>
            <a:ext cx="2697480" cy="16002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806440" y="25603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E6D5A3"/>
                </a:solidFill>
                <a:latin typeface="Georgia"/>
              </a:rPr>
              <a:t>①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06440" y="3017520"/>
            <a:ext cx="2331720" cy="4344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シリーズの歴史を、楽しみながら振り返ってもらう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8503920" y="2423160"/>
            <a:ext cx="2697480" cy="16002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686800" y="256032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E6D5A3"/>
                </a:solidFill>
                <a:latin typeface="Georgia"/>
              </a:rPr>
              <a:t>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3017520"/>
            <a:ext cx="2331720" cy="4344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探索して見つける体験を提供する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5623560" y="4206240"/>
            <a:ext cx="2697480" cy="16002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806440" y="4343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E6D5A3"/>
                </a:solidFill>
                <a:latin typeface="Georgia"/>
              </a:rPr>
              <a:t>③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806440" y="4800600"/>
            <a:ext cx="2331720" cy="4344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Web技術でゲームのようなインタラクティブ表現を実現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8503920" y="4206240"/>
            <a:ext cx="2697480" cy="16002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686800" y="43434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E6D5A3"/>
                </a:solidFill>
                <a:latin typeface="Georgia"/>
              </a:rPr>
              <a:t>④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4800600"/>
            <a:ext cx="2331720" cy="4344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シリーズファン以外にも興味を持てる入口を作る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図 103" descr="キングダムハーツ キャラクター解説 ソラ編 :: Hearts &amp; Keys">
            <a:extLst>
              <a:ext uri="{FF2B5EF4-FFF2-40B4-BE49-F238E27FC236}">
                <a16:creationId xmlns:a16="http://schemas.microsoft.com/office/drawing/2014/main" id="{B2FEBB07-FE5F-EC79-EA2A-F4145DFB2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4" y="-13615"/>
            <a:ext cx="12187738" cy="6855603"/>
          </a:xfrm>
          <a:prstGeom prst="rect">
            <a:avLst/>
          </a:prstGeom>
          <a:gradFill>
            <a:gsLst>
              <a:gs pos="200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127000">
              <a:schemeClr val="accent1">
                <a:alpha val="0"/>
              </a:schemeClr>
            </a:glow>
            <a:outerShdw dist="50800" dir="5400000" algn="ctr" rotWithShape="0">
              <a:srgbClr val="000000"/>
            </a:outerShdw>
            <a:reflection stA="47000" endPos="47000" dir="5400000" sy="-100000" algn="bl" rotWithShape="0"/>
            <a:softEdge rad="1270000"/>
          </a:effectLst>
        </p:spPr>
      </p:pic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613148" y="-10017252"/>
            <a:ext cx="11622023" cy="11622023"/>
          </a:xfrm>
          <a:prstGeom prst="ellipse">
            <a:avLst/>
          </a:prstGeom>
          <a:solidFill>
            <a:srgbClr val="9AD5FF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754880" y="-9875520"/>
            <a:ext cx="11338560" cy="11338560"/>
          </a:xfrm>
          <a:prstGeom prst="ellipse">
            <a:avLst/>
          </a:prstGeom>
          <a:noFill/>
          <a:ln w="330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42278" y="-8288121"/>
            <a:ext cx="8163763" cy="8163763"/>
          </a:xfrm>
          <a:prstGeom prst="ellipse">
            <a:avLst/>
          </a:prstGeom>
          <a:noFill/>
          <a:ln w="2540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16291" y="-6814108"/>
            <a:ext cx="5215737" cy="5215737"/>
          </a:xfrm>
          <a:prstGeom prst="ellipse">
            <a:avLst/>
          </a:prstGeom>
          <a:noFill/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2833516" y="-3208251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5177549" y="-2336951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1422148" y="-1796883"/>
            <a:ext cx="1041379" cy="2514110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2293448" y="547149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384792" y="-1796883"/>
            <a:ext cx="1041379" cy="2514110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8214714" y="547149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5500692" y="-3208251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5330613" y="-2336951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5500692" y="-6245607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5330613" y="-6415685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8384792" y="-9129707"/>
            <a:ext cx="1041379" cy="2514111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8214714" y="-9299786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1422148" y="-9129707"/>
            <a:ext cx="1041379" cy="2514111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2293448" y="-9299786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833516" y="-6245607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5177549" y="-6415685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1289645" y="3115542"/>
            <a:ext cx="91731" cy="91731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2834923" y="798138"/>
            <a:ext cx="84300" cy="84300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iamond 34"/>
          <p:cNvSpPr/>
          <p:nvPr/>
        </p:nvSpPr>
        <p:spPr>
          <a:xfrm>
            <a:off x="4686247" y="5770786"/>
            <a:ext cx="101544" cy="101544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1367056" y="1683096"/>
            <a:ext cx="98724" cy="98724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948677" y="977023"/>
            <a:ext cx="53889" cy="53889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486732" y="2828486"/>
            <a:ext cx="92649" cy="92649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049275" y="5136279"/>
            <a:ext cx="82365" cy="82365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210888" y="2581468"/>
            <a:ext cx="82866" cy="82866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Diamond 40"/>
          <p:cNvSpPr/>
          <p:nvPr/>
        </p:nvSpPr>
        <p:spPr>
          <a:xfrm>
            <a:off x="7298661" y="3228295"/>
            <a:ext cx="61783" cy="61783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844715" y="6362982"/>
            <a:ext cx="102468" cy="102468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305413" y="4659943"/>
            <a:ext cx="64697" cy="64697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2067505" y="2894019"/>
            <a:ext cx="61895" cy="61895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 rot="19800000">
            <a:off x="9644652" y="5804223"/>
            <a:ext cx="55497" cy="36998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5-Point Star 45"/>
          <p:cNvSpPr/>
          <p:nvPr/>
        </p:nvSpPr>
        <p:spPr>
          <a:xfrm>
            <a:off x="9539822" y="5594565"/>
            <a:ext cx="283656" cy="283656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4-Point Star 46"/>
          <p:cNvSpPr/>
          <p:nvPr/>
        </p:nvSpPr>
        <p:spPr>
          <a:xfrm>
            <a:off x="9459659" y="5841222"/>
            <a:ext cx="98663" cy="98663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4-Point Star 47"/>
          <p:cNvSpPr/>
          <p:nvPr/>
        </p:nvSpPr>
        <p:spPr>
          <a:xfrm>
            <a:off x="9410327" y="5964551"/>
            <a:ext cx="67830" cy="6783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 rot="19800000">
            <a:off x="9681052" y="1871205"/>
            <a:ext cx="44778" cy="298522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5-Point Star 49"/>
          <p:cNvSpPr/>
          <p:nvPr/>
        </p:nvSpPr>
        <p:spPr>
          <a:xfrm>
            <a:off x="9596470" y="1702043"/>
            <a:ext cx="228867" cy="228867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4-Point Star 50"/>
          <p:cNvSpPr/>
          <p:nvPr/>
        </p:nvSpPr>
        <p:spPr>
          <a:xfrm>
            <a:off x="9531791" y="1901057"/>
            <a:ext cx="79605" cy="79605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4-Point Star 51"/>
          <p:cNvSpPr/>
          <p:nvPr/>
        </p:nvSpPr>
        <p:spPr>
          <a:xfrm>
            <a:off x="9491988" y="2000565"/>
            <a:ext cx="54729" cy="54729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 rot="19800000">
            <a:off x="5805857" y="943387"/>
            <a:ext cx="61666" cy="411112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5-Point Star 53"/>
          <p:cNvSpPr/>
          <p:nvPr/>
        </p:nvSpPr>
        <p:spPr>
          <a:xfrm>
            <a:off x="5689375" y="710424"/>
            <a:ext cx="315186" cy="315186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4-Point Star 54"/>
          <p:cNvSpPr/>
          <p:nvPr/>
        </p:nvSpPr>
        <p:spPr>
          <a:xfrm>
            <a:off x="5600301" y="984499"/>
            <a:ext cx="109630" cy="10963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4-Point Star 55"/>
          <p:cNvSpPr/>
          <p:nvPr/>
        </p:nvSpPr>
        <p:spPr>
          <a:xfrm>
            <a:off x="5545486" y="1121536"/>
            <a:ext cx="75370" cy="7537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506876" y="2080405"/>
            <a:ext cx="555329" cy="201937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532118" y="1935262"/>
            <a:ext cx="100968" cy="18931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Isosceles Triangle 58"/>
          <p:cNvSpPr/>
          <p:nvPr/>
        </p:nvSpPr>
        <p:spPr>
          <a:xfrm>
            <a:off x="7532118" y="1846915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734056" y="1796430"/>
            <a:ext cx="100968" cy="328149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Isosceles Triangle 60"/>
          <p:cNvSpPr/>
          <p:nvPr/>
        </p:nvSpPr>
        <p:spPr>
          <a:xfrm>
            <a:off x="7734056" y="1708082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910752" y="1935262"/>
            <a:ext cx="100968" cy="18931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Isosceles Triangle 62"/>
          <p:cNvSpPr/>
          <p:nvPr/>
        </p:nvSpPr>
        <p:spPr>
          <a:xfrm>
            <a:off x="7910752" y="1846915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46677" y="2162443"/>
            <a:ext cx="75726" cy="119900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SITE MAP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ページ構成図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72" name="Oval 7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52390" y="2815391"/>
            <a:ext cx="1737360" cy="1737360"/>
          </a:xfrm>
          <a:prstGeom prst="ellipse">
            <a:avLst/>
          </a:prstGeom>
          <a:solidFill>
            <a:srgbClr val="0A1630"/>
          </a:solidFill>
          <a:ln w="15875">
            <a:solidFill>
              <a:srgbClr val="E6D5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cxnSp>
        <p:nvCxnSpPr>
          <p:cNvPr id="120" name="Connector 119"/>
          <p:cNvCxnSpPr/>
          <p:nvPr/>
        </p:nvCxnSpPr>
        <p:spPr>
          <a:xfrm flipH="1" flipV="1">
            <a:off x="2207843" y="1716073"/>
            <a:ext cx="2835554" cy="1558091"/>
          </a:xfrm>
          <a:prstGeom prst="line">
            <a:avLst/>
          </a:prstGeom>
          <a:ln w="22225">
            <a:solidFill>
              <a:srgbClr val="2A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>
            <a:cxnSpLocks/>
          </p:cNvCxnSpPr>
          <p:nvPr/>
        </p:nvCxnSpPr>
        <p:spPr>
          <a:xfrm flipV="1">
            <a:off x="5961032" y="2392337"/>
            <a:ext cx="167299" cy="428540"/>
          </a:xfrm>
          <a:prstGeom prst="line">
            <a:avLst/>
          </a:prstGeom>
          <a:ln w="22225">
            <a:solidFill>
              <a:srgbClr val="2A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6629982" y="1823347"/>
            <a:ext cx="3382366" cy="1558091"/>
          </a:xfrm>
          <a:prstGeom prst="line">
            <a:avLst/>
          </a:prstGeom>
          <a:ln w="22225">
            <a:solidFill>
              <a:srgbClr val="2A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2215340" y="4115309"/>
            <a:ext cx="2835554" cy="1642309"/>
          </a:xfrm>
          <a:prstGeom prst="line">
            <a:avLst/>
          </a:prstGeom>
          <a:ln w="22225">
            <a:solidFill>
              <a:srgbClr val="2A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>
            <a:cxnSpLocks/>
          </p:cNvCxnSpPr>
          <p:nvPr/>
        </p:nvCxnSpPr>
        <p:spPr>
          <a:xfrm flipH="1">
            <a:off x="5801606" y="4553366"/>
            <a:ext cx="39655" cy="1386519"/>
          </a:xfrm>
          <a:prstGeom prst="line">
            <a:avLst/>
          </a:prstGeom>
          <a:ln w="22225">
            <a:solidFill>
              <a:srgbClr val="2A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>
            <a:cxnSpLocks/>
          </p:cNvCxnSpPr>
          <p:nvPr/>
        </p:nvCxnSpPr>
        <p:spPr>
          <a:xfrm>
            <a:off x="6609941" y="4073323"/>
            <a:ext cx="1380615" cy="771192"/>
          </a:xfrm>
          <a:prstGeom prst="line">
            <a:avLst/>
          </a:prstGeom>
          <a:ln w="22225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Heart 72"/>
          <p:cNvSpPr/>
          <p:nvPr/>
        </p:nvSpPr>
        <p:spPr>
          <a:xfrm>
            <a:off x="5558712" y="2971743"/>
            <a:ext cx="555955" cy="555955"/>
          </a:xfrm>
          <a:prstGeom prst="heart">
            <a:avLst/>
          </a:prstGeom>
          <a:noFill/>
          <a:ln w="19050">
            <a:solidFill>
              <a:srgbClr val="E6D5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5791913" y="3167264"/>
            <a:ext cx="88952" cy="88952"/>
          </a:xfrm>
          <a:prstGeom prst="ellipse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Isosceles Triangle 74"/>
          <p:cNvSpPr/>
          <p:nvPr/>
        </p:nvSpPr>
        <p:spPr>
          <a:xfrm>
            <a:off x="5801606" y="3228923"/>
            <a:ext cx="88952" cy="122310"/>
          </a:xfrm>
          <a:prstGeom prst="triangle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977402" y="356616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 spc="100" dirty="0">
                <a:solidFill>
                  <a:srgbClr val="EEF4FF"/>
                </a:solidFill>
                <a:latin typeface="Georgia"/>
              </a:rPr>
              <a:t>TOP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1640" y="3867912"/>
            <a:ext cx="1371600" cy="335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サイトの世界観を体験する入口</a:t>
            </a:r>
            <a:endParaRPr sz="10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1659636" y="15087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1481154" y="1345957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0" name="TextBox 79"/>
          <p:cNvSpPr txBox="1"/>
          <p:nvPr/>
        </p:nvSpPr>
        <p:spPr>
          <a:xfrm>
            <a:off x="1495474" y="133629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EEF4FF"/>
                </a:solidFill>
                <a:latin typeface="Georgia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295" y="161841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MEMORY ALBUM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46914" y="1910427"/>
            <a:ext cx="2286000" cy="18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作品・ワールド・キャラクターの記憶を年代順に閲覧</a:t>
            </a:r>
            <a:endParaRPr sz="11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4768596" y="15087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4594640" y="1409331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613113" y="140166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EEF4FF"/>
                </a:solidFill>
                <a:latin typeface="Georgia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43661" y="1620145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TIMELINE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51476" y="2004194"/>
            <a:ext cx="2286000" cy="372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発売日順・時系列順の2つの年表で全12作品を整理</a:t>
            </a:r>
            <a:endParaRPr sz="95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7877556" y="15087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715953" y="1381148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715953" y="13767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EF4FF"/>
                </a:solidFill>
                <a:latin typeface="Georgia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37118" y="162995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MEMORY THEMES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33340" y="1957220"/>
            <a:ext cx="2286000" cy="161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代表曲を場面の解説とともに紹介</a:t>
            </a:r>
            <a:endParaRPr sz="95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93" name="Connector 92"/>
          <p:cNvCxnSpPr/>
          <p:nvPr/>
        </p:nvCxnSpPr>
        <p:spPr>
          <a:xfrm>
            <a:off x="822960" y="6355080"/>
            <a:ext cx="320040" cy="0"/>
          </a:xfrm>
          <a:prstGeom prst="line">
            <a:avLst/>
          </a:prstGeom>
          <a:ln w="25400">
            <a:solidFill>
              <a:srgbClr val="2A6B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234440" y="6217920"/>
            <a:ext cx="1712743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常時アクセス可能なナビゲーション</a:t>
            </a:r>
            <a:endParaRPr sz="9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sp>
        <p:nvSpPr>
          <p:cNvPr id="105" name="Rounded Rectangle 77"/>
          <p:cNvSpPr/>
          <p:nvPr/>
        </p:nvSpPr>
        <p:spPr>
          <a:xfrm>
            <a:off x="1659636" y="47091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78"/>
          <p:cNvSpPr/>
          <p:nvPr/>
        </p:nvSpPr>
        <p:spPr>
          <a:xfrm>
            <a:off x="1481154" y="4546357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7" name="TextBox 79"/>
          <p:cNvSpPr txBox="1"/>
          <p:nvPr/>
        </p:nvSpPr>
        <p:spPr>
          <a:xfrm>
            <a:off x="1495474" y="453669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EEF4FF"/>
                </a:solidFill>
                <a:latin typeface="Georgia"/>
              </a:rPr>
              <a:t>4</a:t>
            </a:r>
          </a:p>
        </p:txBody>
      </p:sp>
      <p:sp>
        <p:nvSpPr>
          <p:cNvPr id="108" name="TextBox 80"/>
          <p:cNvSpPr txBox="1"/>
          <p:nvPr/>
        </p:nvSpPr>
        <p:spPr>
          <a:xfrm>
            <a:off x="1783295" y="4818811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MEMORY OF SUMMER</a:t>
            </a:r>
          </a:p>
        </p:txBody>
      </p:sp>
      <p:sp>
        <p:nvSpPr>
          <p:cNvPr id="109" name="TextBox 81"/>
          <p:cNvSpPr txBox="1"/>
          <p:nvPr/>
        </p:nvSpPr>
        <p:spPr>
          <a:xfrm>
            <a:off x="1846914" y="5110827"/>
            <a:ext cx="2286000" cy="18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『II FINAL MIX』特集。ロクサスの七日間から作品の魅力へ</a:t>
            </a:r>
            <a:endParaRPr sz="11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10" name="Rounded Rectangle 82"/>
          <p:cNvSpPr/>
          <p:nvPr/>
        </p:nvSpPr>
        <p:spPr>
          <a:xfrm>
            <a:off x="4768596" y="47091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83"/>
          <p:cNvSpPr/>
          <p:nvPr/>
        </p:nvSpPr>
        <p:spPr>
          <a:xfrm>
            <a:off x="4594640" y="4609731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84"/>
          <p:cNvSpPr txBox="1"/>
          <p:nvPr/>
        </p:nvSpPr>
        <p:spPr>
          <a:xfrm>
            <a:off x="4613113" y="460206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EEF4FF"/>
                </a:solidFill>
                <a:latin typeface="Georgia"/>
              </a:rPr>
              <a:t>5</a:t>
            </a:r>
          </a:p>
        </p:txBody>
      </p:sp>
      <p:sp>
        <p:nvSpPr>
          <p:cNvPr id="113" name="TextBox 85"/>
          <p:cNvSpPr txBox="1"/>
          <p:nvPr/>
        </p:nvSpPr>
        <p:spPr>
          <a:xfrm>
            <a:off x="4943661" y="4820545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MEMORY CROSSOVER</a:t>
            </a:r>
          </a:p>
        </p:txBody>
      </p:sp>
      <p:sp>
        <p:nvSpPr>
          <p:cNvPr id="114" name="TextBox 86"/>
          <p:cNvSpPr txBox="1"/>
          <p:nvPr/>
        </p:nvSpPr>
        <p:spPr>
          <a:xfrm>
            <a:off x="4951476" y="5204594"/>
            <a:ext cx="2286000" cy="1612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ja-JP" altLang="en-US" sz="950" dirty="0">
                <a:solidFill>
                  <a:srgbClr val="C3D2EA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コラボ作品の紹介</a:t>
            </a:r>
            <a:endParaRPr sz="950" b="0" i="0" dirty="0">
              <a:solidFill>
                <a:srgbClr val="C3D2EA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5" name="Rounded Rectangle 87"/>
          <p:cNvSpPr/>
          <p:nvPr/>
        </p:nvSpPr>
        <p:spPr>
          <a:xfrm>
            <a:off x="7877556" y="4709160"/>
            <a:ext cx="265176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88"/>
          <p:cNvSpPr/>
          <p:nvPr/>
        </p:nvSpPr>
        <p:spPr>
          <a:xfrm>
            <a:off x="7715953" y="4581548"/>
            <a:ext cx="365760" cy="365760"/>
          </a:xfrm>
          <a:prstGeom prst="ellipse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89"/>
          <p:cNvSpPr txBox="1"/>
          <p:nvPr/>
        </p:nvSpPr>
        <p:spPr>
          <a:xfrm>
            <a:off x="7715953" y="45771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EEF4FF"/>
                </a:solidFill>
                <a:latin typeface="Georgia"/>
              </a:rPr>
              <a:t>6</a:t>
            </a:r>
          </a:p>
        </p:txBody>
      </p:sp>
      <p:sp>
        <p:nvSpPr>
          <p:cNvPr id="118" name="TextBox 90"/>
          <p:cNvSpPr txBox="1"/>
          <p:nvPr/>
        </p:nvSpPr>
        <p:spPr>
          <a:xfrm>
            <a:off x="8037118" y="483035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spc="50" dirty="0">
                <a:solidFill>
                  <a:srgbClr val="9AD5FF"/>
                </a:solidFill>
                <a:latin typeface="Georgia"/>
              </a:rPr>
              <a:t>SECRET MEMORY</a:t>
            </a:r>
          </a:p>
        </p:txBody>
      </p:sp>
      <p:sp>
        <p:nvSpPr>
          <p:cNvPr id="119" name="TextBox 91"/>
          <p:cNvSpPr txBox="1"/>
          <p:nvPr/>
        </p:nvSpPr>
        <p:spPr>
          <a:xfrm>
            <a:off x="8033340" y="5157620"/>
            <a:ext cx="2286000" cy="344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記憶の欠片を8個集めると解放される特別な記録</a:t>
            </a:r>
          </a:p>
        </p:txBody>
      </p:sp>
      <p:sp>
        <p:nvSpPr>
          <p:cNvPr id="126" name="TextBox 149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27" name="TextBox 150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05 / 11</a:t>
            </a:r>
          </a:p>
        </p:txBody>
      </p:sp>
      <p:cxnSp>
        <p:nvCxnSpPr>
          <p:cNvPr id="71" name="Connector 92">
            <a:extLst>
              <a:ext uri="{FF2B5EF4-FFF2-40B4-BE49-F238E27FC236}">
                <a16:creationId xmlns:a16="http://schemas.microsoft.com/office/drawing/2014/main" id="{A430D17A-744E-7822-591B-4534DB74E95A}"/>
              </a:ext>
            </a:extLst>
          </p:cNvPr>
          <p:cNvCxnSpPr/>
          <p:nvPr/>
        </p:nvCxnSpPr>
        <p:spPr>
          <a:xfrm>
            <a:off x="3155626" y="6362982"/>
            <a:ext cx="320040" cy="0"/>
          </a:xfrm>
          <a:prstGeom prst="line">
            <a:avLst/>
          </a:prstGeom>
          <a:ln w="25400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3">
            <a:extLst>
              <a:ext uri="{FF2B5EF4-FFF2-40B4-BE49-F238E27FC236}">
                <a16:creationId xmlns:a16="http://schemas.microsoft.com/office/drawing/2014/main" id="{36F8BC40-4DB1-3FCB-F353-196613F9B302}"/>
              </a:ext>
            </a:extLst>
          </p:cNvPr>
          <p:cNvSpPr txBox="1"/>
          <p:nvPr/>
        </p:nvSpPr>
        <p:spPr>
          <a:xfrm>
            <a:off x="3534590" y="6224483"/>
            <a:ext cx="171274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ja-JP" altLang="en-US" sz="900" dirty="0">
                <a:solidFill>
                  <a:srgbClr val="7D8FAE"/>
                </a:solidFill>
                <a:latin typeface="Meiryo UI" panose="020B0604030504040204" pitchFamily="50" charset="-128"/>
              </a:rPr>
              <a:t>条件クリア後</a:t>
            </a:r>
            <a:r>
              <a:rPr sz="9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アクセス可能な</a:t>
            </a:r>
            <a:endParaRPr lang="en-US" sz="9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ナビゲーション</a:t>
            </a:r>
            <a:endParaRPr sz="9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四角形: 角を丸くする 151">
            <a:extLst>
              <a:ext uri="{FF2B5EF4-FFF2-40B4-BE49-F238E27FC236}">
                <a16:creationId xmlns:a16="http://schemas.microsoft.com/office/drawing/2014/main" id="{8DE88A74-1B07-1EB6-D3FD-E7DEEA0AA0B7}"/>
              </a:ext>
            </a:extLst>
          </p:cNvPr>
          <p:cNvSpPr/>
          <p:nvPr/>
        </p:nvSpPr>
        <p:spPr>
          <a:xfrm>
            <a:off x="535105" y="1494786"/>
            <a:ext cx="5951370" cy="445877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3677597" y="4312075"/>
            <a:ext cx="13496543" cy="13496543"/>
          </a:xfrm>
          <a:prstGeom prst="ellipse">
            <a:avLst/>
          </a:prstGeom>
          <a:solidFill>
            <a:srgbClr val="E6D5A3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3474720" y="4480560"/>
            <a:ext cx="13167360" cy="13167360"/>
          </a:xfrm>
          <a:prstGeom prst="ellipse">
            <a:avLst/>
          </a:prstGeom>
          <a:noFill/>
          <a:ln w="330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1631289" y="6323990"/>
            <a:ext cx="9480499" cy="9480499"/>
          </a:xfrm>
          <a:prstGeom prst="ellipse">
            <a:avLst/>
          </a:prstGeom>
          <a:noFill/>
          <a:ln w="2540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" y="8035747"/>
            <a:ext cx="6056985" cy="6056985"/>
          </a:xfrm>
          <a:prstGeom prst="ellipse">
            <a:avLst/>
          </a:prstGeom>
          <a:noFill/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5906922" y="12223194"/>
            <a:ext cx="2919613" cy="120934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8629025" y="13235026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4267914" y="13862202"/>
            <a:ext cx="1209343" cy="29196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5279746" y="16584305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740662" y="13862202"/>
            <a:ext cx="1209343" cy="29196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543152" y="16584305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-2608615" y="12223194"/>
            <a:ext cx="2919612" cy="120934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-2806125" y="13235026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-2608615" y="8695942"/>
            <a:ext cx="2919612" cy="120934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-2806125" y="8498432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740662" y="5346664"/>
            <a:ext cx="1209343" cy="29196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543152" y="5149154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4267914" y="5346664"/>
            <a:ext cx="1209343" cy="29196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5279746" y="5149154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5906922" y="8695942"/>
            <a:ext cx="2919613" cy="120934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8629025" y="8498432"/>
            <a:ext cx="395020" cy="395020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11078438" y="5661495"/>
            <a:ext cx="92567" cy="92567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4115506" y="4693186"/>
            <a:ext cx="97355" cy="97355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301539" y="5805720"/>
            <a:ext cx="53280" cy="5328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105128" y="4274695"/>
            <a:ext cx="100912" cy="100912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784892" y="2294751"/>
            <a:ext cx="85496" cy="85496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mond 37"/>
          <p:cNvSpPr/>
          <p:nvPr/>
        </p:nvSpPr>
        <p:spPr>
          <a:xfrm>
            <a:off x="4988884" y="3177115"/>
            <a:ext cx="80049" cy="80049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445568" y="3803437"/>
            <a:ext cx="52138" cy="52138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328467" y="5393179"/>
            <a:ext cx="61867" cy="61867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Diamond 40"/>
          <p:cNvSpPr/>
          <p:nvPr/>
        </p:nvSpPr>
        <p:spPr>
          <a:xfrm>
            <a:off x="10673898" y="2463651"/>
            <a:ext cx="109187" cy="109187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759373" y="571015"/>
            <a:ext cx="88450" cy="8845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515875" y="4196309"/>
            <a:ext cx="104209" cy="104209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441282" y="3522241"/>
            <a:ext cx="48271" cy="4827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Diamond 44"/>
          <p:cNvSpPr/>
          <p:nvPr/>
        </p:nvSpPr>
        <p:spPr>
          <a:xfrm>
            <a:off x="2062535" y="1301826"/>
            <a:ext cx="85714" cy="85714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Diamond 45"/>
          <p:cNvSpPr/>
          <p:nvPr/>
        </p:nvSpPr>
        <p:spPr>
          <a:xfrm>
            <a:off x="2161171" y="380050"/>
            <a:ext cx="97792" cy="97792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257007" y="4124717"/>
            <a:ext cx="91650" cy="9165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Diamond 47"/>
          <p:cNvSpPr/>
          <p:nvPr/>
        </p:nvSpPr>
        <p:spPr>
          <a:xfrm>
            <a:off x="6513954" y="3595162"/>
            <a:ext cx="91778" cy="91778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780212" y="4570999"/>
            <a:ext cx="100650" cy="10065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9747181" y="3500696"/>
            <a:ext cx="79154" cy="79154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10790517" y="856532"/>
            <a:ext cx="218644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991900" y="839271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10779528" y="890352"/>
            <a:ext cx="176887" cy="12851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939153" y="1001606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10750759" y="911254"/>
            <a:ext cx="67565" cy="207943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801063" y="1101935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 flipH="1">
            <a:off x="10647634" y="911254"/>
            <a:ext cx="67565" cy="207943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630373" y="1101935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9" name="Connector 58"/>
          <p:cNvCxnSpPr/>
          <p:nvPr/>
        </p:nvCxnSpPr>
        <p:spPr>
          <a:xfrm flipH="1">
            <a:off x="10509543" y="890352"/>
            <a:ext cx="176887" cy="12851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492282" y="1001606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1" name="Connector 60"/>
          <p:cNvCxnSpPr/>
          <p:nvPr/>
        </p:nvCxnSpPr>
        <p:spPr>
          <a:xfrm flipH="1">
            <a:off x="10456797" y="856532"/>
            <a:ext cx="218644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39536" y="839271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Connector 62"/>
          <p:cNvCxnSpPr/>
          <p:nvPr/>
        </p:nvCxnSpPr>
        <p:spPr>
          <a:xfrm flipH="1" flipV="1">
            <a:off x="10509543" y="694196"/>
            <a:ext cx="176887" cy="12851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492282" y="676935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5" name="Connector 64"/>
          <p:cNvCxnSpPr/>
          <p:nvPr/>
        </p:nvCxnSpPr>
        <p:spPr>
          <a:xfrm flipH="1" flipV="1">
            <a:off x="10647634" y="593867"/>
            <a:ext cx="67565" cy="207943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0630373" y="576606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 flipV="1">
            <a:off x="10750759" y="593867"/>
            <a:ext cx="67565" cy="207943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10801063" y="576606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9" name="Connector 68"/>
          <p:cNvCxnSpPr/>
          <p:nvPr/>
        </p:nvCxnSpPr>
        <p:spPr>
          <a:xfrm flipV="1">
            <a:off x="10779528" y="694196"/>
            <a:ext cx="176887" cy="12851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10939153" y="676935"/>
            <a:ext cx="34522" cy="34522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698456" y="822009"/>
            <a:ext cx="69045" cy="69045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11318076" y="2959186"/>
            <a:ext cx="302274" cy="109918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11331816" y="2880183"/>
            <a:ext cx="54959" cy="103048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Isosceles Triangle 73"/>
          <p:cNvSpPr/>
          <p:nvPr/>
        </p:nvSpPr>
        <p:spPr>
          <a:xfrm>
            <a:off x="11331816" y="2832093"/>
            <a:ext cx="54959" cy="48089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11441734" y="2804614"/>
            <a:ext cx="54959" cy="178616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Isosceles Triangle 75"/>
          <p:cNvSpPr/>
          <p:nvPr/>
        </p:nvSpPr>
        <p:spPr>
          <a:xfrm>
            <a:off x="11441734" y="2756525"/>
            <a:ext cx="54959" cy="48089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1537912" y="2880183"/>
            <a:ext cx="54959" cy="103048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Isosceles Triangle 77"/>
          <p:cNvSpPr/>
          <p:nvPr/>
        </p:nvSpPr>
        <p:spPr>
          <a:xfrm>
            <a:off x="11537912" y="2832093"/>
            <a:ext cx="54959" cy="48089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11448604" y="3003840"/>
            <a:ext cx="41219" cy="65263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5-Point Star 79"/>
          <p:cNvSpPr/>
          <p:nvPr/>
        </p:nvSpPr>
        <p:spPr>
          <a:xfrm>
            <a:off x="1680964" y="4492364"/>
            <a:ext cx="659884" cy="659884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9127187" y="4197957"/>
            <a:ext cx="338125" cy="122954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142556" y="4109583"/>
            <a:ext cx="61477" cy="11527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Isosceles Triangle 82"/>
          <p:cNvSpPr/>
          <p:nvPr/>
        </p:nvSpPr>
        <p:spPr>
          <a:xfrm>
            <a:off x="9142556" y="4055791"/>
            <a:ext cx="61477" cy="5379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9265511" y="4025052"/>
            <a:ext cx="61477" cy="199801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Isosceles Triangle 84"/>
          <p:cNvSpPr/>
          <p:nvPr/>
        </p:nvSpPr>
        <p:spPr>
          <a:xfrm>
            <a:off x="9265511" y="3971259"/>
            <a:ext cx="61477" cy="5379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9373096" y="4109583"/>
            <a:ext cx="61477" cy="11527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Isosceles Triangle 86"/>
          <p:cNvSpPr/>
          <p:nvPr/>
        </p:nvSpPr>
        <p:spPr>
          <a:xfrm>
            <a:off x="9373096" y="4055791"/>
            <a:ext cx="61477" cy="5379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9273195" y="4247908"/>
            <a:ext cx="46108" cy="73004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>
            <a:off x="4413260" y="6102849"/>
            <a:ext cx="224991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4620488" y="608508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1" name="Connector 90"/>
          <p:cNvCxnSpPr/>
          <p:nvPr/>
        </p:nvCxnSpPr>
        <p:spPr>
          <a:xfrm>
            <a:off x="4401952" y="6137650"/>
            <a:ext cx="182022" cy="132247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4566211" y="6252134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3" name="Connector 92"/>
          <p:cNvCxnSpPr/>
          <p:nvPr/>
        </p:nvCxnSpPr>
        <p:spPr>
          <a:xfrm>
            <a:off x="4372348" y="6159159"/>
            <a:ext cx="69526" cy="213979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4424111" y="635537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 flipH="1">
            <a:off x="4266229" y="6159159"/>
            <a:ext cx="69526" cy="213979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4248467" y="635537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/>
          <p:cNvCxnSpPr/>
          <p:nvPr/>
        </p:nvCxnSpPr>
        <p:spPr>
          <a:xfrm flipH="1">
            <a:off x="4124129" y="6137650"/>
            <a:ext cx="182022" cy="132247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106367" y="6252134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/>
          <p:cNvCxnSpPr/>
          <p:nvPr/>
        </p:nvCxnSpPr>
        <p:spPr>
          <a:xfrm flipH="1">
            <a:off x="4069852" y="6102849"/>
            <a:ext cx="224991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4052090" y="608508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 flipH="1" flipV="1">
            <a:off x="4124129" y="5935800"/>
            <a:ext cx="182022" cy="132247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4106367" y="5918038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/>
          <p:cNvCxnSpPr/>
          <p:nvPr/>
        </p:nvCxnSpPr>
        <p:spPr>
          <a:xfrm flipH="1" flipV="1">
            <a:off x="4266229" y="5832559"/>
            <a:ext cx="69526" cy="213979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4248467" y="581479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4372348" y="5832559"/>
            <a:ext cx="69526" cy="213979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/>
          <p:cNvSpPr/>
          <p:nvPr/>
        </p:nvSpPr>
        <p:spPr>
          <a:xfrm>
            <a:off x="4424111" y="5814796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/>
          <p:cNvCxnSpPr/>
          <p:nvPr/>
        </p:nvCxnSpPr>
        <p:spPr>
          <a:xfrm flipV="1">
            <a:off x="4401952" y="5935800"/>
            <a:ext cx="182022" cy="132247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4566211" y="5918038"/>
            <a:ext cx="35524" cy="35524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4318527" y="6067324"/>
            <a:ext cx="71049" cy="7104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5-Point Star 109"/>
          <p:cNvSpPr/>
          <p:nvPr/>
        </p:nvSpPr>
        <p:spPr>
          <a:xfrm>
            <a:off x="472899" y="3298550"/>
            <a:ext cx="665721" cy="665721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5-Point Star 110"/>
          <p:cNvSpPr/>
          <p:nvPr/>
        </p:nvSpPr>
        <p:spPr>
          <a:xfrm>
            <a:off x="2515749" y="1910013"/>
            <a:ext cx="492182" cy="492182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MOCKUP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TOPページ</a:t>
            </a:r>
            <a:r>
              <a:rPr sz="27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 </a:t>
            </a: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デザイン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22960" y="1737360"/>
            <a:ext cx="5394960" cy="3977639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822960" y="1737360"/>
            <a:ext cx="5394960" cy="36576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987552" y="1865376"/>
            <a:ext cx="100584" cy="100584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88720" y="1865376"/>
            <a:ext cx="100584" cy="100584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389888" y="1865376"/>
            <a:ext cx="100584" cy="100584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1737360" y="1819656"/>
            <a:ext cx="4206240" cy="201168"/>
          </a:xfrm>
          <a:prstGeom prst="roundRect">
            <a:avLst>
              <a:gd name="adj" fmla="val 50000"/>
            </a:avLst>
          </a:prstGeom>
          <a:solidFill>
            <a:srgbClr val="11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1874520" y="182880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D8FAE"/>
                </a:solidFill>
                <a:latin typeface="Georgia"/>
              </a:rPr>
              <a:t>kingdomhearts-memory / index.html</a:t>
            </a:r>
          </a:p>
        </p:txBody>
      </p:sp>
      <p:pic>
        <p:nvPicPr>
          <p:cNvPr id="153" name="Picture 152" descr="top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5394960" cy="361188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805525" y="6064990"/>
            <a:ext cx="5394960" cy="157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00" b="0" i="0" dirty="0">
                <a:solidFill>
                  <a:srgbClr val="7D8FAE"/>
                </a:solidFill>
                <a:latin typeface="Meiryo UI" panose="020B0604030504040204" pitchFamily="50" charset="-128"/>
              </a:rPr>
              <a:t>実装ではCanvasによる光の粒子アニメーションと、カーソルに追従する光の演出が常時動作しています。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492240" y="1737360"/>
            <a:ext cx="4846320" cy="448056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812280" y="2011680"/>
            <a:ext cx="4206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dirty="0" err="1">
                <a:solidFill>
                  <a:srgbClr val="E6D5A3"/>
                </a:solidFill>
                <a:latin typeface="Meiryo UI" panose="020B0604030504040204" pitchFamily="50" charset="-128"/>
              </a:rPr>
              <a:t>デザインコンセプト</a:t>
            </a:r>
            <a:endParaRPr sz="1600" b="1" i="0" dirty="0">
              <a:solidFill>
                <a:srgbClr val="E6D5A3"/>
              </a:solidFill>
              <a:latin typeface="Meiryo UI" panose="020B0604030504040204" pitchFamily="50" charset="-128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6858000" y="2596896"/>
            <a:ext cx="64008" cy="64008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86600" y="2514600"/>
            <a:ext cx="393192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配色は漆黒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(#03060d)を基調に、光を思わせる淡いブルーを重ね、ゴールドは要所だけに使うアクセントカラーとする。</a:t>
            </a:r>
          </a:p>
        </p:txBody>
      </p:sp>
      <p:sp>
        <p:nvSpPr>
          <p:cNvPr id="142" name="Oval 141"/>
          <p:cNvSpPr/>
          <p:nvPr/>
        </p:nvSpPr>
        <p:spPr>
          <a:xfrm>
            <a:off x="6858000" y="3355848"/>
            <a:ext cx="64008" cy="64008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086600" y="3273552"/>
            <a:ext cx="393192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キーワードは「スタイリッシュ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」「</a:t>
            </a: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ミニマル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」「</a:t>
            </a: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静けさの中の輝き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」。</a:t>
            </a: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装飾を詰め込みすぎず、余白で世界観を語る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6858000" y="4114800"/>
            <a:ext cx="64008" cy="64008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086600" y="4032504"/>
            <a:ext cx="393192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ファーストビューは、ハートに刻まれた鍵穴のロゴマークと大きな余白を中心に据え、没入感を優先する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6858000" y="4873752"/>
            <a:ext cx="64008" cy="64008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086600" y="4791456"/>
            <a:ext cx="393192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常に静かに漂う光の粒子</a:t>
            </a:r>
            <a:r>
              <a:rPr sz="12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(Canvas)</a:t>
            </a: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と、カーソルに追従する淡い光で「操作している実感」を演出する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6858000" y="5632704"/>
            <a:ext cx="64008" cy="64008"/>
          </a:xfrm>
          <a:prstGeom prst="ellipse">
            <a:avLst/>
          </a:prstGeom>
          <a:solidFill>
            <a:srgbClr val="9A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7086600" y="5550408"/>
            <a:ext cx="3931920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ボタンは輪郭線のみのゴースト調にし、ホバー時にゴールドの光を纏うことで特別感を出す</a:t>
            </a:r>
            <a:endParaRPr sz="12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図 103" descr="キングダムハーツ キャラクター解説 ソラ編 :: Hearts &amp; Keys">
            <a:extLst>
              <a:ext uri="{FF2B5EF4-FFF2-40B4-BE49-F238E27FC236}">
                <a16:creationId xmlns:a16="http://schemas.microsoft.com/office/drawing/2014/main" id="{B2FEBB07-FE5F-EC79-EA2A-F4145DFB2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4" y="-13615"/>
            <a:ext cx="12187738" cy="6855603"/>
          </a:xfrm>
          <a:prstGeom prst="rect">
            <a:avLst/>
          </a:prstGeom>
          <a:gradFill>
            <a:gsLst>
              <a:gs pos="200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127000">
              <a:schemeClr val="accent1">
                <a:alpha val="0"/>
              </a:schemeClr>
            </a:glow>
            <a:outerShdw dist="50800" dir="5400000" algn="ctr" rotWithShape="0">
              <a:srgbClr val="000000"/>
            </a:outerShdw>
            <a:reflection stA="47000" endPos="47000" dir="5400000" sy="-100000" algn="bl" rotWithShape="0"/>
            <a:softEdge rad="1270000"/>
          </a:effectLst>
        </p:spPr>
      </p:pic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613148" y="-10017252"/>
            <a:ext cx="11622023" cy="11622023"/>
          </a:xfrm>
          <a:prstGeom prst="ellipse">
            <a:avLst/>
          </a:prstGeom>
          <a:solidFill>
            <a:srgbClr val="9AD5FF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754880" y="-9875520"/>
            <a:ext cx="11338560" cy="11338560"/>
          </a:xfrm>
          <a:prstGeom prst="ellipse">
            <a:avLst/>
          </a:prstGeom>
          <a:noFill/>
          <a:ln w="330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342278" y="-8288121"/>
            <a:ext cx="8163763" cy="8163763"/>
          </a:xfrm>
          <a:prstGeom prst="ellipse">
            <a:avLst/>
          </a:prstGeom>
          <a:noFill/>
          <a:ln w="2540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16291" y="-6814108"/>
            <a:ext cx="5215737" cy="5215737"/>
          </a:xfrm>
          <a:prstGeom prst="ellipse">
            <a:avLst/>
          </a:prstGeom>
          <a:noFill/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2833516" y="-3208251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5177549" y="-2336951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1422148" y="-1796883"/>
            <a:ext cx="1041379" cy="2514110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2293448" y="547149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384792" y="-1796883"/>
            <a:ext cx="1041379" cy="2514110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8214714" y="547149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5500692" y="-3208251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5330613" y="-2336951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5500692" y="-6245607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5330613" y="-6415685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8384792" y="-9129707"/>
            <a:ext cx="1041379" cy="2514111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8214714" y="-9299786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1422148" y="-9129707"/>
            <a:ext cx="1041379" cy="2514111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2293448" y="-9299786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833516" y="-6245607"/>
            <a:ext cx="2514111" cy="1041379"/>
          </a:xfrm>
          <a:prstGeom prst="line">
            <a:avLst/>
          </a:prstGeom>
          <a:ln w="20320">
            <a:solidFill>
              <a:srgbClr val="2A6BB5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5177549" y="-6415685"/>
            <a:ext cx="340156" cy="340156"/>
          </a:xfrm>
          <a:prstGeom prst="diamond">
            <a:avLst/>
          </a:prstGeom>
          <a:solidFill>
            <a:srgbClr val="2A6BB5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2A6BB5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1289645" y="3115542"/>
            <a:ext cx="91731" cy="91731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2834923" y="798138"/>
            <a:ext cx="84300" cy="84300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iamond 34"/>
          <p:cNvSpPr/>
          <p:nvPr/>
        </p:nvSpPr>
        <p:spPr>
          <a:xfrm>
            <a:off x="4686247" y="5770786"/>
            <a:ext cx="101544" cy="101544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1367056" y="1683096"/>
            <a:ext cx="98724" cy="98724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948677" y="977023"/>
            <a:ext cx="53889" cy="53889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486732" y="2828486"/>
            <a:ext cx="92649" cy="92649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049275" y="5136279"/>
            <a:ext cx="82365" cy="82365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210888" y="2581468"/>
            <a:ext cx="82866" cy="82866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Diamond 40"/>
          <p:cNvSpPr/>
          <p:nvPr/>
        </p:nvSpPr>
        <p:spPr>
          <a:xfrm>
            <a:off x="7298661" y="3228295"/>
            <a:ext cx="61783" cy="61783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844715" y="6362982"/>
            <a:ext cx="102468" cy="102468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305413" y="4659943"/>
            <a:ext cx="64697" cy="64697"/>
          </a:xfrm>
          <a:prstGeom prst="ellipse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2067505" y="2894019"/>
            <a:ext cx="61895" cy="61895"/>
          </a:xfrm>
          <a:prstGeom prst="diamond">
            <a:avLst/>
          </a:prstGeom>
          <a:solidFill>
            <a:srgbClr val="143A6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 rot="19800000">
            <a:off x="9644652" y="5804223"/>
            <a:ext cx="55497" cy="36998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5-Point Star 45"/>
          <p:cNvSpPr/>
          <p:nvPr/>
        </p:nvSpPr>
        <p:spPr>
          <a:xfrm>
            <a:off x="9539822" y="5594565"/>
            <a:ext cx="283656" cy="283656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4-Point Star 46"/>
          <p:cNvSpPr/>
          <p:nvPr/>
        </p:nvSpPr>
        <p:spPr>
          <a:xfrm>
            <a:off x="9459659" y="5841222"/>
            <a:ext cx="98663" cy="98663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4-Point Star 47"/>
          <p:cNvSpPr/>
          <p:nvPr/>
        </p:nvSpPr>
        <p:spPr>
          <a:xfrm>
            <a:off x="9410327" y="5964551"/>
            <a:ext cx="67830" cy="6783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 rot="19800000">
            <a:off x="9681052" y="1871205"/>
            <a:ext cx="44778" cy="298522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5-Point Star 49"/>
          <p:cNvSpPr/>
          <p:nvPr/>
        </p:nvSpPr>
        <p:spPr>
          <a:xfrm>
            <a:off x="9596470" y="1702043"/>
            <a:ext cx="228867" cy="228867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4-Point Star 50"/>
          <p:cNvSpPr/>
          <p:nvPr/>
        </p:nvSpPr>
        <p:spPr>
          <a:xfrm>
            <a:off x="9531791" y="1901057"/>
            <a:ext cx="79605" cy="79605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4-Point Star 51"/>
          <p:cNvSpPr/>
          <p:nvPr/>
        </p:nvSpPr>
        <p:spPr>
          <a:xfrm>
            <a:off x="9491988" y="2000565"/>
            <a:ext cx="54729" cy="54729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 rot="19800000">
            <a:off x="5805857" y="943387"/>
            <a:ext cx="61666" cy="411112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5-Point Star 53"/>
          <p:cNvSpPr/>
          <p:nvPr/>
        </p:nvSpPr>
        <p:spPr>
          <a:xfrm>
            <a:off x="5689375" y="710424"/>
            <a:ext cx="315186" cy="315186"/>
          </a:xfrm>
          <a:prstGeom prst="star5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4-Point Star 54"/>
          <p:cNvSpPr/>
          <p:nvPr/>
        </p:nvSpPr>
        <p:spPr>
          <a:xfrm>
            <a:off x="5600301" y="984499"/>
            <a:ext cx="109630" cy="10963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4-Point Star 55"/>
          <p:cNvSpPr/>
          <p:nvPr/>
        </p:nvSpPr>
        <p:spPr>
          <a:xfrm>
            <a:off x="5545486" y="1121536"/>
            <a:ext cx="75370" cy="75370"/>
          </a:xfrm>
          <a:prstGeom prst="star4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506876" y="2080405"/>
            <a:ext cx="555329" cy="201937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532118" y="1935262"/>
            <a:ext cx="100968" cy="18931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Isosceles Triangle 58"/>
          <p:cNvSpPr/>
          <p:nvPr/>
        </p:nvSpPr>
        <p:spPr>
          <a:xfrm>
            <a:off x="7532118" y="1846915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734056" y="1796430"/>
            <a:ext cx="100968" cy="328149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Isosceles Triangle 60"/>
          <p:cNvSpPr/>
          <p:nvPr/>
        </p:nvSpPr>
        <p:spPr>
          <a:xfrm>
            <a:off x="7734056" y="1708082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910752" y="1935262"/>
            <a:ext cx="100968" cy="189316"/>
          </a:xfrm>
          <a:prstGeom prst="rect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Isosceles Triangle 62"/>
          <p:cNvSpPr/>
          <p:nvPr/>
        </p:nvSpPr>
        <p:spPr>
          <a:xfrm>
            <a:off x="7910752" y="1846915"/>
            <a:ext cx="100968" cy="88347"/>
          </a:xfrm>
          <a:prstGeom prst="triangle">
            <a:avLst/>
          </a:prstGeom>
          <a:solidFill>
            <a:srgbClr val="143A6B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46677" y="2162443"/>
            <a:ext cx="75726" cy="119900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PAGE TOUR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全ページ紹介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05" name="Rounded Rectangle 114"/>
          <p:cNvSpPr/>
          <p:nvPr/>
        </p:nvSpPr>
        <p:spPr>
          <a:xfrm>
            <a:off x="1655064" y="1600200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15"/>
          <p:cNvSpPr/>
          <p:nvPr/>
        </p:nvSpPr>
        <p:spPr>
          <a:xfrm>
            <a:off x="1655064" y="1600200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16"/>
          <p:cNvSpPr/>
          <p:nvPr/>
        </p:nvSpPr>
        <p:spPr>
          <a:xfrm>
            <a:off x="1735965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17"/>
          <p:cNvSpPr/>
          <p:nvPr/>
        </p:nvSpPr>
        <p:spPr>
          <a:xfrm>
            <a:off x="1834844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18"/>
          <p:cNvSpPr/>
          <p:nvPr/>
        </p:nvSpPr>
        <p:spPr>
          <a:xfrm>
            <a:off x="1933723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0" name="Picture 109" descr="alb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1779980"/>
            <a:ext cx="2651760" cy="177533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655064" y="361531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>
                <a:solidFill>
                  <a:srgbClr val="9AD5FF"/>
                </a:solidFill>
                <a:latin typeface="Georgia"/>
              </a:rPr>
              <a:t>MEMORY ALBUM</a:t>
            </a:r>
          </a:p>
        </p:txBody>
      </p:sp>
      <p:sp>
        <p:nvSpPr>
          <p:cNvPr id="2" name="Rounded Rectangle 114"/>
          <p:cNvSpPr/>
          <p:nvPr/>
        </p:nvSpPr>
        <p:spPr>
          <a:xfrm>
            <a:off x="4764024" y="1600200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115"/>
          <p:cNvSpPr/>
          <p:nvPr/>
        </p:nvSpPr>
        <p:spPr>
          <a:xfrm>
            <a:off x="4764024" y="1600200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6"/>
          <p:cNvSpPr/>
          <p:nvPr/>
        </p:nvSpPr>
        <p:spPr>
          <a:xfrm>
            <a:off x="4844925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7"/>
          <p:cNvSpPr/>
          <p:nvPr/>
        </p:nvSpPr>
        <p:spPr>
          <a:xfrm>
            <a:off x="4943804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8"/>
          <p:cNvSpPr/>
          <p:nvPr/>
        </p:nvSpPr>
        <p:spPr>
          <a:xfrm>
            <a:off x="5042683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5" name="Picture 114" descr="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4" y="1779980"/>
            <a:ext cx="2651760" cy="177533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4764024" y="361531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>
                <a:solidFill>
                  <a:srgbClr val="9AD5FF"/>
                </a:solidFill>
                <a:latin typeface="Georgia"/>
              </a:rPr>
              <a:t>TIMELINE</a:t>
            </a:r>
          </a:p>
        </p:txBody>
      </p:sp>
      <p:sp>
        <p:nvSpPr>
          <p:cNvPr id="69" name="Rounded Rectangle 114"/>
          <p:cNvSpPr/>
          <p:nvPr/>
        </p:nvSpPr>
        <p:spPr>
          <a:xfrm>
            <a:off x="7882127" y="1600200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115"/>
          <p:cNvSpPr/>
          <p:nvPr/>
        </p:nvSpPr>
        <p:spPr>
          <a:xfrm>
            <a:off x="7882127" y="1600200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7963028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8061907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8160786" y="1663123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mus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1779980"/>
            <a:ext cx="2651760" cy="1775330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7882127" y="361531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>
                <a:solidFill>
                  <a:srgbClr val="9AD5FF"/>
                </a:solidFill>
                <a:latin typeface="Georgia"/>
              </a:rPr>
              <a:t>MEMORY THEMES</a:t>
            </a:r>
          </a:p>
        </p:txBody>
      </p:sp>
      <p:sp>
        <p:nvSpPr>
          <p:cNvPr id="71" name="Rounded Rectangle 114"/>
          <p:cNvSpPr/>
          <p:nvPr/>
        </p:nvSpPr>
        <p:spPr>
          <a:xfrm>
            <a:off x="1655064" y="4041648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115"/>
          <p:cNvSpPr/>
          <p:nvPr/>
        </p:nvSpPr>
        <p:spPr>
          <a:xfrm>
            <a:off x="1655064" y="4041648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16"/>
          <p:cNvSpPr/>
          <p:nvPr/>
        </p:nvSpPr>
        <p:spPr>
          <a:xfrm>
            <a:off x="1735965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17"/>
          <p:cNvSpPr/>
          <p:nvPr/>
        </p:nvSpPr>
        <p:spPr>
          <a:xfrm>
            <a:off x="1834844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18"/>
          <p:cNvSpPr/>
          <p:nvPr/>
        </p:nvSpPr>
        <p:spPr>
          <a:xfrm>
            <a:off x="1933723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5" name="Picture 124" descr="rox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5064" y="4221428"/>
            <a:ext cx="2651760" cy="177533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655064" y="605675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>
                <a:solidFill>
                  <a:srgbClr val="9AD5FF"/>
                </a:solidFill>
                <a:latin typeface="Georgia"/>
              </a:rPr>
              <a:t>MEMORY OF SUMMER</a:t>
            </a:r>
          </a:p>
        </p:txBody>
      </p:sp>
      <p:sp>
        <p:nvSpPr>
          <p:cNvPr id="73" name="Rounded Rectangle 114"/>
          <p:cNvSpPr/>
          <p:nvPr/>
        </p:nvSpPr>
        <p:spPr>
          <a:xfrm>
            <a:off x="4764024" y="4041648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115"/>
          <p:cNvSpPr/>
          <p:nvPr/>
        </p:nvSpPr>
        <p:spPr>
          <a:xfrm>
            <a:off x="4764024" y="4041648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16"/>
          <p:cNvSpPr/>
          <p:nvPr/>
        </p:nvSpPr>
        <p:spPr>
          <a:xfrm>
            <a:off x="4844925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17"/>
          <p:cNvSpPr/>
          <p:nvPr/>
        </p:nvSpPr>
        <p:spPr>
          <a:xfrm>
            <a:off x="4943804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18"/>
          <p:cNvSpPr/>
          <p:nvPr/>
        </p:nvSpPr>
        <p:spPr>
          <a:xfrm>
            <a:off x="5042683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0" name="Picture 129" descr="crossover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024" y="4221428"/>
            <a:ext cx="2651760" cy="177533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4764024" y="605675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>
                <a:solidFill>
                  <a:srgbClr val="9AD5FF"/>
                </a:solidFill>
                <a:latin typeface="Georgia"/>
              </a:rPr>
              <a:t>MEMORY CROSSOVER</a:t>
            </a:r>
          </a:p>
        </p:txBody>
      </p:sp>
      <p:sp>
        <p:nvSpPr>
          <p:cNvPr id="75" name="Rounded Rectangle 114"/>
          <p:cNvSpPr/>
          <p:nvPr/>
        </p:nvSpPr>
        <p:spPr>
          <a:xfrm>
            <a:off x="7882127" y="4041648"/>
            <a:ext cx="2651760" cy="1955110"/>
          </a:xfrm>
          <a:prstGeom prst="roundRect">
            <a:avLst>
              <a:gd name="adj" fmla="val 3000"/>
            </a:avLst>
          </a:prstGeom>
          <a:solidFill>
            <a:srgbClr val="060D1E"/>
          </a:solidFill>
          <a:ln w="12700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115"/>
          <p:cNvSpPr/>
          <p:nvPr/>
        </p:nvSpPr>
        <p:spPr>
          <a:xfrm>
            <a:off x="7882127" y="4041648"/>
            <a:ext cx="2651760" cy="179780"/>
          </a:xfrm>
          <a:prstGeom prst="rect">
            <a:avLst/>
          </a:prstGeom>
          <a:solidFill>
            <a:srgbClr val="0A1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16"/>
          <p:cNvSpPr/>
          <p:nvPr/>
        </p:nvSpPr>
        <p:spPr>
          <a:xfrm>
            <a:off x="7963028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17"/>
          <p:cNvSpPr/>
          <p:nvPr/>
        </p:nvSpPr>
        <p:spPr>
          <a:xfrm>
            <a:off x="8061907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18"/>
          <p:cNvSpPr/>
          <p:nvPr/>
        </p:nvSpPr>
        <p:spPr>
          <a:xfrm>
            <a:off x="8160786" y="4104571"/>
            <a:ext cx="49439" cy="49439"/>
          </a:xfrm>
          <a:prstGeom prst="ellipse">
            <a:avLst/>
          </a:prstGeom>
          <a:solidFill>
            <a:srgbClr val="7D8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5" name="Picture 134" descr="secr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2127" y="4221428"/>
            <a:ext cx="2651760" cy="177533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7882127" y="605675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spc="50" dirty="0">
                <a:solidFill>
                  <a:srgbClr val="FFC000"/>
                </a:solidFill>
                <a:latin typeface="Georgia"/>
              </a:rPr>
              <a:t>SECRET MEMORY</a:t>
            </a:r>
          </a:p>
        </p:txBody>
      </p:sp>
      <p:sp>
        <p:nvSpPr>
          <p:cNvPr id="137" name="TextBox 149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38" name="TextBox 150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3991355" y="-10392156"/>
            <a:ext cx="12371831" cy="12371831"/>
          </a:xfrm>
          <a:prstGeom prst="ellipse">
            <a:avLst/>
          </a:prstGeom>
          <a:solidFill>
            <a:srgbClr val="9AD5FF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3840480" y="-10241280"/>
            <a:ext cx="12070080" cy="12070080"/>
          </a:xfrm>
          <a:prstGeom prst="ellipse">
            <a:avLst/>
          </a:prstGeom>
          <a:noFill/>
          <a:ln w="330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2150668" y="-8551468"/>
            <a:ext cx="8690457" cy="8690457"/>
          </a:xfrm>
          <a:prstGeom prst="ellipse">
            <a:avLst/>
          </a:prstGeom>
          <a:noFill/>
          <a:ln w="2540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-581558" y="-6982358"/>
            <a:ext cx="5552236" cy="5552236"/>
          </a:xfrm>
          <a:prstGeom prst="ellipse">
            <a:avLst/>
          </a:prstGeom>
          <a:noFill/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4759358" y="-3143865"/>
            <a:ext cx="2676312" cy="1108565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7254619" y="-2216351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3256934" y="-1641441"/>
            <a:ext cx="1108565" cy="267631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4184448" y="853819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23620" y="-1641441"/>
            <a:ext cx="1108565" cy="267631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-157430" y="853819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-3046550" y="-3143865"/>
            <a:ext cx="2676312" cy="1108565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-3227602" y="-2216351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-3046550" y="-6377179"/>
            <a:ext cx="2676312" cy="1108565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-3227602" y="-6558230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3620" y="-9447350"/>
            <a:ext cx="1108565" cy="2676312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-157430" y="-9628402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3256934" y="-9447350"/>
            <a:ext cx="1108565" cy="2676312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4184448" y="-9628402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4759358" y="-6377179"/>
            <a:ext cx="2676312" cy="1108565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7254619" y="-6558230"/>
            <a:ext cx="362102" cy="362102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172701" y="2458908"/>
            <a:ext cx="96332" cy="96332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3911663" y="5027149"/>
            <a:ext cx="67143" cy="67143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310908" y="4922424"/>
            <a:ext cx="55165" cy="55165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343664" y="1355612"/>
            <a:ext cx="73250" cy="73250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iamond 36"/>
          <p:cNvSpPr/>
          <p:nvPr/>
        </p:nvSpPr>
        <p:spPr>
          <a:xfrm>
            <a:off x="5550685" y="5718233"/>
            <a:ext cx="104630" cy="104630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1386964" y="4069558"/>
            <a:ext cx="107151" cy="107151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274392" y="1856785"/>
            <a:ext cx="105209" cy="10520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7370371" y="1033485"/>
            <a:ext cx="98409" cy="9840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0191491" y="6301453"/>
            <a:ext cx="108177" cy="10817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799370" y="3580561"/>
            <a:ext cx="78025" cy="78025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386501" y="5381135"/>
            <a:ext cx="78716" cy="78716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1117879" y="5171219"/>
            <a:ext cx="105321" cy="105321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Diamond 44"/>
          <p:cNvSpPr/>
          <p:nvPr/>
        </p:nvSpPr>
        <p:spPr>
          <a:xfrm>
            <a:off x="1831735" y="2886711"/>
            <a:ext cx="64325" cy="64325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862869" y="996534"/>
            <a:ext cx="76513" cy="7651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Diamond 46"/>
          <p:cNvSpPr/>
          <p:nvPr/>
        </p:nvSpPr>
        <p:spPr>
          <a:xfrm>
            <a:off x="10053865" y="6247892"/>
            <a:ext cx="82970" cy="82970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Diamond 47"/>
          <p:cNvSpPr/>
          <p:nvPr/>
        </p:nvSpPr>
        <p:spPr>
          <a:xfrm>
            <a:off x="2573646" y="670616"/>
            <a:ext cx="101286" cy="101286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463201" y="3084376"/>
            <a:ext cx="83089" cy="8308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727758" y="778419"/>
            <a:ext cx="86363" cy="8636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5-Point Star 50"/>
          <p:cNvSpPr/>
          <p:nvPr/>
        </p:nvSpPr>
        <p:spPr>
          <a:xfrm>
            <a:off x="2183627" y="1769567"/>
            <a:ext cx="436773" cy="436773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207313" y="1749263"/>
            <a:ext cx="457305" cy="16629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228100" y="1629740"/>
            <a:ext cx="83146" cy="155899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Isosceles Triangle 53"/>
          <p:cNvSpPr/>
          <p:nvPr/>
        </p:nvSpPr>
        <p:spPr>
          <a:xfrm>
            <a:off x="2228100" y="1556987"/>
            <a:ext cx="83146" cy="7275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2394393" y="1515414"/>
            <a:ext cx="83146" cy="270225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Isosceles Triangle 55"/>
          <p:cNvSpPr/>
          <p:nvPr/>
        </p:nvSpPr>
        <p:spPr>
          <a:xfrm>
            <a:off x="2394393" y="1442661"/>
            <a:ext cx="83146" cy="7275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539899" y="1629740"/>
            <a:ext cx="83146" cy="155899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Isosceles Triangle 57"/>
          <p:cNvSpPr/>
          <p:nvPr/>
        </p:nvSpPr>
        <p:spPr>
          <a:xfrm>
            <a:off x="2539899" y="1556987"/>
            <a:ext cx="83146" cy="72753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404786" y="1816820"/>
            <a:ext cx="62359" cy="98736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971724" y="1960818"/>
            <a:ext cx="347552" cy="12638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987522" y="1869980"/>
            <a:ext cx="63191" cy="118483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Isosceles Triangle 61"/>
          <p:cNvSpPr/>
          <p:nvPr/>
        </p:nvSpPr>
        <p:spPr>
          <a:xfrm>
            <a:off x="2987522" y="1814688"/>
            <a:ext cx="63191" cy="5529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13905" y="1783092"/>
            <a:ext cx="63191" cy="205371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Isosceles Triangle 63"/>
          <p:cNvSpPr/>
          <p:nvPr/>
        </p:nvSpPr>
        <p:spPr>
          <a:xfrm>
            <a:off x="3113905" y="1727800"/>
            <a:ext cx="63191" cy="5529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224490" y="1869980"/>
            <a:ext cx="63191" cy="118483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Isosceles Triangle 65"/>
          <p:cNvSpPr/>
          <p:nvPr/>
        </p:nvSpPr>
        <p:spPr>
          <a:xfrm>
            <a:off x="3224490" y="1814688"/>
            <a:ext cx="63191" cy="5529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3121804" y="2012161"/>
            <a:ext cx="47393" cy="75039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4445883" y="5789052"/>
            <a:ext cx="433606" cy="157675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465592" y="5675723"/>
            <a:ext cx="78837" cy="147820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Isosceles Triangle 69"/>
          <p:cNvSpPr/>
          <p:nvPr/>
        </p:nvSpPr>
        <p:spPr>
          <a:xfrm>
            <a:off x="4465592" y="5606740"/>
            <a:ext cx="78837" cy="6898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623267" y="5567321"/>
            <a:ext cx="78837" cy="256222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Isosceles Triangle 71"/>
          <p:cNvSpPr/>
          <p:nvPr/>
        </p:nvSpPr>
        <p:spPr>
          <a:xfrm>
            <a:off x="4623267" y="5498338"/>
            <a:ext cx="78837" cy="6898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4761233" y="5675723"/>
            <a:ext cx="78837" cy="147820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Isosceles Triangle 73"/>
          <p:cNvSpPr/>
          <p:nvPr/>
        </p:nvSpPr>
        <p:spPr>
          <a:xfrm>
            <a:off x="4761233" y="5606740"/>
            <a:ext cx="78837" cy="68982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4633122" y="5853107"/>
            <a:ext cx="59128" cy="93619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5-Point Star 75"/>
          <p:cNvSpPr/>
          <p:nvPr/>
        </p:nvSpPr>
        <p:spPr>
          <a:xfrm>
            <a:off x="10189989" y="5795562"/>
            <a:ext cx="485724" cy="485724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5-Point Star 76"/>
          <p:cNvSpPr/>
          <p:nvPr/>
        </p:nvSpPr>
        <p:spPr>
          <a:xfrm>
            <a:off x="3700382" y="4946675"/>
            <a:ext cx="613455" cy="613455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 rot="19800000">
            <a:off x="11281529" y="5397321"/>
            <a:ext cx="48464" cy="323099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5-Point Star 78"/>
          <p:cNvSpPr/>
          <p:nvPr/>
        </p:nvSpPr>
        <p:spPr>
          <a:xfrm>
            <a:off x="11189984" y="5214232"/>
            <a:ext cx="247709" cy="247709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4-Point Star 79"/>
          <p:cNvSpPr/>
          <p:nvPr/>
        </p:nvSpPr>
        <p:spPr>
          <a:xfrm>
            <a:off x="11119979" y="5429631"/>
            <a:ext cx="86159" cy="86159"/>
          </a:xfrm>
          <a:prstGeom prst="star4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4-Point Star 80"/>
          <p:cNvSpPr/>
          <p:nvPr/>
        </p:nvSpPr>
        <p:spPr>
          <a:xfrm>
            <a:off x="11076899" y="5537331"/>
            <a:ext cx="59234" cy="59234"/>
          </a:xfrm>
          <a:prstGeom prst="star4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DESIGN &amp; WORLD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デザインイメージと世界観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22960" y="169164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カラーパレット</a:t>
            </a:r>
            <a:endParaRPr sz="1200" b="1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822960" y="205740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03060D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3182112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 dirty="0">
                <a:solidFill>
                  <a:srgbClr val="EEF4FF"/>
                </a:solidFill>
                <a:latin typeface="Meiryo UI" panose="020B0604030504040204" pitchFamily="50" charset="-128"/>
              </a:rPr>
              <a:t>Void Black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3401568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D8FAE"/>
                </a:solidFill>
                <a:latin typeface="Georgia"/>
              </a:rPr>
              <a:t>#03060D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14600" y="205740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060D1E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514600" y="3182112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 dirty="0">
                <a:solidFill>
                  <a:srgbClr val="EEF4FF"/>
                </a:solidFill>
                <a:latin typeface="Meiryo UI" panose="020B0604030504040204" pitchFamily="50" charset="-128"/>
              </a:rPr>
              <a:t>Dark Navy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14600" y="3401568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D8FAE"/>
                </a:solidFill>
                <a:latin typeface="Georgia"/>
              </a:rPr>
              <a:t>#060D1E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206240" y="205740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4DA6FF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6240" y="3182112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 dirty="0">
                <a:solidFill>
                  <a:srgbClr val="EEF4FF"/>
                </a:solidFill>
                <a:latin typeface="Meiryo UI" panose="020B0604030504040204" pitchFamily="50" charset="-128"/>
              </a:rPr>
              <a:t>Blue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3401568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D8FAE"/>
                </a:solidFill>
                <a:latin typeface="Georgia"/>
              </a:rPr>
              <a:t>#4DA6FF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897880" y="205740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97880" y="3182112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 dirty="0">
                <a:solidFill>
                  <a:srgbClr val="EEF4FF"/>
                </a:solidFill>
                <a:latin typeface="Meiryo UI" panose="020B0604030504040204" pitchFamily="50" charset="-128"/>
              </a:rPr>
              <a:t>White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97880" y="3401568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D8FAE"/>
                </a:solidFill>
                <a:latin typeface="Georgia"/>
              </a:rPr>
              <a:t>#EEF4FF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89520" y="205740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E6D5A3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589520" y="3182112"/>
            <a:ext cx="14173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 dirty="0">
                <a:solidFill>
                  <a:srgbClr val="EEF4FF"/>
                </a:solidFill>
                <a:latin typeface="Meiryo UI" panose="020B0604030504040204" pitchFamily="50" charset="-128"/>
              </a:rPr>
              <a:t>Pale Gold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89520" y="3401568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D8FAE"/>
                </a:solidFill>
                <a:latin typeface="Georgia"/>
              </a:rPr>
              <a:t>#E6D5A3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2960" y="3977639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デザインキーワード</a:t>
            </a:r>
            <a:endParaRPr sz="1200" b="1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22960" y="4343400"/>
            <a:ext cx="1033272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2960" y="4454632"/>
            <a:ext cx="1033272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幻想的</a:t>
            </a:r>
            <a:endParaRPr sz="105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2020824" y="4343400"/>
            <a:ext cx="1033272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2020824" y="4454632"/>
            <a:ext cx="1033272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神秘的</a:t>
            </a:r>
            <a:endParaRPr sz="105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3218688" y="4343400"/>
            <a:ext cx="1033272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218688" y="4454632"/>
            <a:ext cx="1033272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静けさ</a:t>
            </a:r>
            <a:endParaRPr sz="105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416552" y="4343400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416552" y="4454632"/>
            <a:ext cx="557784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>
                <a:solidFill>
                  <a:srgbClr val="9AD5FF"/>
                </a:solidFill>
                <a:latin typeface="Meiryo UI" panose="020B0604030504040204" pitchFamily="50" charset="-128"/>
              </a:rPr>
              <a:t>光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138928" y="4343400"/>
            <a:ext cx="795528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138928" y="4454632"/>
            <a:ext cx="795528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記憶</a:t>
            </a:r>
            <a:endParaRPr sz="105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6099048" y="4343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A1630"/>
          </a:solidFill>
          <a:ln w="9525">
            <a:solidFill>
              <a:srgbClr val="2A6B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099048" y="4454632"/>
            <a:ext cx="15087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ゲームUI</a:t>
            </a:r>
            <a:endParaRPr sz="105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822960" y="4983480"/>
            <a:ext cx="10515600" cy="128016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1097280" y="516636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 dirty="0" err="1">
                <a:solidFill>
                  <a:srgbClr val="E6D5A3"/>
                </a:solidFill>
                <a:latin typeface="Meiryo UI" panose="020B0604030504040204" pitchFamily="50" charset="-128"/>
              </a:rPr>
              <a:t>具体的なデザイン要素</a:t>
            </a:r>
            <a:endParaRPr sz="1200" b="1" i="0" dirty="0">
              <a:solidFill>
                <a:srgbClr val="E6D5A3"/>
              </a:solidFill>
              <a:latin typeface="Meiryo UI" panose="020B0604030504040204" pitchFamily="50" charset="-128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1097280" y="5486400"/>
            <a:ext cx="10058400" cy="563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光る粒子・ガラス風UI・青白い発光・余白を活かした滑らかな遷移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877056" y="5065776"/>
            <a:ext cx="11996927" cy="11996927"/>
          </a:xfrm>
          <a:prstGeom prst="ellipse">
            <a:avLst/>
          </a:prstGeom>
          <a:solidFill>
            <a:srgbClr val="E6D5A3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023360" y="5212080"/>
            <a:ext cx="11704320" cy="11704320"/>
          </a:xfrm>
          <a:prstGeom prst="ellipse">
            <a:avLst/>
          </a:prstGeom>
          <a:noFill/>
          <a:ln w="330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1964" y="6850684"/>
            <a:ext cx="8427110" cy="8427110"/>
          </a:xfrm>
          <a:prstGeom prst="ellipse">
            <a:avLst/>
          </a:prstGeom>
          <a:noFill/>
          <a:ln w="2540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183526" y="8372246"/>
            <a:ext cx="5383987" cy="5383987"/>
          </a:xfrm>
          <a:prstGeom prst="ellipse">
            <a:avLst/>
          </a:prstGeom>
          <a:noFill/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2362597" y="12094421"/>
            <a:ext cx="2595212" cy="107497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4782244" y="12993828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0905701" y="13551317"/>
            <a:ext cx="1074972" cy="25952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1805108" y="15970964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7770366" y="13551317"/>
            <a:ext cx="1074972" cy="25952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7594802" y="15970964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4793230" y="12094421"/>
            <a:ext cx="2595212" cy="107497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617665" y="12993828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793230" y="8959086"/>
            <a:ext cx="2595212" cy="107497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4617665" y="8783522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7770366" y="5981950"/>
            <a:ext cx="1074972" cy="25952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7594802" y="5806385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0905701" y="5981950"/>
            <a:ext cx="1074972" cy="259521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1805108" y="5806385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2362597" y="8959086"/>
            <a:ext cx="2595212" cy="1074972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4782244" y="8783522"/>
            <a:ext cx="351129" cy="351129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320375" y="5840657"/>
            <a:ext cx="46793" cy="46793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540979" y="667319"/>
            <a:ext cx="97331" cy="9733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534046" y="6270881"/>
            <a:ext cx="69014" cy="69014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7690554" y="4548555"/>
            <a:ext cx="93504" cy="93504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812322" y="1161946"/>
            <a:ext cx="63310" cy="6331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Diamond 37"/>
          <p:cNvSpPr/>
          <p:nvPr/>
        </p:nvSpPr>
        <p:spPr>
          <a:xfrm>
            <a:off x="1281617" y="2457167"/>
            <a:ext cx="97890" cy="97890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Diamond 38"/>
          <p:cNvSpPr/>
          <p:nvPr/>
        </p:nvSpPr>
        <p:spPr>
          <a:xfrm>
            <a:off x="5252904" y="549272"/>
            <a:ext cx="92926" cy="92926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468427" y="4886268"/>
            <a:ext cx="74028" cy="74028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Diamond 40"/>
          <p:cNvSpPr/>
          <p:nvPr/>
        </p:nvSpPr>
        <p:spPr>
          <a:xfrm>
            <a:off x="7197550" y="3362791"/>
            <a:ext cx="72903" cy="72903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Diamond 41"/>
          <p:cNvSpPr/>
          <p:nvPr/>
        </p:nvSpPr>
        <p:spPr>
          <a:xfrm>
            <a:off x="2030378" y="1568822"/>
            <a:ext cx="61381" cy="61381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Diamond 42"/>
          <p:cNvSpPr/>
          <p:nvPr/>
        </p:nvSpPr>
        <p:spPr>
          <a:xfrm>
            <a:off x="10324443" y="1628186"/>
            <a:ext cx="54112" cy="54112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916473" y="5399494"/>
            <a:ext cx="106740" cy="10674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937845" y="4148248"/>
            <a:ext cx="595134" cy="216412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964896" y="3992702"/>
            <a:ext cx="108206" cy="202886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Isosceles Triangle 46"/>
          <p:cNvSpPr/>
          <p:nvPr/>
        </p:nvSpPr>
        <p:spPr>
          <a:xfrm>
            <a:off x="9964896" y="3898022"/>
            <a:ext cx="108206" cy="94680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181309" y="3843918"/>
            <a:ext cx="108206" cy="35167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Isosceles Triangle 48"/>
          <p:cNvSpPr/>
          <p:nvPr/>
        </p:nvSpPr>
        <p:spPr>
          <a:xfrm>
            <a:off x="10181309" y="3749238"/>
            <a:ext cx="108206" cy="94680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0370670" y="3992702"/>
            <a:ext cx="108206" cy="202886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Isosceles Triangle 50"/>
          <p:cNvSpPr/>
          <p:nvPr/>
        </p:nvSpPr>
        <p:spPr>
          <a:xfrm>
            <a:off x="10370670" y="3898022"/>
            <a:ext cx="108206" cy="94680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0194835" y="4236166"/>
            <a:ext cx="81154" cy="128494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 rot="19800000">
            <a:off x="2524292" y="6134433"/>
            <a:ext cx="36583" cy="24389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5-Point Star 53"/>
          <p:cNvSpPr/>
          <p:nvPr/>
        </p:nvSpPr>
        <p:spPr>
          <a:xfrm>
            <a:off x="2455190" y="5996229"/>
            <a:ext cx="186982" cy="186982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4-Point Star 54"/>
          <p:cNvSpPr/>
          <p:nvPr/>
        </p:nvSpPr>
        <p:spPr>
          <a:xfrm>
            <a:off x="2402347" y="6158822"/>
            <a:ext cx="65037" cy="65037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4-Point Star 55"/>
          <p:cNvSpPr/>
          <p:nvPr/>
        </p:nvSpPr>
        <p:spPr>
          <a:xfrm>
            <a:off x="2369829" y="6240119"/>
            <a:ext cx="44713" cy="44713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826192" y="4424175"/>
            <a:ext cx="558242" cy="202997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851567" y="4278271"/>
            <a:ext cx="101498" cy="190309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Isosceles Triangle 58"/>
          <p:cNvSpPr/>
          <p:nvPr/>
        </p:nvSpPr>
        <p:spPr>
          <a:xfrm>
            <a:off x="1851567" y="4189459"/>
            <a:ext cx="101498" cy="88811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54564" y="4138710"/>
            <a:ext cx="101498" cy="329870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Isosceles Triangle 60"/>
          <p:cNvSpPr/>
          <p:nvPr/>
        </p:nvSpPr>
        <p:spPr>
          <a:xfrm>
            <a:off x="2054564" y="4049899"/>
            <a:ext cx="101498" cy="88811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2232187" y="4278271"/>
            <a:ext cx="101498" cy="190309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Isosceles Triangle 62"/>
          <p:cNvSpPr/>
          <p:nvPr/>
        </p:nvSpPr>
        <p:spPr>
          <a:xfrm>
            <a:off x="2232187" y="4189459"/>
            <a:ext cx="101498" cy="88811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2067252" y="4506642"/>
            <a:ext cx="76123" cy="120529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 rot="19800000">
            <a:off x="2221544" y="3604394"/>
            <a:ext cx="43522" cy="290147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5-Point Star 65"/>
          <p:cNvSpPr/>
          <p:nvPr/>
        </p:nvSpPr>
        <p:spPr>
          <a:xfrm>
            <a:off x="2139336" y="3439978"/>
            <a:ext cx="222446" cy="222446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4-Point Star 66"/>
          <p:cNvSpPr/>
          <p:nvPr/>
        </p:nvSpPr>
        <p:spPr>
          <a:xfrm>
            <a:off x="2076471" y="3633409"/>
            <a:ext cx="77372" cy="77372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4-Point Star 67"/>
          <p:cNvSpPr/>
          <p:nvPr/>
        </p:nvSpPr>
        <p:spPr>
          <a:xfrm>
            <a:off x="2037784" y="3730125"/>
            <a:ext cx="53193" cy="53193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FEATURES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実装機能:必須機能と発展機能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389120" y="178308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2A6B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389120" y="1919124"/>
            <a:ext cx="237744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 dirty="0">
                <a:solidFill>
                  <a:srgbClr val="03060D"/>
                </a:solidFill>
                <a:latin typeface="Meiryo UI" panose="020B0604030504040204" pitchFamily="50" charset="-128"/>
              </a:rPr>
              <a:t>2段階実装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577840" y="2286000"/>
            <a:ext cx="0" cy="32004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2377440" y="2606040"/>
            <a:ext cx="6400800" cy="50292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377440" y="2734389"/>
            <a:ext cx="64008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9AD5FF"/>
                </a:solidFill>
                <a:latin typeface="Meiryo UI" panose="020B0604030504040204" pitchFamily="50" charset="-128"/>
              </a:rPr>
              <a:t>基本的なWebサイト機能とゲームのような体験機能を両立</a:t>
            </a:r>
            <a:endParaRPr sz="1600" b="0" i="0" dirty="0">
              <a:solidFill>
                <a:srgbClr val="9AD5FF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77" name="Connector 76"/>
          <p:cNvCxnSpPr/>
          <p:nvPr/>
        </p:nvCxnSpPr>
        <p:spPr>
          <a:xfrm>
            <a:off x="2090775" y="3337560"/>
            <a:ext cx="8010144" cy="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090775" y="3337560"/>
            <a:ext cx="0" cy="22860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833475" y="35661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98067" y="3730752"/>
            <a:ext cx="2185416" cy="22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必須機能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(</a:t>
            </a: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基本Webサイト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8067" y="4224528"/>
            <a:ext cx="2185416" cy="930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ナビゲーションメニュ</a:t>
            </a:r>
            <a:r>
              <a:rPr sz="1200" b="0" i="0" dirty="0">
                <a:solidFill>
                  <a:srgbClr val="7D8FAE"/>
                </a:solidFill>
                <a:latin typeface="Meiryo UI" panose="020B0604030504040204" pitchFamily="50" charset="-128"/>
              </a:rPr>
              <a:t>ー、</a:t>
            </a: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画像表示、ページ切り替え、作品・キャラクター情報の表示、レスポンシブ対応、マウスホバーによる演出</a:t>
            </a:r>
            <a:endParaRPr sz="12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82" name="Connector 81"/>
          <p:cNvCxnSpPr/>
          <p:nvPr/>
        </p:nvCxnSpPr>
        <p:spPr>
          <a:xfrm>
            <a:off x="4760823" y="3337560"/>
            <a:ext cx="0" cy="22860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3503523" y="35661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668115" y="3730752"/>
            <a:ext cx="2185416" cy="22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発展機能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①(</a:t>
            </a: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視覚効果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68115" y="4224528"/>
            <a:ext cx="2185416" cy="6907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カーソル位置に反応する光のエフェクト、ページ遷移アニメーション、スクロール連動アニメーション</a:t>
            </a:r>
            <a:endParaRPr sz="12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7430871" y="3337560"/>
            <a:ext cx="0" cy="22860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173571" y="35661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338163" y="3730752"/>
            <a:ext cx="2185416" cy="22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発展機能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②(</a:t>
            </a: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音響効果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38163" y="4224528"/>
            <a:ext cx="2185416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ホバー時・クリック時の効果音、BGM・SEのON</a:t>
            </a:r>
            <a:r>
              <a:rPr sz="1200" b="0" i="0" dirty="0">
                <a:solidFill>
                  <a:srgbClr val="7D8FAE"/>
                </a:solidFill>
                <a:latin typeface="Meiryo UI" panose="020B0604030504040204" pitchFamily="50" charset="-128"/>
              </a:rPr>
              <a:t>/</a:t>
            </a: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OFF切り替え</a:t>
            </a:r>
            <a:endParaRPr sz="12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100919" y="3337560"/>
            <a:ext cx="0" cy="228600"/>
          </a:xfrm>
          <a:prstGeom prst="line">
            <a:avLst/>
          </a:prstGeom>
          <a:ln w="12700">
            <a:solidFill>
              <a:srgbClr val="143A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8843619" y="35661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008211" y="3730752"/>
            <a:ext cx="2185416" cy="22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発展機能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③(</a:t>
            </a:r>
            <a:r>
              <a:rPr sz="14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ゲーム要素</a:t>
            </a:r>
            <a:r>
              <a:rPr sz="1400" b="1" i="0" dirty="0">
                <a:solidFill>
                  <a:srgbClr val="EEF4FF"/>
                </a:solidFill>
                <a:latin typeface="Meiryo UI" panose="020B0604030504040204" pitchFamily="50" charset="-128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8211" y="4224528"/>
            <a:ext cx="2185416" cy="4506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 dirty="0" err="1">
                <a:solidFill>
                  <a:srgbClr val="7D8FAE"/>
                </a:solidFill>
                <a:latin typeface="Meiryo UI" panose="020B0604030504040204" pitchFamily="50" charset="-128"/>
              </a:rPr>
              <a:t>記憶の欠片収集システムと収集状況の保存、隠しコンテンツの解放</a:t>
            </a:r>
            <a:endParaRPr sz="1200" b="0" i="0" dirty="0">
              <a:solidFill>
                <a:srgbClr val="7D8FAE"/>
              </a:solidFill>
              <a:latin typeface="Meiryo UI" panose="020B0604030504040204" pitchFamily="50" charset="-128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587752" y="-10579608"/>
            <a:ext cx="12746735" cy="12746735"/>
          </a:xfrm>
          <a:prstGeom prst="ellipse">
            <a:avLst/>
          </a:prstGeom>
          <a:solidFill>
            <a:srgbClr val="9AD5FF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743200" y="-10424160"/>
            <a:ext cx="12435840" cy="12435840"/>
          </a:xfrm>
          <a:prstGeom prst="ellipse">
            <a:avLst/>
          </a:prstGeom>
          <a:noFill/>
          <a:ln w="330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84217" y="-8683142"/>
            <a:ext cx="8953804" cy="8953804"/>
          </a:xfrm>
          <a:prstGeom prst="ellipse">
            <a:avLst/>
          </a:prstGeom>
          <a:noFill/>
          <a:ln w="2540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100876" y="-7066483"/>
            <a:ext cx="5720486" cy="5720486"/>
          </a:xfrm>
          <a:prstGeom prst="ellipse">
            <a:avLst/>
          </a:prstGeom>
          <a:noFill/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1603640" y="-3111672"/>
            <a:ext cx="2757412" cy="1142158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4174514" y="-2156052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0055687" y="-1563719"/>
            <a:ext cx="1142158" cy="275741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11011307" y="1007154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6724394" y="-1563719"/>
            <a:ext cx="1142158" cy="2757411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6537857" y="1007154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3561187" y="-3111672"/>
            <a:ext cx="2757412" cy="1142158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3374649" y="-2156052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561187" y="-6442965"/>
            <a:ext cx="2757412" cy="1142158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3374649" y="-6629502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6724394" y="-9606172"/>
            <a:ext cx="1142158" cy="2757412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6537857" y="-9792710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10055687" y="-9606172"/>
            <a:ext cx="1142158" cy="2757412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11011307" y="-9792710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11603640" y="-6442965"/>
            <a:ext cx="2757412" cy="1142158"/>
          </a:xfrm>
          <a:prstGeom prst="line">
            <a:avLst/>
          </a:prstGeom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4174514" y="-6629502"/>
            <a:ext cx="373075" cy="373075"/>
          </a:xfrm>
          <a:prstGeom prst="diamond">
            <a:avLst/>
          </a:prstGeom>
          <a:solidFill>
            <a:srgbClr val="E6D5A3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E6D5A3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184335" y="3881301"/>
            <a:ext cx="107953" cy="10795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795919" y="2213023"/>
            <a:ext cx="54541" cy="54541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803285" y="1852366"/>
            <a:ext cx="83766" cy="83766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10490019" y="2037588"/>
            <a:ext cx="65783" cy="65783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Diamond 36"/>
          <p:cNvSpPr/>
          <p:nvPr/>
        </p:nvSpPr>
        <p:spPr>
          <a:xfrm>
            <a:off x="6982553" y="5968544"/>
            <a:ext cx="92735" cy="92735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574096" y="788775"/>
            <a:ext cx="56020" cy="56020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154035" y="1977701"/>
            <a:ext cx="61281" cy="61281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925093" y="1762684"/>
            <a:ext cx="84958" cy="8495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82544" y="2148601"/>
            <a:ext cx="95574" cy="95574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Diamond 41"/>
          <p:cNvSpPr/>
          <p:nvPr/>
        </p:nvSpPr>
        <p:spPr>
          <a:xfrm>
            <a:off x="8560779" y="5765697"/>
            <a:ext cx="92341" cy="92341"/>
          </a:xfrm>
          <a:prstGeom prst="diamond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044682" y="3792039"/>
            <a:ext cx="84709" cy="8470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0483811" y="5207759"/>
            <a:ext cx="108193" cy="108193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008589" y="5216794"/>
            <a:ext cx="77528" cy="7752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0141617" y="3458607"/>
            <a:ext cx="67669" cy="67669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7233683" y="3788058"/>
            <a:ext cx="77408" cy="77408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625100" y="4515103"/>
            <a:ext cx="105666" cy="105666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606820" y="2773354"/>
            <a:ext cx="93277" cy="9327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7293766" y="1894572"/>
            <a:ext cx="70387" cy="70387"/>
          </a:xfrm>
          <a:prstGeom prst="ellipse">
            <a:avLst/>
          </a:prstGeom>
          <a:solidFill>
            <a:srgbClr val="2A6BB5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827241" y="3501187"/>
            <a:ext cx="524317" cy="190660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851074" y="3364149"/>
            <a:ext cx="95330" cy="178744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>
            <a:off x="8851074" y="3280735"/>
            <a:ext cx="95330" cy="83414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41735" y="3233070"/>
            <a:ext cx="95330" cy="309823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54"/>
          <p:cNvSpPr/>
          <p:nvPr/>
        </p:nvSpPr>
        <p:spPr>
          <a:xfrm>
            <a:off x="9041735" y="3149656"/>
            <a:ext cx="95330" cy="83414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208563" y="3364149"/>
            <a:ext cx="95330" cy="178744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Isosceles Triangle 56"/>
          <p:cNvSpPr/>
          <p:nvPr/>
        </p:nvSpPr>
        <p:spPr>
          <a:xfrm>
            <a:off x="9208563" y="3280735"/>
            <a:ext cx="95330" cy="83414"/>
          </a:xfrm>
          <a:prstGeom prst="triangl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053651" y="3578643"/>
            <a:ext cx="71497" cy="113204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5-Point Star 58"/>
          <p:cNvSpPr/>
          <p:nvPr/>
        </p:nvSpPr>
        <p:spPr>
          <a:xfrm>
            <a:off x="7402936" y="5323502"/>
            <a:ext cx="616467" cy="616467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/>
          <p:cNvCxnSpPr/>
          <p:nvPr/>
        </p:nvCxnSpPr>
        <p:spPr>
          <a:xfrm>
            <a:off x="6979601" y="5313279"/>
            <a:ext cx="196316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160418" y="5297780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6969735" y="5343645"/>
            <a:ext cx="158822" cy="11539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7113059" y="5443538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4" name="Connector 63"/>
          <p:cNvCxnSpPr/>
          <p:nvPr/>
        </p:nvCxnSpPr>
        <p:spPr>
          <a:xfrm>
            <a:off x="6943903" y="5362413"/>
            <a:ext cx="60665" cy="186707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989070" y="5533622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6" name="Connector 65"/>
          <p:cNvCxnSpPr/>
          <p:nvPr/>
        </p:nvCxnSpPr>
        <p:spPr>
          <a:xfrm flipH="1">
            <a:off x="6851310" y="5362413"/>
            <a:ext cx="60665" cy="186707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835811" y="5533622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Connector 67"/>
          <p:cNvCxnSpPr/>
          <p:nvPr/>
        </p:nvCxnSpPr>
        <p:spPr>
          <a:xfrm flipH="1">
            <a:off x="6727321" y="5343645"/>
            <a:ext cx="158822" cy="11539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6711822" y="5443538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 flipH="1">
            <a:off x="6679961" y="5313279"/>
            <a:ext cx="196316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6664462" y="5297780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6727321" y="5167521"/>
            <a:ext cx="158822" cy="11539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711822" y="5152023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H="1" flipV="1">
            <a:off x="6851310" y="5077438"/>
            <a:ext cx="60665" cy="186707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6835811" y="5061939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 flipV="1">
            <a:off x="6943903" y="5077438"/>
            <a:ext cx="60665" cy="186707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989070" y="5061939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 flipV="1">
            <a:off x="6969735" y="5167521"/>
            <a:ext cx="158822" cy="115392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113059" y="5152023"/>
            <a:ext cx="30997" cy="30997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6896942" y="5282282"/>
            <a:ext cx="61994" cy="61994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5-Point Star 80"/>
          <p:cNvSpPr/>
          <p:nvPr/>
        </p:nvSpPr>
        <p:spPr>
          <a:xfrm>
            <a:off x="9722538" y="4675110"/>
            <a:ext cx="419723" cy="419723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6496582" y="3206985"/>
            <a:ext cx="260414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6736437" y="3186426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>
            <a:off x="6483494" y="3247266"/>
            <a:ext cx="210680" cy="153068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73615" y="3379775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6449229" y="3272161"/>
            <a:ext cx="80472" cy="24766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6509142" y="3499271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87"/>
          <p:cNvCxnSpPr/>
          <p:nvPr/>
        </p:nvCxnSpPr>
        <p:spPr>
          <a:xfrm flipH="1">
            <a:off x="6326403" y="3272161"/>
            <a:ext cx="80472" cy="24766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6305844" y="3499271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0" name="Connector 89"/>
          <p:cNvCxnSpPr/>
          <p:nvPr/>
        </p:nvCxnSpPr>
        <p:spPr>
          <a:xfrm flipH="1">
            <a:off x="6161930" y="3247266"/>
            <a:ext cx="210680" cy="153068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6141371" y="3379775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 flipH="1">
            <a:off x="6099108" y="3206985"/>
            <a:ext cx="260414" cy="0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6078548" y="3186426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4" name="Connector 93"/>
          <p:cNvCxnSpPr/>
          <p:nvPr/>
        </p:nvCxnSpPr>
        <p:spPr>
          <a:xfrm flipH="1" flipV="1">
            <a:off x="6161930" y="3013636"/>
            <a:ext cx="210680" cy="153068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6141371" y="2993077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6" name="Connector 95"/>
          <p:cNvCxnSpPr/>
          <p:nvPr/>
        </p:nvCxnSpPr>
        <p:spPr>
          <a:xfrm flipH="1" flipV="1">
            <a:off x="6326403" y="2894140"/>
            <a:ext cx="80472" cy="24766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6305844" y="2873581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8" name="Connector 97"/>
          <p:cNvCxnSpPr/>
          <p:nvPr/>
        </p:nvCxnSpPr>
        <p:spPr>
          <a:xfrm flipV="1">
            <a:off x="6449229" y="2894140"/>
            <a:ext cx="80472" cy="247669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6509142" y="2873581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0" name="Connector 99"/>
          <p:cNvCxnSpPr/>
          <p:nvPr/>
        </p:nvCxnSpPr>
        <p:spPr>
          <a:xfrm flipV="1">
            <a:off x="6483494" y="3013636"/>
            <a:ext cx="210680" cy="153068"/>
          </a:xfrm>
          <a:prstGeom prst="line">
            <a:avLst/>
          </a:prstGeom>
          <a:ln w="20320">
            <a:solidFill>
              <a:srgbClr val="2A6BB5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6673615" y="2993077"/>
            <a:ext cx="41118" cy="41118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386934" y="3165867"/>
            <a:ext cx="82236" cy="82236"/>
          </a:xfrm>
          <a:prstGeom prst="ellipse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5-Point Star 102"/>
          <p:cNvSpPr/>
          <p:nvPr/>
        </p:nvSpPr>
        <p:spPr>
          <a:xfrm>
            <a:off x="5999951" y="4492635"/>
            <a:ext cx="387356" cy="387356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 rot="19800000">
            <a:off x="4705726" y="703593"/>
            <a:ext cx="30459" cy="203061"/>
          </a:xfrm>
          <a:prstGeom prst="rect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5-Point Star 104"/>
          <p:cNvSpPr/>
          <p:nvPr/>
        </p:nvSpPr>
        <p:spPr>
          <a:xfrm>
            <a:off x="4648192" y="588525"/>
            <a:ext cx="155680" cy="155680"/>
          </a:xfrm>
          <a:prstGeom prst="star5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4-Point Star 105"/>
          <p:cNvSpPr/>
          <p:nvPr/>
        </p:nvSpPr>
        <p:spPr>
          <a:xfrm>
            <a:off x="4604196" y="723899"/>
            <a:ext cx="54149" cy="54149"/>
          </a:xfrm>
          <a:prstGeom prst="star4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4-Point Star 106"/>
          <p:cNvSpPr/>
          <p:nvPr/>
        </p:nvSpPr>
        <p:spPr>
          <a:xfrm>
            <a:off x="4577121" y="791586"/>
            <a:ext cx="37227" cy="37227"/>
          </a:xfrm>
          <a:prstGeom prst="star4">
            <a:avLst/>
          </a:prstGeom>
          <a:solidFill>
            <a:srgbClr val="2A6BB5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TECHNOLOGY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使用技術の詳細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822960" y="1874519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051560" y="2194559"/>
            <a:ext cx="1828800" cy="594360"/>
          </a:xfrm>
          <a:prstGeom prst="roundRect">
            <a:avLst>
              <a:gd name="adj" fmla="val 15000"/>
            </a:avLst>
          </a:prstGeom>
          <a:solidFill>
            <a:srgbClr val="0A1630"/>
          </a:solidFill>
          <a:ln w="9525">
            <a:solidFill>
              <a:srgbClr val="B39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051560" y="2194559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D5A3"/>
                </a:solidFill>
                <a:latin typeface="Georgia"/>
              </a:rPr>
              <a:t>HTML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54680" y="2416290"/>
            <a:ext cx="7955279" cy="205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セマンティックな要素で、構造と情報階層を定義</a:t>
            </a:r>
            <a:endParaRPr sz="11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22960" y="3337559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1051560" y="3657599"/>
            <a:ext cx="1828800" cy="594360"/>
          </a:xfrm>
          <a:prstGeom prst="roundRect">
            <a:avLst>
              <a:gd name="adj" fmla="val 15000"/>
            </a:avLst>
          </a:prstGeom>
          <a:solidFill>
            <a:srgbClr val="0A1630"/>
          </a:solidFill>
          <a:ln w="9525">
            <a:solidFill>
              <a:srgbClr val="B39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51560" y="3657599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D5A3"/>
                </a:solidFill>
                <a:latin typeface="Georgia"/>
              </a:rPr>
              <a:t>CSS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54680" y="3879330"/>
            <a:ext cx="7955279" cy="205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レイアウト・色・アニメーション・発光表現・レスポンシブを担当し、世界観を視覚化</a:t>
            </a:r>
            <a:endParaRPr sz="11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822960" y="4800599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1051560" y="5120639"/>
            <a:ext cx="1828800" cy="594360"/>
          </a:xfrm>
          <a:prstGeom prst="roundRect">
            <a:avLst>
              <a:gd name="adj" fmla="val 15000"/>
            </a:avLst>
          </a:prstGeom>
          <a:solidFill>
            <a:srgbClr val="0A1630"/>
          </a:solidFill>
          <a:ln w="9525">
            <a:solidFill>
              <a:srgbClr val="B39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1051560" y="5120639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6D5A3"/>
                </a:solidFill>
                <a:latin typeface="Georgia"/>
              </a:rPr>
              <a:t>JavaScript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54680" y="5342370"/>
            <a:ext cx="7955279" cy="20576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ページ遷移・モーダル・イベント処理・効果音・記憶の欠片収集・状態管理を実装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577840" y="3749040"/>
            <a:ext cx="8229600" cy="8229600"/>
          </a:xfrm>
          <a:prstGeom prst="ellipse">
            <a:avLst/>
          </a:prstGeom>
          <a:solidFill>
            <a:srgbClr val="143A6B">
              <a:alpha val="16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3246120" y="-3063240"/>
            <a:ext cx="5029200" cy="5029200"/>
          </a:xfrm>
          <a:prstGeom prst="ellipse">
            <a:avLst/>
          </a:prstGeom>
          <a:solidFill>
            <a:srgbClr val="143A6B">
              <a:alpha val="12000"/>
            </a:srgbClr>
          </a:solidFill>
          <a:ln>
            <a:noFill/>
          </a:ln>
          <a:effectLst>
            <a:softEdge rad="1016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3840480" cy="3840480"/>
          </a:xfrm>
          <a:prstGeom prst="ellipse">
            <a:avLst/>
          </a:prstGeom>
          <a:solidFill>
            <a:srgbClr val="B39A63">
              <a:alpha val="9000"/>
            </a:srgbClr>
          </a:solidFill>
          <a:ln>
            <a:noFill/>
          </a:ln>
          <a:effectLst>
            <a:softEdge rad="889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4000499" y="4503420"/>
            <a:ext cx="13121639" cy="13121639"/>
          </a:xfrm>
          <a:prstGeom prst="ellipse">
            <a:avLst/>
          </a:prstGeom>
          <a:solidFill>
            <a:srgbClr val="E6D5A3">
              <a:alpha val="15000"/>
            </a:srgbClr>
          </a:solidFill>
          <a:ln>
            <a:noFill/>
          </a:ln>
          <a:effectLst>
            <a:softEdge rad="1143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3840480" y="4663440"/>
            <a:ext cx="12801600" cy="12801600"/>
          </a:xfrm>
          <a:prstGeom prst="ellipse">
            <a:avLst/>
          </a:prstGeom>
          <a:noFill/>
          <a:ln w="330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-2048256" y="6455664"/>
            <a:ext cx="9217152" cy="9217152"/>
          </a:xfrm>
          <a:prstGeom prst="ellipse">
            <a:avLst/>
          </a:prstGeom>
          <a:noFill/>
          <a:ln w="2540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-384048" y="8119872"/>
            <a:ext cx="5888736" cy="5888736"/>
          </a:xfrm>
          <a:prstGeom prst="ellipse">
            <a:avLst/>
          </a:prstGeom>
          <a:noFill/>
          <a:ln w="20320">
            <a:solidFill>
              <a:srgbClr val="E6D5A3">
                <a:alpha val="40000"/>
              </a:srgbClr>
            </a:solidFill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5280561" y="12191000"/>
            <a:ext cx="2838513" cy="117575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7927050" y="13174727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3687080" y="13784481"/>
            <a:ext cx="1175751" cy="28385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4670807" y="16430970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257808" y="13784481"/>
            <a:ext cx="1175751" cy="28385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65784" y="16430970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H="1">
            <a:off x="-2998434" y="12191000"/>
            <a:ext cx="2838513" cy="117575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-3190458" y="13174727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-2998434" y="8761728"/>
            <a:ext cx="2838513" cy="117575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-3190458" y="8569704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57808" y="5505485"/>
            <a:ext cx="1175751" cy="28385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65784" y="5313461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3687080" y="5505485"/>
            <a:ext cx="1175751" cy="2838513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4670807" y="5313461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5280561" y="8761728"/>
            <a:ext cx="2838513" cy="1175751"/>
          </a:xfrm>
          <a:prstGeom prst="line">
            <a:avLst/>
          </a:prstGeom>
          <a:ln w="20320">
            <a:solidFill>
              <a:srgbClr val="9AD5FF">
                <a:alpha val="40000"/>
              </a:srgbClr>
            </a:solidFill>
          </a:ln>
          <a:effectLst>
            <a:softEdge rad="1524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7927050" y="8569704"/>
            <a:ext cx="384048" cy="384048"/>
          </a:xfrm>
          <a:prstGeom prst="diamond">
            <a:avLst/>
          </a:prstGeom>
          <a:solidFill>
            <a:srgbClr val="9AD5FF">
              <a:alpha val="40000"/>
            </a:srgbClr>
          </a:solidFill>
          <a:ln>
            <a:noFill/>
          </a:ln>
          <a:effectLst>
            <a:softEdge rad="152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01168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1168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87607" y="201168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990527" y="201168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1168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01168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87607" y="6656832"/>
            <a:ext cx="502920" cy="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990527" y="6153912"/>
            <a:ext cx="0" cy="502920"/>
          </a:xfrm>
          <a:prstGeom prst="line">
            <a:avLst/>
          </a:prstGeom>
          <a:ln w="20320">
            <a:solidFill>
              <a:srgbClr val="9AD5FF">
                <a:alpha val="3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901307" y="5317007"/>
            <a:ext cx="102075" cy="102075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Diamond 33"/>
          <p:cNvSpPr/>
          <p:nvPr/>
        </p:nvSpPr>
        <p:spPr>
          <a:xfrm>
            <a:off x="3517156" y="1520105"/>
            <a:ext cx="50899" cy="50899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Diamond 34"/>
          <p:cNvSpPr/>
          <p:nvPr/>
        </p:nvSpPr>
        <p:spPr>
          <a:xfrm>
            <a:off x="2692295" y="5551072"/>
            <a:ext cx="57924" cy="57924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Diamond 35"/>
          <p:cNvSpPr/>
          <p:nvPr/>
        </p:nvSpPr>
        <p:spPr>
          <a:xfrm>
            <a:off x="10723766" y="5938940"/>
            <a:ext cx="52258" cy="52258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395558" y="2712647"/>
            <a:ext cx="85893" cy="85893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7616839" y="659013"/>
            <a:ext cx="91994" cy="91994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413393" y="2437816"/>
            <a:ext cx="91980" cy="91980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886210" y="1554891"/>
            <a:ext cx="94308" cy="94308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378172" y="6266116"/>
            <a:ext cx="76697" cy="76697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10245567" y="1003373"/>
            <a:ext cx="71706" cy="71706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053711" y="3008009"/>
            <a:ext cx="85982" cy="85982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144031" y="1437584"/>
            <a:ext cx="83975" cy="83975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56855" y="5169437"/>
            <a:ext cx="96302" cy="96302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8553" y="3574378"/>
            <a:ext cx="55366" cy="55366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Diamond 46"/>
          <p:cNvSpPr/>
          <p:nvPr/>
        </p:nvSpPr>
        <p:spPr>
          <a:xfrm>
            <a:off x="7256063" y="5780740"/>
            <a:ext cx="54442" cy="54442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Diamond 47"/>
          <p:cNvSpPr/>
          <p:nvPr/>
        </p:nvSpPr>
        <p:spPr>
          <a:xfrm>
            <a:off x="1252362" y="5998042"/>
            <a:ext cx="87014" cy="87014"/>
          </a:xfrm>
          <a:prstGeom prst="diamond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30975" y="3053606"/>
            <a:ext cx="71447" cy="71447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550672" y="3290508"/>
            <a:ext cx="64431" cy="64431"/>
          </a:xfrm>
          <a:prstGeom prst="ellipse">
            <a:avLst/>
          </a:prstGeom>
          <a:solidFill>
            <a:srgbClr val="B39A6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5-Point Star 50"/>
          <p:cNvSpPr/>
          <p:nvPr/>
        </p:nvSpPr>
        <p:spPr>
          <a:xfrm>
            <a:off x="10096589" y="1838965"/>
            <a:ext cx="627242" cy="627242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 rot="19800000">
            <a:off x="7925472" y="3414521"/>
            <a:ext cx="60561" cy="403741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5-Point Star 52"/>
          <p:cNvSpPr/>
          <p:nvPr/>
        </p:nvSpPr>
        <p:spPr>
          <a:xfrm>
            <a:off x="7811078" y="3185734"/>
            <a:ext cx="309535" cy="309535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4-Point Star 53"/>
          <p:cNvSpPr/>
          <p:nvPr/>
        </p:nvSpPr>
        <p:spPr>
          <a:xfrm>
            <a:off x="7723601" y="3454895"/>
            <a:ext cx="107664" cy="107664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4-Point Star 54"/>
          <p:cNvSpPr/>
          <p:nvPr/>
        </p:nvSpPr>
        <p:spPr>
          <a:xfrm>
            <a:off x="7669769" y="3589475"/>
            <a:ext cx="74019" cy="74019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5-Point Star 55"/>
          <p:cNvSpPr/>
          <p:nvPr/>
        </p:nvSpPr>
        <p:spPr>
          <a:xfrm>
            <a:off x="6908797" y="5631919"/>
            <a:ext cx="592876" cy="592876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5-Point Star 56"/>
          <p:cNvSpPr/>
          <p:nvPr/>
        </p:nvSpPr>
        <p:spPr>
          <a:xfrm>
            <a:off x="8944736" y="4670998"/>
            <a:ext cx="543531" cy="543531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 rot="19800000">
            <a:off x="5477335" y="2225349"/>
            <a:ext cx="46116" cy="307443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5-Point Star 58"/>
          <p:cNvSpPr/>
          <p:nvPr/>
        </p:nvSpPr>
        <p:spPr>
          <a:xfrm>
            <a:off x="5390226" y="2051131"/>
            <a:ext cx="235706" cy="235706"/>
          </a:xfrm>
          <a:prstGeom prst="star5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4-Point Star 59"/>
          <p:cNvSpPr/>
          <p:nvPr/>
        </p:nvSpPr>
        <p:spPr>
          <a:xfrm>
            <a:off x="5323613" y="2256093"/>
            <a:ext cx="81984" cy="81984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4-Point Star 60"/>
          <p:cNvSpPr/>
          <p:nvPr/>
        </p:nvSpPr>
        <p:spPr>
          <a:xfrm>
            <a:off x="5282621" y="2358574"/>
            <a:ext cx="56364" cy="56364"/>
          </a:xfrm>
          <a:prstGeom prst="star4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992092" y="5516819"/>
            <a:ext cx="455854" cy="165765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9012812" y="5397675"/>
            <a:ext cx="82882" cy="155405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Isosceles Triangle 63"/>
          <p:cNvSpPr/>
          <p:nvPr/>
        </p:nvSpPr>
        <p:spPr>
          <a:xfrm>
            <a:off x="9012812" y="5325153"/>
            <a:ext cx="82882" cy="7252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78578" y="5283711"/>
            <a:ext cx="82882" cy="269368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Isosceles Triangle 65"/>
          <p:cNvSpPr/>
          <p:nvPr/>
        </p:nvSpPr>
        <p:spPr>
          <a:xfrm>
            <a:off x="9178578" y="5211189"/>
            <a:ext cx="82882" cy="7252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323622" y="5397675"/>
            <a:ext cx="82882" cy="155405"/>
          </a:xfrm>
          <a:prstGeom prst="rect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Isosceles Triangle 67"/>
          <p:cNvSpPr/>
          <p:nvPr/>
        </p:nvSpPr>
        <p:spPr>
          <a:xfrm>
            <a:off x="9323622" y="5325153"/>
            <a:ext cx="82882" cy="72522"/>
          </a:xfrm>
          <a:prstGeom prst="triangl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9188938" y="5584161"/>
            <a:ext cx="62162" cy="98423"/>
          </a:xfrm>
          <a:prstGeom prst="roundRect">
            <a:avLst>
              <a:gd name="adj" fmla="val 6000"/>
            </a:avLst>
          </a:prstGeom>
          <a:solidFill>
            <a:srgbClr val="03060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9047303" y="2512216"/>
            <a:ext cx="207670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9238578" y="2495821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9036866" y="2544338"/>
            <a:ext cx="168008" cy="12206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188479" y="2650009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>
            <a:off x="9009541" y="2564191"/>
            <a:ext cx="64173" cy="19750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9057319" y="2745302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6" name="Connector 75"/>
          <p:cNvCxnSpPr/>
          <p:nvPr/>
        </p:nvCxnSpPr>
        <p:spPr>
          <a:xfrm flipH="1">
            <a:off x="8911592" y="2564191"/>
            <a:ext cx="64173" cy="19750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895197" y="2745302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 flipH="1">
            <a:off x="8780432" y="2544338"/>
            <a:ext cx="168008" cy="12206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8764037" y="2650009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 flipH="1">
            <a:off x="8730333" y="2512216"/>
            <a:ext cx="207670" cy="0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13939" y="2495821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8780432" y="2358028"/>
            <a:ext cx="168008" cy="12206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8764037" y="2341633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4" name="Connector 83"/>
          <p:cNvCxnSpPr/>
          <p:nvPr/>
        </p:nvCxnSpPr>
        <p:spPr>
          <a:xfrm flipH="1" flipV="1">
            <a:off x="8911592" y="2262735"/>
            <a:ext cx="64173" cy="19750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8895197" y="2246340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 flipV="1">
            <a:off x="9009541" y="2262735"/>
            <a:ext cx="64173" cy="19750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9057319" y="2246340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8" name="Connector 87"/>
          <p:cNvCxnSpPr/>
          <p:nvPr/>
        </p:nvCxnSpPr>
        <p:spPr>
          <a:xfrm flipV="1">
            <a:off x="9036866" y="2358028"/>
            <a:ext cx="168008" cy="122066"/>
          </a:xfrm>
          <a:prstGeom prst="line">
            <a:avLst/>
          </a:prstGeom>
          <a:ln w="20320">
            <a:solidFill>
              <a:srgbClr val="B39A63">
                <a:alpha val="24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9188479" y="2341633"/>
            <a:ext cx="32789" cy="3278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8959863" y="2479426"/>
            <a:ext cx="65579" cy="65579"/>
          </a:xfrm>
          <a:prstGeom prst="ellipse">
            <a:avLst/>
          </a:prstGeom>
          <a:solidFill>
            <a:srgbClr val="B39A6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22960" y="502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 spc="300">
                <a:solidFill>
                  <a:srgbClr val="4DA6FF"/>
                </a:solidFill>
                <a:latin typeface="Georgia"/>
              </a:rPr>
              <a:t>KEY IDEAS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2960" y="914400"/>
            <a:ext cx="41148" cy="502920"/>
          </a:xfrm>
          <a:prstGeom prst="rect">
            <a:avLst/>
          </a:prstGeom>
          <a:solidFill>
            <a:srgbClr val="E6D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60120" y="868680"/>
            <a:ext cx="960120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工夫点と差別化要素</a:t>
            </a:r>
            <a:endParaRPr sz="27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94" name="Chevron 93"/>
          <p:cNvSpPr/>
          <p:nvPr/>
        </p:nvSpPr>
        <p:spPr>
          <a:xfrm>
            <a:off x="838047" y="1783080"/>
            <a:ext cx="5166360" cy="548640"/>
          </a:xfrm>
          <a:prstGeom prst="chevron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838047" y="1957372"/>
            <a:ext cx="516636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体験設計の工夫</a:t>
            </a:r>
            <a:endParaRPr sz="13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96" name="Chevron 95"/>
          <p:cNvSpPr/>
          <p:nvPr/>
        </p:nvSpPr>
        <p:spPr>
          <a:xfrm>
            <a:off x="6187287" y="1783080"/>
            <a:ext cx="5166360" cy="548640"/>
          </a:xfrm>
          <a:prstGeom prst="chevron">
            <a:avLst/>
          </a:prstGeom>
          <a:solidFill>
            <a:srgbClr val="14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187287" y="1957372"/>
            <a:ext cx="516636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 dirty="0" err="1">
                <a:solidFill>
                  <a:srgbClr val="EEF4FF"/>
                </a:solidFill>
                <a:latin typeface="Meiryo UI" panose="020B0604030504040204" pitchFamily="50" charset="-128"/>
              </a:rPr>
              <a:t>再利用性と拡張性</a:t>
            </a:r>
            <a:endParaRPr sz="1300" b="1" i="0" dirty="0">
              <a:solidFill>
                <a:srgbClr val="EEF4FF"/>
              </a:solidFill>
              <a:latin typeface="Meiryo UI" panose="020B0604030504040204" pitchFamily="50" charset="-128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38047" y="2560320"/>
            <a:ext cx="5166360" cy="196596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12367" y="2788920"/>
            <a:ext cx="4617720" cy="1247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「体験型サイト」で没入感を強化／記憶の欠片収集で自然な探索を誘導／音と光の反応でゲーム的な操作感を演出</a:t>
            </a:r>
            <a:endParaRPr sz="14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6187287" y="2560320"/>
            <a:ext cx="5166360" cy="196596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461607" y="2788920"/>
            <a:ext cx="4617720" cy="9243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C3D2EA"/>
                </a:solidFill>
                <a:latin typeface="Meiryo UI" panose="020B0604030504040204" pitchFamily="50" charset="-128"/>
              </a:rPr>
              <a:t>SECRET MEMORYなど隠し要素で再訪を促進／PC・スマホ両対応のレスポンシブ実装</a:t>
            </a:r>
            <a:endParaRPr sz="1400" b="0" i="0" dirty="0">
              <a:solidFill>
                <a:srgbClr val="C3D2EA"/>
              </a:solidFill>
              <a:latin typeface="Meiryo UI" panose="020B0604030504040204" pitchFamily="50" charset="-128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38047" y="48006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0D1730"/>
          </a:solidFill>
          <a:ln w="9525">
            <a:solidFill>
              <a:srgbClr val="14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3" name="TextBox 102"/>
          <p:cNvSpPr txBox="1"/>
          <p:nvPr/>
        </p:nvSpPr>
        <p:spPr>
          <a:xfrm>
            <a:off x="838047" y="4937760"/>
            <a:ext cx="105156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 dirty="0" err="1">
                <a:solidFill>
                  <a:srgbClr val="E6D5A3"/>
                </a:solidFill>
                <a:latin typeface="Meiryo UI" panose="020B0604030504040204" pitchFamily="50" charset="-128"/>
              </a:rPr>
              <a:t>企画実現の方向性</a:t>
            </a:r>
            <a:endParaRPr sz="1300" b="1" i="0" dirty="0">
              <a:solidFill>
                <a:srgbClr val="E6D5A3"/>
              </a:solidFill>
              <a:latin typeface="Meiryo UI" panose="020B0604030504040204" pitchFamily="50" charset="-128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386687" y="5276088"/>
            <a:ext cx="9418320" cy="2457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 i="0" dirty="0">
                <a:solidFill>
                  <a:srgbClr val="C3D2EA"/>
                </a:solidFill>
                <a:latin typeface="Meiryo UI" panose="020B0604030504040204" pitchFamily="50" charset="-128"/>
              </a:rPr>
              <a:t>「体験型サイト」の工夫と「キングダムハーツらしさ」を融合し、ファンサイトを超える完成度を実現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7D8FAE"/>
                </a:solidFill>
                <a:latin typeface="Georgia"/>
              </a:rPr>
              <a:t>KINGDOM HEARTS — MEMORY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465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 i="0" spc="150">
                <a:solidFill>
                  <a:srgbClr val="B39A63"/>
                </a:solidFill>
                <a:latin typeface="Georgi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1500</TotalTime>
  <Words>461</Words>
  <Application>Microsoft Office PowerPoint</Application>
  <PresentationFormat>ワイド画面</PresentationFormat>
  <Paragraphs>143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Meiryo UI</vt:lpstr>
      <vt:lpstr>游ゴシック</vt:lpstr>
      <vt:lpstr>Arial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佐藤 万宙(zeal23418190)</cp:lastModifiedBy>
  <cp:revision>8</cp:revision>
  <dcterms:created xsi:type="dcterms:W3CDTF">2013-01-27T09:14:16Z</dcterms:created>
  <dcterms:modified xsi:type="dcterms:W3CDTF">2026-09-18T01:02:37Z</dcterms:modified>
  <cp:category/>
</cp:coreProperties>
</file>