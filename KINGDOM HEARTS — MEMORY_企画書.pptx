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69" r:id="rId3"/>
    <p:sldId id="257" r:id="rId4"/>
    <p:sldId id="258" r:id="rId5"/>
    <p:sldId id="259" r:id="rId6"/>
    <p:sldId id="260" r:id="rId7"/>
    <p:sldId id="268" r:id="rId8"/>
    <p:sldId id="261" r:id="rId9"/>
    <p:sldId id="262" r:id="rId10"/>
    <p:sldId id="272" r:id="rId11"/>
    <p:sldId id="263" r:id="rId12"/>
    <p:sldId id="264" r:id="rId13"/>
    <p:sldId id="271" r:id="rId14"/>
    <p:sldId id="270"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08" autoAdjust="0"/>
    <p:restoredTop sz="94660"/>
  </p:normalViewPr>
  <p:slideViewPr>
    <p:cSldViewPr snapToGrid="0" snapToObjects="1">
      <p:cViewPr varScale="1">
        <p:scale>
          <a:sx n="108" d="100"/>
          <a:sy n="108" d="100"/>
        </p:scale>
        <p:origin x="642"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02E8D6-3DE6-4A4C-AEE5-C6587B99CA73}"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E36EB9-FCA6-4742-8E61-EFCE08F49E63}" type="slidenum">
              <a:rPr kumimoji="1" lang="ja-JP" altLang="en-US" smtClean="0"/>
              <a:t>‹#›</a:t>
            </a:fld>
            <a:endParaRPr kumimoji="1" lang="ja-JP" altLang="en-US"/>
          </a:p>
        </p:txBody>
      </p:sp>
    </p:spTree>
    <p:extLst>
      <p:ext uri="{BB962C8B-B14F-4D97-AF65-F5344CB8AC3E}">
        <p14:creationId xmlns:p14="http://schemas.microsoft.com/office/powerpoint/2010/main" val="144386221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00E36EB9-FCA6-4742-8E61-EFCE08F49E63}" type="slidenum">
              <a:rPr kumimoji="1" lang="ja-JP" altLang="en-US" smtClean="0"/>
              <a:t>1</a:t>
            </a:fld>
            <a:endParaRPr kumimoji="1" lang="ja-JP" altLang="en-US"/>
          </a:p>
        </p:txBody>
      </p:sp>
    </p:spTree>
    <p:extLst>
      <p:ext uri="{BB962C8B-B14F-4D97-AF65-F5344CB8AC3E}">
        <p14:creationId xmlns:p14="http://schemas.microsoft.com/office/powerpoint/2010/main" val="2680212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00E36EB9-FCA6-4742-8E61-EFCE08F49E63}" type="slidenum">
              <a:rPr kumimoji="1" lang="ja-JP" altLang="en-US" smtClean="0"/>
              <a:t>5</a:t>
            </a:fld>
            <a:endParaRPr kumimoji="1" lang="ja-JP" altLang="en-US"/>
          </a:p>
        </p:txBody>
      </p:sp>
    </p:spTree>
    <p:extLst>
      <p:ext uri="{BB962C8B-B14F-4D97-AF65-F5344CB8AC3E}">
        <p14:creationId xmlns:p14="http://schemas.microsoft.com/office/powerpoint/2010/main" val="11793713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00E36EB9-FCA6-4742-8E61-EFCE08F49E63}" type="slidenum">
              <a:rPr kumimoji="1" lang="ja-JP" altLang="en-US" smtClean="0"/>
              <a:t>12</a:t>
            </a:fld>
            <a:endParaRPr kumimoji="1" lang="ja-JP" altLang="en-US"/>
          </a:p>
        </p:txBody>
      </p:sp>
    </p:spTree>
    <p:extLst>
      <p:ext uri="{BB962C8B-B14F-4D97-AF65-F5344CB8AC3E}">
        <p14:creationId xmlns:p14="http://schemas.microsoft.com/office/powerpoint/2010/main" val="24183527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pic>
        <p:nvPicPr>
          <p:cNvPr id="26" name="図 25" descr="キングダムハーツ キャラクター解説 ソラ編 :: Hearts &amp; Keys">
            <a:extLst>
              <a:ext uri="{FF2B5EF4-FFF2-40B4-BE49-F238E27FC236}">
                <a16:creationId xmlns:a16="http://schemas.microsoft.com/office/drawing/2014/main" id="{556C8E54-B1B9-05D4-AB0C-CA2A4CEE3E66}"/>
              </a:ext>
            </a:extLst>
          </p:cNvPr>
          <p:cNvPicPr>
            <a:picLocks noChangeAspect="1"/>
          </p:cNvPicPr>
          <p:nvPr/>
        </p:nvPicPr>
        <p:blipFill>
          <a:blip r:embed="rId3"/>
          <a:stretch>
            <a:fillRect/>
          </a:stretch>
        </p:blipFill>
        <p:spPr>
          <a:xfrm>
            <a:off x="0" y="0"/>
            <a:ext cx="12187738" cy="6855603"/>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22960" y="-1005840"/>
            <a:ext cx="3840480" cy="3840480"/>
          </a:xfrm>
          <a:prstGeom prst="roundRect">
            <a:avLst>
              <a:gd name="adj" fmla="val 8000"/>
            </a:avLst>
          </a:prstGeom>
          <a:noFill/>
          <a:ln w="20320">
            <a:solidFill>
              <a:srgbClr val="2A6BB5">
                <a:alpha val="2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rot="2700000">
            <a:off x="-822960" y="-1005840"/>
            <a:ext cx="3840480" cy="3840480"/>
          </a:xfrm>
          <a:prstGeom prst="roundRect">
            <a:avLst>
              <a:gd name="adj" fmla="val 8000"/>
            </a:avLst>
          </a:prstGeom>
          <a:noFill/>
          <a:ln w="20320">
            <a:solidFill>
              <a:srgbClr val="2A6BB5">
                <a:alpha val="2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66851" y="683971"/>
            <a:ext cx="460857" cy="460857"/>
          </a:xfrm>
          <a:prstGeom prst="ellipse">
            <a:avLst/>
          </a:prstGeom>
          <a:solidFill>
            <a:srgbClr val="2A6BB5">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1737360"/>
            <a:ext cx="7315200" cy="365760"/>
          </a:xfrm>
          <a:prstGeom prst="rect">
            <a:avLst/>
          </a:prstGeom>
          <a:noFill/>
        </p:spPr>
        <p:txBody>
          <a:bodyPr wrap="square" lIns="0" tIns="0" rIns="0" bIns="0" anchor="t">
            <a:spAutoFit/>
          </a:bodyPr>
          <a:lstStyle/>
          <a:p>
            <a:pPr algn="l">
              <a:lnSpc>
                <a:spcPct val="100000"/>
              </a:lnSpc>
              <a:spcAft>
                <a:spcPts val="0"/>
              </a:spcAft>
            </a:pPr>
            <a:r>
              <a:rPr sz="1300" b="0" i="0" spc="400">
                <a:solidFill>
                  <a:srgbClr val="E6D5A3"/>
                </a:solidFill>
                <a:latin typeface="Georgia"/>
              </a:rPr>
              <a:t>WEB SITE PLANNING PROPOSAL</a:t>
            </a:r>
          </a:p>
        </p:txBody>
      </p:sp>
      <p:sp>
        <p:nvSpPr>
          <p:cNvPr id="19" name="TextBox 18"/>
          <p:cNvSpPr txBox="1"/>
          <p:nvPr/>
        </p:nvSpPr>
        <p:spPr>
          <a:xfrm>
            <a:off x="868680" y="2148840"/>
            <a:ext cx="10058400" cy="2011680"/>
          </a:xfrm>
          <a:prstGeom prst="rect">
            <a:avLst/>
          </a:prstGeom>
          <a:noFill/>
        </p:spPr>
        <p:txBody>
          <a:bodyPr wrap="square" lIns="0" tIns="0" rIns="0" bIns="0" anchor="t">
            <a:spAutoFit/>
          </a:bodyPr>
          <a:lstStyle/>
          <a:p>
            <a:pPr algn="l">
              <a:lnSpc>
                <a:spcPct val="115000"/>
              </a:lnSpc>
              <a:spcAft>
                <a:spcPts val="0"/>
              </a:spcAft>
            </a:pPr>
            <a:r>
              <a:rPr sz="4600" b="1" i="0" spc="50">
                <a:solidFill>
                  <a:srgbClr val="EEF4FF"/>
                </a:solidFill>
                <a:latin typeface="Georgia"/>
              </a:rPr>
              <a:t>KINGDOM HEARTS</a:t>
            </a:r>
          </a:p>
          <a:p>
            <a:pPr algn="l">
              <a:lnSpc>
                <a:spcPct val="115000"/>
              </a:lnSpc>
              <a:spcAft>
                <a:spcPts val="0"/>
              </a:spcAft>
            </a:pPr>
            <a:r>
              <a:rPr sz="4600" b="1" i="0">
                <a:solidFill>
                  <a:srgbClr val="E6D5A3"/>
                </a:solidFill>
                <a:latin typeface="Georgia"/>
              </a:rPr>
              <a:t>— </a:t>
            </a:r>
            <a:r>
              <a:rPr sz="4600" b="1" i="0" spc="50">
                <a:solidFill>
                  <a:srgbClr val="EEF4FF"/>
                </a:solidFill>
                <a:latin typeface="Georgia"/>
              </a:rPr>
              <a:t>MEMORY</a:t>
            </a:r>
          </a:p>
        </p:txBody>
      </p:sp>
      <p:sp>
        <p:nvSpPr>
          <p:cNvPr id="20" name="TextBox 19"/>
          <p:cNvSpPr txBox="1"/>
          <p:nvPr/>
        </p:nvSpPr>
        <p:spPr>
          <a:xfrm>
            <a:off x="914400" y="3977639"/>
            <a:ext cx="7315200" cy="261610"/>
          </a:xfrm>
          <a:prstGeom prst="rect">
            <a:avLst/>
          </a:prstGeom>
          <a:noFill/>
        </p:spPr>
        <p:txBody>
          <a:bodyPr wrap="square" lIns="0" tIns="0" rIns="0" bIns="0" anchor="t">
            <a:spAutoFit/>
          </a:bodyPr>
          <a:lstStyle/>
          <a:p>
            <a:pPr algn="l">
              <a:lnSpc>
                <a:spcPct val="100000"/>
              </a:lnSpc>
              <a:spcAft>
                <a:spcPts val="0"/>
              </a:spcAft>
            </a:pPr>
            <a:r>
              <a:rPr sz="1700" b="0" i="0" spc="150" dirty="0" err="1">
                <a:solidFill>
                  <a:srgbClr val="9AD5FF"/>
                </a:solidFill>
                <a:latin typeface="Meiryo UI" panose="020B0604030504040204" pitchFamily="50" charset="-128"/>
              </a:rPr>
              <a:t>記憶を辿る、光と闇の旅</a:t>
            </a:r>
            <a:endParaRPr sz="1700" b="0" i="0" spc="150" dirty="0">
              <a:solidFill>
                <a:srgbClr val="9AD5FF"/>
              </a:solidFill>
              <a:latin typeface="Meiryo UI" panose="020B0604030504040204" pitchFamily="50" charset="-128"/>
            </a:endParaRPr>
          </a:p>
        </p:txBody>
      </p:sp>
      <p:sp>
        <p:nvSpPr>
          <p:cNvPr id="21" name="Rectangle 20"/>
          <p:cNvSpPr/>
          <p:nvPr/>
        </p:nvSpPr>
        <p:spPr>
          <a:xfrm>
            <a:off x="914400" y="4526280"/>
            <a:ext cx="1280160" cy="1524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69772" y="6532605"/>
            <a:ext cx="5394960" cy="184666"/>
          </a:xfrm>
          <a:prstGeom prst="rect">
            <a:avLst/>
          </a:prstGeom>
          <a:noFill/>
        </p:spPr>
        <p:txBody>
          <a:bodyPr wrap="square" lIns="0" tIns="0" rIns="0" bIns="0" anchor="t">
            <a:spAutoFit/>
          </a:bodyPr>
          <a:lstStyle/>
          <a:p>
            <a:pPr algn="r">
              <a:lnSpc>
                <a:spcPct val="100000"/>
              </a:lnSpc>
              <a:spcAft>
                <a:spcPts val="0"/>
              </a:spcAft>
            </a:pPr>
            <a:r>
              <a:rPr sz="1200" b="0" i="0" spc="50" dirty="0">
                <a:solidFill>
                  <a:srgbClr val="7D8FAE"/>
                </a:solidFill>
                <a:latin typeface="Meiryo UI" panose="020B0604030504040204" pitchFamily="50" charset="-128"/>
              </a:rPr>
              <a:t>高度情報工学科4年　23418190　</a:t>
            </a:r>
            <a:r>
              <a:rPr lang="en-US" sz="1200" b="0" i="0" spc="50" dirty="0">
                <a:solidFill>
                  <a:srgbClr val="7D8FAE"/>
                </a:solidFill>
                <a:latin typeface="Meiryo UI" panose="020B0604030504040204" pitchFamily="50" charset="-128"/>
              </a:rPr>
              <a:t>5.</a:t>
            </a:r>
            <a:r>
              <a:rPr sz="1200" b="0" i="0" spc="50" dirty="0">
                <a:solidFill>
                  <a:srgbClr val="7D8FAE"/>
                </a:solidFill>
                <a:latin typeface="Meiryo UI" panose="020B0604030504040204" pitchFamily="50" charset="-128"/>
              </a:rPr>
              <a:t>佐藤万宙</a:t>
            </a:r>
          </a:p>
        </p:txBody>
      </p:sp>
      <p:pic>
        <p:nvPicPr>
          <p:cNvPr id="24" name="図 23">
            <a:extLst>
              <a:ext uri="{FF2B5EF4-FFF2-40B4-BE49-F238E27FC236}">
                <a16:creationId xmlns:a16="http://schemas.microsoft.com/office/drawing/2014/main" id="{2FD6F9C3-82AC-F134-C347-1631B98C1711}"/>
              </a:ext>
            </a:extLst>
          </p:cNvPr>
          <p:cNvPicPr>
            <a:picLocks noChangeAspect="1"/>
          </p:cNvPicPr>
          <p:nvPr/>
        </p:nvPicPr>
        <p:blipFill>
          <a:blip r:embed="rId4"/>
          <a:stretch>
            <a:fillRect/>
          </a:stretch>
        </p:blipFill>
        <p:spPr>
          <a:xfrm>
            <a:off x="8034366" y="1304636"/>
            <a:ext cx="3133667" cy="3429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296211" y="3833425"/>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319272" y="-10579608"/>
            <a:ext cx="12746735" cy="12746735"/>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474720" y="-10424160"/>
            <a:ext cx="12435840" cy="1243584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215737" y="-8683142"/>
            <a:ext cx="8953804" cy="8953804"/>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832396" y="-7066483"/>
            <a:ext cx="5720486" cy="5720486"/>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2335160"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4906034"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0787207"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174282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7455914"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726937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4292707"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4106169"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4292707"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4106169"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7455914"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726937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0787207"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174282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2335160"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4906034"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887206" y="1513199"/>
            <a:ext cx="107503" cy="10750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5625734" y="4384779"/>
            <a:ext cx="59451" cy="5945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3649481" y="4562154"/>
            <a:ext cx="59313" cy="5931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1235629" y="1504206"/>
            <a:ext cx="51407" cy="5140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512409" y="3209791"/>
            <a:ext cx="66588" cy="6658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Diamond 37"/>
          <p:cNvSpPr/>
          <p:nvPr/>
        </p:nvSpPr>
        <p:spPr>
          <a:xfrm>
            <a:off x="4925983" y="1595987"/>
            <a:ext cx="73253" cy="73253"/>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1683108" y="5364531"/>
            <a:ext cx="89254" cy="89254"/>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220800" y="2737812"/>
            <a:ext cx="69996" cy="69996"/>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933287" y="4418257"/>
            <a:ext cx="46137" cy="4613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377493" y="2436825"/>
            <a:ext cx="47119" cy="4711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iamond 42"/>
          <p:cNvSpPr/>
          <p:nvPr/>
        </p:nvSpPr>
        <p:spPr>
          <a:xfrm>
            <a:off x="561689" y="3777889"/>
            <a:ext cx="55536" cy="55536"/>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458078" y="722788"/>
            <a:ext cx="55369" cy="5536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8515024" y="2542631"/>
            <a:ext cx="87478" cy="8747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5972189" y="5686229"/>
            <a:ext cx="65645" cy="65645"/>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iamond 46"/>
          <p:cNvSpPr/>
          <p:nvPr/>
        </p:nvSpPr>
        <p:spPr>
          <a:xfrm>
            <a:off x="8103478" y="4507222"/>
            <a:ext cx="46100" cy="46100"/>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11177" y="2438364"/>
            <a:ext cx="106277" cy="10627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735402" y="1048307"/>
            <a:ext cx="90892" cy="90892"/>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Diamond 49"/>
          <p:cNvSpPr/>
          <p:nvPr/>
        </p:nvSpPr>
        <p:spPr>
          <a:xfrm>
            <a:off x="9411011" y="5173646"/>
            <a:ext cx="54701" cy="5470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226050" y="4589618"/>
            <a:ext cx="334172" cy="12151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241240"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a:off x="1241240"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1362757" y="4418735"/>
            <a:ext cx="60758" cy="197465"/>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Isosceles Triangle 54"/>
          <p:cNvSpPr/>
          <p:nvPr/>
        </p:nvSpPr>
        <p:spPr>
          <a:xfrm>
            <a:off x="1362757" y="4365571"/>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469084"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sosceles Triangle 56"/>
          <p:cNvSpPr/>
          <p:nvPr/>
        </p:nvSpPr>
        <p:spPr>
          <a:xfrm>
            <a:off x="1469084"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1370352" y="4638984"/>
            <a:ext cx="45568" cy="72150"/>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0437299" y="6401557"/>
            <a:ext cx="554389" cy="2015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10462498"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sosceles Triangle 60"/>
          <p:cNvSpPr/>
          <p:nvPr/>
        </p:nvSpPr>
        <p:spPr>
          <a:xfrm>
            <a:off x="10462498"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0664094" y="6118062"/>
            <a:ext cx="100798" cy="327593"/>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Isosceles Triangle 62"/>
          <p:cNvSpPr/>
          <p:nvPr/>
        </p:nvSpPr>
        <p:spPr>
          <a:xfrm>
            <a:off x="10664094" y="6029864"/>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0840491"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Isosceles Triangle 64"/>
          <p:cNvSpPr/>
          <p:nvPr/>
        </p:nvSpPr>
        <p:spPr>
          <a:xfrm>
            <a:off x="10840491"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ounded Rectangle 65"/>
          <p:cNvSpPr/>
          <p:nvPr/>
        </p:nvSpPr>
        <p:spPr>
          <a:xfrm>
            <a:off x="10676694" y="6483455"/>
            <a:ext cx="75598" cy="119697"/>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5-Point Star 66"/>
          <p:cNvSpPr/>
          <p:nvPr/>
        </p:nvSpPr>
        <p:spPr>
          <a:xfrm>
            <a:off x="3938405" y="2904924"/>
            <a:ext cx="591403" cy="591403"/>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8" name="Connector 67"/>
          <p:cNvCxnSpPr/>
          <p:nvPr/>
        </p:nvCxnSpPr>
        <p:spPr>
          <a:xfrm>
            <a:off x="2463218" y="2345972"/>
            <a:ext cx="141143"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593218"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0" name="Connector 69"/>
          <p:cNvCxnSpPr/>
          <p:nvPr/>
        </p:nvCxnSpPr>
        <p:spPr>
          <a:xfrm>
            <a:off x="2456124"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2559168"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a:off x="2437552"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470025"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4" name="Connector 73"/>
          <p:cNvCxnSpPr/>
          <p:nvPr/>
        </p:nvCxnSpPr>
        <p:spPr>
          <a:xfrm flipH="1">
            <a:off x="2370981"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2359838"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H="1">
            <a:off x="2281838"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270695"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8" name="Connector 77"/>
          <p:cNvCxnSpPr/>
          <p:nvPr/>
        </p:nvCxnSpPr>
        <p:spPr>
          <a:xfrm flipH="1">
            <a:off x="2247788" y="2345972"/>
            <a:ext cx="141144"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2236645"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0" name="Connector 79"/>
          <p:cNvCxnSpPr/>
          <p:nvPr/>
        </p:nvCxnSpPr>
        <p:spPr>
          <a:xfrm flipH="1" flipV="1">
            <a:off x="2281838"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2270695"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2" name="Connector 81"/>
          <p:cNvCxnSpPr/>
          <p:nvPr/>
        </p:nvCxnSpPr>
        <p:spPr>
          <a:xfrm flipH="1" flipV="1">
            <a:off x="2370981"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2359838"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flipV="1">
            <a:off x="2437552"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2470025"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flipV="1">
            <a:off x="2456124"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2559168"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403789" y="2323686"/>
            <a:ext cx="44571" cy="4457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9" name="Connector 88"/>
          <p:cNvCxnSpPr/>
          <p:nvPr/>
        </p:nvCxnSpPr>
        <p:spPr>
          <a:xfrm>
            <a:off x="2657579"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2817300"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1" name="Connector 90"/>
          <p:cNvCxnSpPr/>
          <p:nvPr/>
        </p:nvCxnSpPr>
        <p:spPr>
          <a:xfrm>
            <a:off x="2648863"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2775466"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 name="Connector 92"/>
          <p:cNvCxnSpPr/>
          <p:nvPr/>
        </p:nvCxnSpPr>
        <p:spPr>
          <a:xfrm>
            <a:off x="2626046"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2665943"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5" name="Connector 94"/>
          <p:cNvCxnSpPr/>
          <p:nvPr/>
        </p:nvCxnSpPr>
        <p:spPr>
          <a:xfrm flipH="1">
            <a:off x="2544255"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6" name="Oval 95"/>
          <p:cNvSpPr/>
          <p:nvPr/>
        </p:nvSpPr>
        <p:spPr>
          <a:xfrm>
            <a:off x="2530564"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7" name="Connector 96"/>
          <p:cNvCxnSpPr/>
          <p:nvPr/>
        </p:nvCxnSpPr>
        <p:spPr>
          <a:xfrm flipH="1">
            <a:off x="2434732"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8" name="Oval 97"/>
          <p:cNvSpPr/>
          <p:nvPr/>
        </p:nvSpPr>
        <p:spPr>
          <a:xfrm>
            <a:off x="2421041"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9" name="Connector 98"/>
          <p:cNvCxnSpPr/>
          <p:nvPr/>
        </p:nvCxnSpPr>
        <p:spPr>
          <a:xfrm flipH="1">
            <a:off x="2392897"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2379207"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1" name="Connector 100"/>
          <p:cNvCxnSpPr/>
          <p:nvPr/>
        </p:nvCxnSpPr>
        <p:spPr>
          <a:xfrm flipH="1" flipV="1">
            <a:off x="2434732"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2421041"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3" name="Connector 102"/>
          <p:cNvCxnSpPr/>
          <p:nvPr/>
        </p:nvCxnSpPr>
        <p:spPr>
          <a:xfrm flipH="1" flipV="1">
            <a:off x="2544255"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4" name="Oval 103"/>
          <p:cNvSpPr/>
          <p:nvPr/>
        </p:nvSpPr>
        <p:spPr>
          <a:xfrm>
            <a:off x="2530564"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5" name="Connector 104"/>
          <p:cNvCxnSpPr/>
          <p:nvPr/>
        </p:nvCxnSpPr>
        <p:spPr>
          <a:xfrm flipV="1">
            <a:off x="2626046"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2665943"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 name="Connector 106"/>
          <p:cNvCxnSpPr/>
          <p:nvPr/>
        </p:nvCxnSpPr>
        <p:spPr>
          <a:xfrm flipV="1">
            <a:off x="2648863"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8" name="Oval 107"/>
          <p:cNvSpPr/>
          <p:nvPr/>
        </p:nvSpPr>
        <p:spPr>
          <a:xfrm>
            <a:off x="2775466"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84563" y="4103850"/>
            <a:ext cx="54761" cy="5476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ectangle 109"/>
          <p:cNvSpPr/>
          <p:nvPr/>
        </p:nvSpPr>
        <p:spPr>
          <a:xfrm>
            <a:off x="11091878" y="4653985"/>
            <a:ext cx="463368" cy="16849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11112940"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Isosceles Triangle 111"/>
          <p:cNvSpPr/>
          <p:nvPr/>
        </p:nvSpPr>
        <p:spPr>
          <a:xfrm>
            <a:off x="11112940"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112"/>
          <p:cNvSpPr/>
          <p:nvPr/>
        </p:nvSpPr>
        <p:spPr>
          <a:xfrm>
            <a:off x="11281438" y="4417035"/>
            <a:ext cx="84248" cy="273808"/>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Isosceles Triangle 113"/>
          <p:cNvSpPr/>
          <p:nvPr/>
        </p:nvSpPr>
        <p:spPr>
          <a:xfrm>
            <a:off x="11281438" y="4343317"/>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Rectangle 114"/>
          <p:cNvSpPr/>
          <p:nvPr/>
        </p:nvSpPr>
        <p:spPr>
          <a:xfrm>
            <a:off x="11428873"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Isosceles Triangle 115"/>
          <p:cNvSpPr/>
          <p:nvPr/>
        </p:nvSpPr>
        <p:spPr>
          <a:xfrm>
            <a:off x="11428873"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16"/>
          <p:cNvSpPr/>
          <p:nvPr/>
        </p:nvSpPr>
        <p:spPr>
          <a:xfrm>
            <a:off x="11291969" y="4722437"/>
            <a:ext cx="63186" cy="100045"/>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5-Point Star 117"/>
          <p:cNvSpPr/>
          <p:nvPr/>
        </p:nvSpPr>
        <p:spPr>
          <a:xfrm>
            <a:off x="10776440" y="4979449"/>
            <a:ext cx="621177" cy="621177"/>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ABOUT KINGDOM HEARTS</a:t>
            </a:r>
          </a:p>
        </p:txBody>
      </p:sp>
      <p:sp>
        <p:nvSpPr>
          <p:cNvPr id="120" name="Rectangle 119"/>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キングダムハーツとは</a:t>
            </a:r>
            <a:endParaRPr sz="2700" b="1" i="0" dirty="0">
              <a:solidFill>
                <a:srgbClr val="EEF4FF"/>
              </a:solidFill>
              <a:latin typeface="Meiryo UI" panose="020B0604030504040204" pitchFamily="50" charset="-128"/>
            </a:endParaRPr>
          </a:p>
        </p:txBody>
      </p:sp>
      <p:sp>
        <p:nvSpPr>
          <p:cNvPr id="150" name="TextBox 149"/>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51" name="TextBox 150"/>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02 / 14</a:t>
            </a:r>
          </a:p>
        </p:txBody>
      </p:sp>
      <p:pic>
        <p:nvPicPr>
          <p:cNvPr id="152" name="図 23">
            <a:extLst>
              <a:ext uri="{FF2B5EF4-FFF2-40B4-BE49-F238E27FC236}">
                <a16:creationId xmlns:a16="http://schemas.microsoft.com/office/drawing/2014/main" id="{2FD6F9C3-82AC-F134-C347-1631B98C1711}"/>
              </a:ext>
            </a:extLst>
          </p:cNvPr>
          <p:cNvPicPr>
            <a:picLocks noChangeAspect="1"/>
          </p:cNvPicPr>
          <p:nvPr/>
        </p:nvPicPr>
        <p:blipFill>
          <a:blip r:embed="rId2"/>
          <a:stretch>
            <a:fillRect/>
          </a:stretch>
        </p:blipFill>
        <p:spPr>
          <a:xfrm>
            <a:off x="8001000" y="2092523"/>
            <a:ext cx="3657600" cy="3998833"/>
          </a:xfrm>
          <a:prstGeom prst="rect">
            <a:avLst/>
          </a:prstGeom>
        </p:spPr>
      </p:pic>
      <p:sp>
        <p:nvSpPr>
          <p:cNvPr id="153" name="TextBox 152"/>
          <p:cNvSpPr txBox="1"/>
          <p:nvPr/>
        </p:nvSpPr>
        <p:spPr>
          <a:xfrm>
            <a:off x="822960" y="2057400"/>
            <a:ext cx="914400" cy="640080"/>
          </a:xfrm>
          <a:prstGeom prst="rect">
            <a:avLst/>
          </a:prstGeom>
          <a:noFill/>
        </p:spPr>
        <p:txBody>
          <a:bodyPr wrap="square">
            <a:spAutoFit/>
          </a:bodyPr>
          <a:lstStyle/>
          <a:p>
            <a:pPr algn="l"/>
            <a:r>
              <a:rPr sz="3400" b="1">
                <a:solidFill>
                  <a:srgbClr val="B39A63"/>
                </a:solidFill>
                <a:latin typeface="Georgia"/>
              </a:rPr>
              <a:t>01</a:t>
            </a:r>
          </a:p>
        </p:txBody>
      </p:sp>
      <p:sp>
        <p:nvSpPr>
          <p:cNvPr id="154" name="TextBox 153"/>
          <p:cNvSpPr txBox="1"/>
          <p:nvPr/>
        </p:nvSpPr>
        <p:spPr>
          <a:xfrm>
            <a:off x="1874519" y="2057400"/>
            <a:ext cx="5486400" cy="365760"/>
          </a:xfrm>
          <a:prstGeom prst="rect">
            <a:avLst/>
          </a:prstGeom>
          <a:noFill/>
        </p:spPr>
        <p:txBody>
          <a:bodyPr wrap="square">
            <a:spAutoFit/>
          </a:bodyPr>
          <a:lstStyle/>
          <a:p>
            <a:pPr algn="l"/>
            <a:r>
              <a:rPr sz="2000" b="1" spc="20">
                <a:solidFill>
                  <a:srgbClr val="EEF4FF"/>
                </a:solidFill>
                <a:latin typeface="Meiryo UI"/>
              </a:rPr>
              <a:t>シリーズ概要</a:t>
            </a:r>
          </a:p>
        </p:txBody>
      </p:sp>
      <p:sp>
        <p:nvSpPr>
          <p:cNvPr id="155" name="TextBox 154"/>
          <p:cNvSpPr txBox="1"/>
          <p:nvPr/>
        </p:nvSpPr>
        <p:spPr>
          <a:xfrm>
            <a:off x="1874519" y="2532888"/>
            <a:ext cx="5486400" cy="365760"/>
          </a:xfrm>
          <a:prstGeom prst="rect">
            <a:avLst/>
          </a:prstGeom>
          <a:noFill/>
        </p:spPr>
        <p:txBody>
          <a:bodyPr wrap="square">
            <a:spAutoFit/>
          </a:bodyPr>
          <a:lstStyle/>
          <a:p>
            <a:pPr algn="l"/>
            <a:r>
              <a:rPr sz="1300" b="0">
                <a:solidFill>
                  <a:srgbClr val="C3D2EA"/>
                </a:solidFill>
                <a:latin typeface="Meiryo UI"/>
              </a:rPr>
              <a:t>スクウェア・エニックス×ディズニーのアクションRPGシリーズ(2002年〜)</a:t>
            </a:r>
          </a:p>
        </p:txBody>
      </p:sp>
      <p:sp>
        <p:nvSpPr>
          <p:cNvPr id="156" name="TextBox 155"/>
          <p:cNvSpPr txBox="1"/>
          <p:nvPr/>
        </p:nvSpPr>
        <p:spPr>
          <a:xfrm>
            <a:off x="822960" y="3520440"/>
            <a:ext cx="914400" cy="640080"/>
          </a:xfrm>
          <a:prstGeom prst="rect">
            <a:avLst/>
          </a:prstGeom>
          <a:noFill/>
        </p:spPr>
        <p:txBody>
          <a:bodyPr wrap="square">
            <a:spAutoFit/>
          </a:bodyPr>
          <a:lstStyle/>
          <a:p>
            <a:pPr algn="l"/>
            <a:r>
              <a:rPr sz="3400" b="1">
                <a:solidFill>
                  <a:srgbClr val="B39A63"/>
                </a:solidFill>
                <a:latin typeface="Georgia"/>
              </a:rPr>
              <a:t>02</a:t>
            </a:r>
          </a:p>
        </p:txBody>
      </p:sp>
      <p:sp>
        <p:nvSpPr>
          <p:cNvPr id="157" name="TextBox 156"/>
          <p:cNvSpPr txBox="1"/>
          <p:nvPr/>
        </p:nvSpPr>
        <p:spPr>
          <a:xfrm>
            <a:off x="1874519" y="3520440"/>
            <a:ext cx="5486400" cy="365760"/>
          </a:xfrm>
          <a:prstGeom prst="rect">
            <a:avLst/>
          </a:prstGeom>
          <a:noFill/>
        </p:spPr>
        <p:txBody>
          <a:bodyPr wrap="square">
            <a:spAutoFit/>
          </a:bodyPr>
          <a:lstStyle/>
          <a:p>
            <a:pPr algn="l"/>
            <a:r>
              <a:rPr sz="2000" b="1" spc="20">
                <a:solidFill>
                  <a:srgbClr val="EEF4FF"/>
                </a:solidFill>
                <a:latin typeface="Meiryo UI"/>
              </a:rPr>
              <a:t>物語のテーマ</a:t>
            </a:r>
          </a:p>
        </p:txBody>
      </p:sp>
      <p:sp>
        <p:nvSpPr>
          <p:cNvPr id="158" name="TextBox 157"/>
          <p:cNvSpPr txBox="1"/>
          <p:nvPr/>
        </p:nvSpPr>
        <p:spPr>
          <a:xfrm>
            <a:off x="1874519" y="3995928"/>
            <a:ext cx="5486400" cy="365760"/>
          </a:xfrm>
          <a:prstGeom prst="rect">
            <a:avLst/>
          </a:prstGeom>
          <a:noFill/>
        </p:spPr>
        <p:txBody>
          <a:bodyPr wrap="square">
            <a:spAutoFit/>
          </a:bodyPr>
          <a:lstStyle/>
          <a:p>
            <a:pPr algn="l"/>
            <a:r>
              <a:rPr sz="1300" b="0">
                <a:solidFill>
                  <a:srgbClr val="C3D2EA"/>
                </a:solidFill>
                <a:latin typeface="Meiryo UI"/>
              </a:rPr>
              <a:t>「心」「記憶」「光と闇」を巡る、少年ソラの旅</a:t>
            </a:r>
          </a:p>
        </p:txBody>
      </p:sp>
      <p:sp>
        <p:nvSpPr>
          <p:cNvPr id="159" name="TextBox 158"/>
          <p:cNvSpPr txBox="1"/>
          <p:nvPr/>
        </p:nvSpPr>
        <p:spPr>
          <a:xfrm>
            <a:off x="822960" y="4983480"/>
            <a:ext cx="914400" cy="640080"/>
          </a:xfrm>
          <a:prstGeom prst="rect">
            <a:avLst/>
          </a:prstGeom>
          <a:noFill/>
        </p:spPr>
        <p:txBody>
          <a:bodyPr wrap="square">
            <a:spAutoFit/>
          </a:bodyPr>
          <a:lstStyle/>
          <a:p>
            <a:pPr algn="l"/>
            <a:r>
              <a:rPr sz="3400" b="1">
                <a:solidFill>
                  <a:srgbClr val="B39A63"/>
                </a:solidFill>
                <a:latin typeface="Georgia"/>
              </a:rPr>
              <a:t>03</a:t>
            </a:r>
          </a:p>
        </p:txBody>
      </p:sp>
      <p:sp>
        <p:nvSpPr>
          <p:cNvPr id="160" name="TextBox 159"/>
          <p:cNvSpPr txBox="1"/>
          <p:nvPr/>
        </p:nvSpPr>
        <p:spPr>
          <a:xfrm>
            <a:off x="1874519" y="4983480"/>
            <a:ext cx="5486400" cy="365760"/>
          </a:xfrm>
          <a:prstGeom prst="rect">
            <a:avLst/>
          </a:prstGeom>
          <a:noFill/>
        </p:spPr>
        <p:txBody>
          <a:bodyPr wrap="square">
            <a:spAutoFit/>
          </a:bodyPr>
          <a:lstStyle/>
          <a:p>
            <a:pPr algn="l"/>
            <a:r>
              <a:rPr sz="2000" b="1" spc="20">
                <a:solidFill>
                  <a:srgbClr val="EEF4FF"/>
                </a:solidFill>
                <a:latin typeface="Meiryo UI"/>
              </a:rPr>
              <a:t>シリーズの広がり</a:t>
            </a:r>
          </a:p>
        </p:txBody>
      </p:sp>
      <p:sp>
        <p:nvSpPr>
          <p:cNvPr id="161" name="TextBox 160"/>
          <p:cNvSpPr txBox="1"/>
          <p:nvPr/>
        </p:nvSpPr>
        <p:spPr>
          <a:xfrm>
            <a:off x="1874519" y="5458968"/>
            <a:ext cx="5486400" cy="365760"/>
          </a:xfrm>
          <a:prstGeom prst="rect">
            <a:avLst/>
          </a:prstGeom>
          <a:noFill/>
        </p:spPr>
        <p:txBody>
          <a:bodyPr wrap="square">
            <a:spAutoFit/>
          </a:bodyPr>
          <a:lstStyle/>
          <a:p>
            <a:pPr algn="l"/>
            <a:r>
              <a:rPr sz="1300" b="0">
                <a:solidFill>
                  <a:srgbClr val="C3D2EA"/>
                </a:solidFill>
                <a:latin typeface="Meiryo UI"/>
              </a:rPr>
              <a:t>本編・外伝あわせて10作以上、20年以上続く人気シリーズ</a:t>
            </a:r>
          </a:p>
        </p:txBody>
      </p:sp>
      <p:sp>
        <p:nvSpPr>
          <p:cNvPr id="162" name="Rectangle 161"/>
          <p:cNvSpPr/>
          <p:nvPr/>
        </p:nvSpPr>
        <p:spPr>
          <a:xfrm>
            <a:off x="822960" y="3108960"/>
            <a:ext cx="6537960" cy="9525"/>
          </a:xfrm>
          <a:prstGeom prst="rect">
            <a:avLst/>
          </a:prstGeom>
          <a:solidFill>
            <a:srgbClr val="2A6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Rectangle 162"/>
          <p:cNvSpPr/>
          <p:nvPr/>
        </p:nvSpPr>
        <p:spPr>
          <a:xfrm>
            <a:off x="822960" y="4572000"/>
            <a:ext cx="6537960" cy="9525"/>
          </a:xfrm>
          <a:prstGeom prst="rect">
            <a:avLst/>
          </a:prstGeom>
          <a:solidFill>
            <a:srgbClr val="2A6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296211" y="3833425"/>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319272" y="-10579608"/>
            <a:ext cx="12746735" cy="12746735"/>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474720" y="-10424160"/>
            <a:ext cx="12435840" cy="1243584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215737" y="-8683142"/>
            <a:ext cx="8953804" cy="8953804"/>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832396" y="-7066483"/>
            <a:ext cx="5720486" cy="5720486"/>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2335160"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4906034"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0787207"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174282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7455914"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726937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4292707"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4106169"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4292707"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4106169"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7455914"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726937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0787207"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174282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2335160"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4906034"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887206" y="1513199"/>
            <a:ext cx="107503" cy="10750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5625734" y="4384779"/>
            <a:ext cx="59451" cy="5945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3649481" y="4562154"/>
            <a:ext cx="59313" cy="5931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1235629" y="1504206"/>
            <a:ext cx="51407" cy="5140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512409" y="3209791"/>
            <a:ext cx="66588" cy="6658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Diamond 37"/>
          <p:cNvSpPr/>
          <p:nvPr/>
        </p:nvSpPr>
        <p:spPr>
          <a:xfrm>
            <a:off x="4925983" y="1595987"/>
            <a:ext cx="73253" cy="73253"/>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1683108" y="5364531"/>
            <a:ext cx="89254" cy="89254"/>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220800" y="2737812"/>
            <a:ext cx="69996" cy="69996"/>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933287" y="4418257"/>
            <a:ext cx="46137" cy="4613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377493" y="2436825"/>
            <a:ext cx="47119" cy="4711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iamond 42"/>
          <p:cNvSpPr/>
          <p:nvPr/>
        </p:nvSpPr>
        <p:spPr>
          <a:xfrm>
            <a:off x="561689" y="3777889"/>
            <a:ext cx="55536" cy="55536"/>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458078" y="722788"/>
            <a:ext cx="55369" cy="5536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8515024" y="2542631"/>
            <a:ext cx="87478" cy="8747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5972189" y="5686229"/>
            <a:ext cx="65645" cy="65645"/>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iamond 46"/>
          <p:cNvSpPr/>
          <p:nvPr/>
        </p:nvSpPr>
        <p:spPr>
          <a:xfrm>
            <a:off x="8103478" y="4507222"/>
            <a:ext cx="46100" cy="46100"/>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11177" y="2438364"/>
            <a:ext cx="106277" cy="10627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735402" y="1048307"/>
            <a:ext cx="90892" cy="90892"/>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Diamond 49"/>
          <p:cNvSpPr/>
          <p:nvPr/>
        </p:nvSpPr>
        <p:spPr>
          <a:xfrm>
            <a:off x="9411011" y="5173646"/>
            <a:ext cx="54701" cy="5470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226050" y="4589618"/>
            <a:ext cx="334172" cy="12151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241240"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a:off x="1241240"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1362757" y="4418735"/>
            <a:ext cx="60758" cy="197465"/>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Isosceles Triangle 54"/>
          <p:cNvSpPr/>
          <p:nvPr/>
        </p:nvSpPr>
        <p:spPr>
          <a:xfrm>
            <a:off x="1362757" y="4365571"/>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469084"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sosceles Triangle 56"/>
          <p:cNvSpPr/>
          <p:nvPr/>
        </p:nvSpPr>
        <p:spPr>
          <a:xfrm>
            <a:off x="1469084"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1370352" y="4638984"/>
            <a:ext cx="45568" cy="72150"/>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0437299" y="6401557"/>
            <a:ext cx="554389" cy="2015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10462498"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sosceles Triangle 60"/>
          <p:cNvSpPr/>
          <p:nvPr/>
        </p:nvSpPr>
        <p:spPr>
          <a:xfrm>
            <a:off x="10462498"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0664094" y="6118062"/>
            <a:ext cx="100798" cy="327593"/>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Isosceles Triangle 62"/>
          <p:cNvSpPr/>
          <p:nvPr/>
        </p:nvSpPr>
        <p:spPr>
          <a:xfrm>
            <a:off x="10664094" y="6029864"/>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0840491"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Isosceles Triangle 64"/>
          <p:cNvSpPr/>
          <p:nvPr/>
        </p:nvSpPr>
        <p:spPr>
          <a:xfrm>
            <a:off x="10840491"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ounded Rectangle 65"/>
          <p:cNvSpPr/>
          <p:nvPr/>
        </p:nvSpPr>
        <p:spPr>
          <a:xfrm>
            <a:off x="10676694" y="6483455"/>
            <a:ext cx="75598" cy="119697"/>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5-Point Star 66"/>
          <p:cNvSpPr/>
          <p:nvPr/>
        </p:nvSpPr>
        <p:spPr>
          <a:xfrm>
            <a:off x="3938405" y="2904924"/>
            <a:ext cx="591403" cy="591403"/>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8" name="Connector 67"/>
          <p:cNvCxnSpPr/>
          <p:nvPr/>
        </p:nvCxnSpPr>
        <p:spPr>
          <a:xfrm>
            <a:off x="2463218" y="2345972"/>
            <a:ext cx="141143"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593218"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0" name="Connector 69"/>
          <p:cNvCxnSpPr/>
          <p:nvPr/>
        </p:nvCxnSpPr>
        <p:spPr>
          <a:xfrm>
            <a:off x="2456124"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2559168"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a:off x="2437552"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470025"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4" name="Connector 73"/>
          <p:cNvCxnSpPr/>
          <p:nvPr/>
        </p:nvCxnSpPr>
        <p:spPr>
          <a:xfrm flipH="1">
            <a:off x="2370981"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2359838"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H="1">
            <a:off x="2281838"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270695"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8" name="Connector 77"/>
          <p:cNvCxnSpPr/>
          <p:nvPr/>
        </p:nvCxnSpPr>
        <p:spPr>
          <a:xfrm flipH="1">
            <a:off x="2247788" y="2345972"/>
            <a:ext cx="141144"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2236645"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0" name="Connector 79"/>
          <p:cNvCxnSpPr/>
          <p:nvPr/>
        </p:nvCxnSpPr>
        <p:spPr>
          <a:xfrm flipH="1" flipV="1">
            <a:off x="2281838"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2270695"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2" name="Connector 81"/>
          <p:cNvCxnSpPr/>
          <p:nvPr/>
        </p:nvCxnSpPr>
        <p:spPr>
          <a:xfrm flipH="1" flipV="1">
            <a:off x="2370981"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2359838"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flipV="1">
            <a:off x="2437552"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2470025"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flipV="1">
            <a:off x="2456124"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2559168"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403789" y="2323686"/>
            <a:ext cx="44571" cy="4457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9" name="Connector 88"/>
          <p:cNvCxnSpPr/>
          <p:nvPr/>
        </p:nvCxnSpPr>
        <p:spPr>
          <a:xfrm>
            <a:off x="2657579"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2817300"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1" name="Connector 90"/>
          <p:cNvCxnSpPr/>
          <p:nvPr/>
        </p:nvCxnSpPr>
        <p:spPr>
          <a:xfrm>
            <a:off x="2648863"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2775466"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 name="Connector 92"/>
          <p:cNvCxnSpPr/>
          <p:nvPr/>
        </p:nvCxnSpPr>
        <p:spPr>
          <a:xfrm>
            <a:off x="2626046"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2665943"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5" name="Connector 94"/>
          <p:cNvCxnSpPr/>
          <p:nvPr/>
        </p:nvCxnSpPr>
        <p:spPr>
          <a:xfrm flipH="1">
            <a:off x="2544255"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6" name="Oval 95"/>
          <p:cNvSpPr/>
          <p:nvPr/>
        </p:nvSpPr>
        <p:spPr>
          <a:xfrm>
            <a:off x="2530564"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7" name="Connector 96"/>
          <p:cNvCxnSpPr/>
          <p:nvPr/>
        </p:nvCxnSpPr>
        <p:spPr>
          <a:xfrm flipH="1">
            <a:off x="2434732"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8" name="Oval 97"/>
          <p:cNvSpPr/>
          <p:nvPr/>
        </p:nvSpPr>
        <p:spPr>
          <a:xfrm>
            <a:off x="2421041"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9" name="Connector 98"/>
          <p:cNvCxnSpPr/>
          <p:nvPr/>
        </p:nvCxnSpPr>
        <p:spPr>
          <a:xfrm flipH="1">
            <a:off x="2392897"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2379207"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1" name="Connector 100"/>
          <p:cNvCxnSpPr/>
          <p:nvPr/>
        </p:nvCxnSpPr>
        <p:spPr>
          <a:xfrm flipH="1" flipV="1">
            <a:off x="2434732"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2421041"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3" name="Connector 102"/>
          <p:cNvCxnSpPr/>
          <p:nvPr/>
        </p:nvCxnSpPr>
        <p:spPr>
          <a:xfrm flipH="1" flipV="1">
            <a:off x="2544255"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4" name="Oval 103"/>
          <p:cNvSpPr/>
          <p:nvPr/>
        </p:nvSpPr>
        <p:spPr>
          <a:xfrm>
            <a:off x="2530564"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5" name="Connector 104"/>
          <p:cNvCxnSpPr/>
          <p:nvPr/>
        </p:nvCxnSpPr>
        <p:spPr>
          <a:xfrm flipV="1">
            <a:off x="2626046"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2665943"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 name="Connector 106"/>
          <p:cNvCxnSpPr/>
          <p:nvPr/>
        </p:nvCxnSpPr>
        <p:spPr>
          <a:xfrm flipV="1">
            <a:off x="2648863"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8" name="Oval 107"/>
          <p:cNvSpPr/>
          <p:nvPr/>
        </p:nvSpPr>
        <p:spPr>
          <a:xfrm>
            <a:off x="2775466"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84563" y="4103850"/>
            <a:ext cx="54761" cy="5476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ectangle 109"/>
          <p:cNvSpPr/>
          <p:nvPr/>
        </p:nvSpPr>
        <p:spPr>
          <a:xfrm>
            <a:off x="11091878" y="4653985"/>
            <a:ext cx="463368" cy="16849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11112940"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Isosceles Triangle 111"/>
          <p:cNvSpPr/>
          <p:nvPr/>
        </p:nvSpPr>
        <p:spPr>
          <a:xfrm>
            <a:off x="11112940"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112"/>
          <p:cNvSpPr/>
          <p:nvPr/>
        </p:nvSpPr>
        <p:spPr>
          <a:xfrm>
            <a:off x="11281438" y="4417035"/>
            <a:ext cx="84248" cy="273808"/>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Isosceles Triangle 113"/>
          <p:cNvSpPr/>
          <p:nvPr/>
        </p:nvSpPr>
        <p:spPr>
          <a:xfrm>
            <a:off x="11281438" y="4343317"/>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Rectangle 114"/>
          <p:cNvSpPr/>
          <p:nvPr/>
        </p:nvSpPr>
        <p:spPr>
          <a:xfrm>
            <a:off x="11428873"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Isosceles Triangle 115"/>
          <p:cNvSpPr/>
          <p:nvPr/>
        </p:nvSpPr>
        <p:spPr>
          <a:xfrm>
            <a:off x="11428873"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16"/>
          <p:cNvSpPr/>
          <p:nvPr/>
        </p:nvSpPr>
        <p:spPr>
          <a:xfrm>
            <a:off x="11291969" y="4722437"/>
            <a:ext cx="63186" cy="100045"/>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5-Point Star 117"/>
          <p:cNvSpPr/>
          <p:nvPr/>
        </p:nvSpPr>
        <p:spPr>
          <a:xfrm>
            <a:off x="10776440" y="4979449"/>
            <a:ext cx="621177" cy="621177"/>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OVERVIEW</a:t>
            </a:r>
          </a:p>
        </p:txBody>
      </p:sp>
      <p:sp>
        <p:nvSpPr>
          <p:cNvPr id="120" name="Rectangle 119"/>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サイト概要</a:t>
            </a:r>
            <a:endParaRPr sz="2700" b="1" i="0" dirty="0">
              <a:solidFill>
                <a:srgbClr val="EEF4FF"/>
              </a:solidFill>
              <a:latin typeface="Meiryo UI" panose="020B0604030504040204" pitchFamily="50" charset="-128"/>
            </a:endParaRPr>
          </a:p>
        </p:txBody>
      </p:sp>
      <p:sp>
        <p:nvSpPr>
          <p:cNvPr id="122" name="Rounded Rectangle 121"/>
          <p:cNvSpPr/>
          <p:nvPr/>
        </p:nvSpPr>
        <p:spPr>
          <a:xfrm>
            <a:off x="822960" y="1783080"/>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1097280" y="2057400"/>
            <a:ext cx="685800" cy="685800"/>
          </a:xfrm>
          <a:prstGeom prst="ellipse">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Heart 123"/>
          <p:cNvSpPr/>
          <p:nvPr/>
        </p:nvSpPr>
        <p:spPr>
          <a:xfrm>
            <a:off x="1243584" y="2203704"/>
            <a:ext cx="393192" cy="393192"/>
          </a:xfrm>
          <a:prstGeom prst="heart">
            <a:avLst/>
          </a:prstGeom>
          <a:noFill/>
          <a:ln w="2032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1408724" y="2321661"/>
            <a:ext cx="62910" cy="62910"/>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Isosceles Triangle 125"/>
          <p:cNvSpPr/>
          <p:nvPr/>
        </p:nvSpPr>
        <p:spPr>
          <a:xfrm>
            <a:off x="1408724" y="2356262"/>
            <a:ext cx="62910" cy="86502"/>
          </a:xfrm>
          <a:prstGeom prst="triangl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2057400" y="1965960"/>
            <a:ext cx="8869680" cy="246221"/>
          </a:xfrm>
          <a:prstGeom prst="rect">
            <a:avLst/>
          </a:prstGeom>
          <a:noFill/>
        </p:spPr>
        <p:txBody>
          <a:bodyPr wrap="square" lIns="0" tIns="0" rIns="0" bIns="0" anchor="t">
            <a:spAutoFit/>
          </a:bodyPr>
          <a:lstStyle/>
          <a:p>
            <a:pPr algn="l">
              <a:lnSpc>
                <a:spcPct val="100000"/>
              </a:lnSpc>
              <a:spcAft>
                <a:spcPts val="0"/>
              </a:spcAft>
            </a:pPr>
            <a:r>
              <a:rPr sz="1600" b="1" i="0" dirty="0" err="1">
                <a:solidFill>
                  <a:srgbClr val="EEF4FF"/>
                </a:solidFill>
                <a:latin typeface="Meiryo UI" panose="020B0604030504040204" pitchFamily="50" charset="-128"/>
              </a:rPr>
              <a:t>企画の核心</a:t>
            </a:r>
            <a:endParaRPr sz="1600" b="1" i="0" dirty="0">
              <a:solidFill>
                <a:srgbClr val="EEF4FF"/>
              </a:solidFill>
              <a:latin typeface="Meiryo UI" panose="020B0604030504040204" pitchFamily="50" charset="-128"/>
            </a:endParaRPr>
          </a:p>
        </p:txBody>
      </p:sp>
      <p:sp>
        <p:nvSpPr>
          <p:cNvPr id="128" name="TextBox 127"/>
          <p:cNvSpPr txBox="1"/>
          <p:nvPr/>
        </p:nvSpPr>
        <p:spPr>
          <a:xfrm>
            <a:off x="2057400" y="2350008"/>
            <a:ext cx="8869680" cy="215444"/>
          </a:xfrm>
          <a:prstGeom prst="rect">
            <a:avLst/>
          </a:prstGeom>
          <a:noFill/>
        </p:spPr>
        <p:txBody>
          <a:bodyPr wrap="square" lIns="0" tIns="0" rIns="0" bIns="0" anchor="t">
            <a:spAutoFit/>
          </a:bodyPr>
          <a:lstStyle/>
          <a:p>
            <a:pPr algn="l">
              <a:lnSpc>
                <a:spcPct val="100000"/>
              </a:lnSpc>
              <a:spcAft>
                <a:spcPts val="0"/>
              </a:spcAft>
            </a:pPr>
            <a:r>
              <a:rPr sz="1400" b="0" i="0" dirty="0" err="1">
                <a:solidFill>
                  <a:srgbClr val="C3D2EA"/>
                </a:solidFill>
                <a:latin typeface="Meiryo UI" panose="020B0604030504040204" pitchFamily="50" charset="-128"/>
              </a:rPr>
              <a:t>「記憶の欠片」を集めて巡る、体験型Webサイト</a:t>
            </a:r>
          </a:p>
        </p:txBody>
      </p:sp>
      <p:sp>
        <p:nvSpPr>
          <p:cNvPr id="129" name="Rounded Rectangle 128"/>
          <p:cNvSpPr/>
          <p:nvPr/>
        </p:nvSpPr>
        <p:spPr>
          <a:xfrm>
            <a:off x="822960" y="3246120"/>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097280" y="3520440"/>
            <a:ext cx="685800" cy="685800"/>
          </a:xfrm>
          <a:prstGeom prst="ellipse">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Rounded Rectangle 130"/>
          <p:cNvSpPr/>
          <p:nvPr/>
        </p:nvSpPr>
        <p:spPr>
          <a:xfrm>
            <a:off x="1243584" y="3666744"/>
            <a:ext cx="393192" cy="393192"/>
          </a:xfrm>
          <a:prstGeom prst="roundRect">
            <a:avLst>
              <a:gd name="adj" fmla="val 8000"/>
            </a:avLst>
          </a:prstGeom>
          <a:noFill/>
          <a:ln w="2032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Rounded Rectangle 131"/>
          <p:cNvSpPr/>
          <p:nvPr/>
        </p:nvSpPr>
        <p:spPr>
          <a:xfrm rot="2700000">
            <a:off x="1243584" y="3666744"/>
            <a:ext cx="393192" cy="393192"/>
          </a:xfrm>
          <a:prstGeom prst="roundRect">
            <a:avLst>
              <a:gd name="adj" fmla="val 8000"/>
            </a:avLst>
          </a:prstGeom>
          <a:noFill/>
          <a:ln w="2032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1416588" y="3839748"/>
            <a:ext cx="47183" cy="47183"/>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2057400" y="3429000"/>
            <a:ext cx="8869680" cy="246221"/>
          </a:xfrm>
          <a:prstGeom prst="rect">
            <a:avLst/>
          </a:prstGeom>
          <a:noFill/>
        </p:spPr>
        <p:txBody>
          <a:bodyPr wrap="square" lIns="0" tIns="0" rIns="0" bIns="0" anchor="t">
            <a:spAutoFit/>
          </a:bodyPr>
          <a:lstStyle/>
          <a:p>
            <a:pPr algn="l">
              <a:lnSpc>
                <a:spcPct val="100000"/>
              </a:lnSpc>
              <a:spcAft>
                <a:spcPts val="0"/>
              </a:spcAft>
            </a:pPr>
            <a:r>
              <a:rPr sz="1600" b="1" i="0" dirty="0" err="1">
                <a:solidFill>
                  <a:srgbClr val="EEF4FF"/>
                </a:solidFill>
                <a:latin typeface="Meiryo UI" panose="020B0604030504040204" pitchFamily="50" charset="-128"/>
              </a:rPr>
              <a:t>世界観のテーマ</a:t>
            </a:r>
            <a:endParaRPr sz="1600" b="1" i="0" dirty="0">
              <a:solidFill>
                <a:srgbClr val="EEF4FF"/>
              </a:solidFill>
              <a:latin typeface="Meiryo UI" panose="020B0604030504040204" pitchFamily="50" charset="-128"/>
            </a:endParaRPr>
          </a:p>
        </p:txBody>
      </p:sp>
      <p:sp>
        <p:nvSpPr>
          <p:cNvPr id="135" name="TextBox 134"/>
          <p:cNvSpPr txBox="1"/>
          <p:nvPr/>
        </p:nvSpPr>
        <p:spPr>
          <a:xfrm>
            <a:off x="2057400" y="3813048"/>
            <a:ext cx="8869680" cy="215444"/>
          </a:xfrm>
          <a:prstGeom prst="rect">
            <a:avLst/>
          </a:prstGeom>
          <a:noFill/>
        </p:spPr>
        <p:txBody>
          <a:bodyPr wrap="square" lIns="0" tIns="0" rIns="0" bIns="0" anchor="t">
            <a:spAutoFit/>
          </a:bodyPr>
          <a:lstStyle/>
          <a:p>
            <a:pPr algn="l">
              <a:lnSpc>
                <a:spcPct val="100000"/>
              </a:lnSpc>
              <a:spcAft>
                <a:spcPts val="0"/>
              </a:spcAft>
            </a:pPr>
            <a:r>
              <a:rPr sz="1400" b="0" i="0" dirty="0">
                <a:solidFill>
                  <a:srgbClr val="C3D2EA"/>
                </a:solidFill>
                <a:latin typeface="Meiryo UI" panose="020B0604030504040204" pitchFamily="50" charset="-128"/>
              </a:rPr>
              <a:t>「心」「記憶」「光と闇」を幻想的に表現。公式サイトの再現ではなく、オリジナル企画として制作</a:t>
            </a:r>
          </a:p>
        </p:txBody>
      </p:sp>
      <p:sp>
        <p:nvSpPr>
          <p:cNvPr id="136" name="Rounded Rectangle 135"/>
          <p:cNvSpPr/>
          <p:nvPr/>
        </p:nvSpPr>
        <p:spPr>
          <a:xfrm>
            <a:off x="822960" y="4709160"/>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1097280" y="4983480"/>
            <a:ext cx="685800" cy="685800"/>
          </a:xfrm>
          <a:prstGeom prst="ellipse">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2" name="Group 141"/>
          <p:cNvGrpSpPr/>
          <p:nvPr/>
        </p:nvGrpSpPr>
        <p:grpSpPr>
          <a:xfrm rot="19200000">
            <a:off x="1381201" y="5129784"/>
            <a:ext cx="145481" cy="326349"/>
            <a:chOff x="1381201" y="5129784"/>
            <a:chExt cx="145481" cy="326349"/>
          </a:xfrm>
        </p:grpSpPr>
        <p:sp>
          <p:nvSpPr>
            <p:cNvPr id="138" name="Oval 137"/>
            <p:cNvSpPr/>
            <p:nvPr/>
          </p:nvSpPr>
          <p:spPr>
            <a:xfrm>
              <a:off x="1381201" y="5129784"/>
              <a:ext cx="117957" cy="117957"/>
            </a:xfrm>
            <a:prstGeom prst="ellipse">
              <a:avLst/>
            </a:prstGeom>
            <a:noFill/>
            <a:ln w="1778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Rectangle 138"/>
            <p:cNvSpPr/>
            <p:nvPr/>
          </p:nvSpPr>
          <p:spPr>
            <a:xfrm>
              <a:off x="1422486" y="5212354"/>
              <a:ext cx="35387" cy="243779"/>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Rectangle 139"/>
            <p:cNvSpPr/>
            <p:nvPr/>
          </p:nvSpPr>
          <p:spPr>
            <a:xfrm>
              <a:off x="1440180" y="5330311"/>
              <a:ext cx="62910"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Rectangle 140"/>
            <p:cNvSpPr/>
            <p:nvPr/>
          </p:nvSpPr>
          <p:spPr>
            <a:xfrm>
              <a:off x="1440180" y="5393222"/>
              <a:ext cx="86502"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147" name="Group 146"/>
          <p:cNvGrpSpPr/>
          <p:nvPr/>
        </p:nvGrpSpPr>
        <p:grpSpPr>
          <a:xfrm rot="2400000">
            <a:off x="1381201" y="5129784"/>
            <a:ext cx="145481" cy="326349"/>
            <a:chOff x="1381201" y="5129784"/>
            <a:chExt cx="145481" cy="326349"/>
          </a:xfrm>
        </p:grpSpPr>
        <p:sp>
          <p:nvSpPr>
            <p:cNvPr id="143" name="Oval 142"/>
            <p:cNvSpPr/>
            <p:nvPr/>
          </p:nvSpPr>
          <p:spPr>
            <a:xfrm>
              <a:off x="1381201" y="5129784"/>
              <a:ext cx="117957" cy="117957"/>
            </a:xfrm>
            <a:prstGeom prst="ellipse">
              <a:avLst/>
            </a:prstGeom>
            <a:noFill/>
            <a:ln w="1778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143"/>
            <p:cNvSpPr/>
            <p:nvPr/>
          </p:nvSpPr>
          <p:spPr>
            <a:xfrm>
              <a:off x="1422486" y="5212354"/>
              <a:ext cx="35387" cy="243779"/>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Rectangle 144"/>
            <p:cNvSpPr/>
            <p:nvPr/>
          </p:nvSpPr>
          <p:spPr>
            <a:xfrm>
              <a:off x="1440180" y="5330311"/>
              <a:ext cx="62910"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Rectangle 145"/>
            <p:cNvSpPr/>
            <p:nvPr/>
          </p:nvSpPr>
          <p:spPr>
            <a:xfrm>
              <a:off x="1440180" y="5393222"/>
              <a:ext cx="86502"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48" name="TextBox 147"/>
          <p:cNvSpPr txBox="1"/>
          <p:nvPr/>
        </p:nvSpPr>
        <p:spPr>
          <a:xfrm>
            <a:off x="2057400" y="4892040"/>
            <a:ext cx="8869680" cy="246221"/>
          </a:xfrm>
          <a:prstGeom prst="rect">
            <a:avLst/>
          </a:prstGeom>
          <a:noFill/>
        </p:spPr>
        <p:txBody>
          <a:bodyPr wrap="square" lIns="0" tIns="0" rIns="0" bIns="0" anchor="t">
            <a:spAutoFit/>
          </a:bodyPr>
          <a:lstStyle/>
          <a:p>
            <a:pPr algn="l">
              <a:lnSpc>
                <a:spcPct val="100000"/>
              </a:lnSpc>
              <a:spcAft>
                <a:spcPts val="0"/>
              </a:spcAft>
            </a:pPr>
            <a:r>
              <a:rPr sz="1600" b="1" i="0" dirty="0" err="1">
                <a:solidFill>
                  <a:srgbClr val="EEF4FF"/>
                </a:solidFill>
                <a:latin typeface="Meiryo UI" panose="020B0604030504040204" pitchFamily="50" charset="-128"/>
              </a:rPr>
              <a:t>技術的な実現</a:t>
            </a:r>
            <a:endParaRPr sz="1600" b="1" i="0" dirty="0">
              <a:solidFill>
                <a:srgbClr val="EEF4FF"/>
              </a:solidFill>
              <a:latin typeface="Meiryo UI" panose="020B0604030504040204" pitchFamily="50" charset="-128"/>
            </a:endParaRPr>
          </a:p>
        </p:txBody>
      </p:sp>
      <p:sp>
        <p:nvSpPr>
          <p:cNvPr id="149" name="TextBox 148"/>
          <p:cNvSpPr txBox="1"/>
          <p:nvPr/>
        </p:nvSpPr>
        <p:spPr>
          <a:xfrm>
            <a:off x="2057400" y="5276088"/>
            <a:ext cx="8869680" cy="215444"/>
          </a:xfrm>
          <a:prstGeom prst="rect">
            <a:avLst/>
          </a:prstGeom>
          <a:noFill/>
        </p:spPr>
        <p:txBody>
          <a:bodyPr wrap="square" lIns="0" tIns="0" rIns="0" bIns="0" anchor="t">
            <a:spAutoFit/>
          </a:bodyPr>
          <a:lstStyle/>
          <a:p>
            <a:pPr algn="l">
              <a:lnSpc>
                <a:spcPct val="100000"/>
              </a:lnSpc>
              <a:spcAft>
                <a:spcPts val="0"/>
              </a:spcAft>
            </a:pPr>
            <a:r>
              <a:rPr sz="1400" b="0" i="0" dirty="0" err="1">
                <a:solidFill>
                  <a:srgbClr val="C3D2EA"/>
                </a:solidFill>
                <a:latin typeface="Meiryo UI" panose="020B0604030504040204" pitchFamily="50" charset="-128"/>
              </a:rPr>
              <a:t>HTML・CSS・JavaScriptのみで、ゲームのような体験を再現</a:t>
            </a:r>
          </a:p>
        </p:txBody>
      </p:sp>
      <p:sp>
        <p:nvSpPr>
          <p:cNvPr id="150" name="TextBox 149"/>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51" name="TextBox 150"/>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03 / 14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183379" y="4503420"/>
            <a:ext cx="13121639" cy="13121639"/>
          </a:xfrm>
          <a:prstGeom prst="ellipse">
            <a:avLst/>
          </a:prstGeom>
          <a:solidFill>
            <a:srgbClr val="9AD5FF">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023360" y="4663440"/>
            <a:ext cx="12801600" cy="12801600"/>
          </a:xfrm>
          <a:prstGeom prst="ellipse">
            <a:avLst/>
          </a:prstGeom>
          <a:noFill/>
          <a:ln w="330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231136" y="6455664"/>
            <a:ext cx="9217152" cy="9217152"/>
          </a:xfrm>
          <a:prstGeom prst="ellipse">
            <a:avLst/>
          </a:prstGeom>
          <a:noFill/>
          <a:ln w="2540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6928" y="8119872"/>
            <a:ext cx="5888736" cy="5888736"/>
          </a:xfrm>
          <a:prstGeom prst="ellipse">
            <a:avLst/>
          </a:prstGeom>
          <a:noFill/>
          <a:ln w="203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097681" y="12191000"/>
            <a:ext cx="2838513" cy="117575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7744170" y="13174727"/>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3504200" y="13784481"/>
            <a:ext cx="1175751" cy="2838513"/>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4487927" y="16430970"/>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74928" y="13784481"/>
            <a:ext cx="1175751" cy="2838513"/>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17095" y="16430970"/>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3181314" y="12191000"/>
            <a:ext cx="2838513" cy="117575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3373338" y="13174727"/>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3181314" y="8761728"/>
            <a:ext cx="2838513" cy="117575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3373338" y="8569704"/>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74928" y="5505485"/>
            <a:ext cx="1175751" cy="2838513"/>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117095" y="5313461"/>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3504200" y="5505485"/>
            <a:ext cx="1175751" cy="2838513"/>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4487927" y="5313461"/>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5097681" y="8761728"/>
            <a:ext cx="2838513" cy="117575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7744170" y="8569704"/>
            <a:ext cx="384048" cy="384048"/>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2096601" y="4093739"/>
            <a:ext cx="56581" cy="56581"/>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7182404" y="2674675"/>
            <a:ext cx="85244" cy="85244"/>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35421" y="3567798"/>
            <a:ext cx="85383" cy="85383"/>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iamond 35"/>
          <p:cNvSpPr/>
          <p:nvPr/>
        </p:nvSpPr>
        <p:spPr>
          <a:xfrm>
            <a:off x="10187780" y="4824909"/>
            <a:ext cx="69858" cy="69858"/>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873968" y="5283724"/>
            <a:ext cx="89871" cy="89871"/>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344627" y="3389657"/>
            <a:ext cx="59931" cy="59931"/>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2065410" y="4125206"/>
            <a:ext cx="86055" cy="86055"/>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183868" y="883695"/>
            <a:ext cx="67033" cy="67033"/>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6099010" y="4900255"/>
            <a:ext cx="73310" cy="7331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498819" y="1343211"/>
            <a:ext cx="58992" cy="58992"/>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7443137" y="2971803"/>
            <a:ext cx="81440" cy="8144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7855623" y="5765365"/>
            <a:ext cx="98530" cy="9853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5658874" y="6125180"/>
            <a:ext cx="74340" cy="7434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0066271" y="4506856"/>
            <a:ext cx="70730" cy="7073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7098977" y="5925730"/>
            <a:ext cx="85602" cy="85602"/>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1233920" y="3552655"/>
            <a:ext cx="71223" cy="71223"/>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0902642" y="1373898"/>
            <a:ext cx="50355" cy="50355"/>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223960" y="2675490"/>
            <a:ext cx="62024" cy="62024"/>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2293464" y="4678848"/>
            <a:ext cx="435304" cy="158292"/>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2313251" y="4565075"/>
            <a:ext cx="79146" cy="148399"/>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a:off x="2313251" y="4495822"/>
            <a:ext cx="79146" cy="6925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2471543" y="4456249"/>
            <a:ext cx="79146" cy="25722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Isosceles Triangle 54"/>
          <p:cNvSpPr/>
          <p:nvPr/>
        </p:nvSpPr>
        <p:spPr>
          <a:xfrm>
            <a:off x="2471543" y="4386996"/>
            <a:ext cx="79146" cy="6925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10049" y="4565075"/>
            <a:ext cx="79146" cy="148399"/>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sosceles Triangle 56"/>
          <p:cNvSpPr/>
          <p:nvPr/>
        </p:nvSpPr>
        <p:spPr>
          <a:xfrm>
            <a:off x="2610049" y="4495822"/>
            <a:ext cx="79146" cy="6925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2481437" y="4743154"/>
            <a:ext cx="59359" cy="93986"/>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rot="19800000">
            <a:off x="2787539" y="1331237"/>
            <a:ext cx="40271" cy="268477"/>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5-Point Star 59"/>
          <p:cNvSpPr/>
          <p:nvPr/>
        </p:nvSpPr>
        <p:spPr>
          <a:xfrm>
            <a:off x="2711470" y="1179100"/>
            <a:ext cx="205832" cy="205832"/>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4-Point Star 60"/>
          <p:cNvSpPr/>
          <p:nvPr/>
        </p:nvSpPr>
        <p:spPr>
          <a:xfrm>
            <a:off x="2653300" y="1358084"/>
            <a:ext cx="71593" cy="71593"/>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4-Point Star 61"/>
          <p:cNvSpPr/>
          <p:nvPr/>
        </p:nvSpPr>
        <p:spPr>
          <a:xfrm>
            <a:off x="2617503" y="1447577"/>
            <a:ext cx="49220" cy="49220"/>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rot="19800000">
            <a:off x="2281864" y="6432741"/>
            <a:ext cx="44316" cy="295446"/>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5-Point Star 63"/>
          <p:cNvSpPr/>
          <p:nvPr/>
        </p:nvSpPr>
        <p:spPr>
          <a:xfrm>
            <a:off x="2198154" y="6265322"/>
            <a:ext cx="226509" cy="226509"/>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4-Point Star 64"/>
          <p:cNvSpPr/>
          <p:nvPr/>
        </p:nvSpPr>
        <p:spPr>
          <a:xfrm>
            <a:off x="2134141" y="6462286"/>
            <a:ext cx="78785" cy="78785"/>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4-Point Star 65"/>
          <p:cNvSpPr/>
          <p:nvPr/>
        </p:nvSpPr>
        <p:spPr>
          <a:xfrm>
            <a:off x="2094748" y="6560768"/>
            <a:ext cx="54165" cy="54165"/>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5-Point Star 66"/>
          <p:cNvSpPr/>
          <p:nvPr/>
        </p:nvSpPr>
        <p:spPr>
          <a:xfrm>
            <a:off x="10398230" y="1108303"/>
            <a:ext cx="401462" cy="401462"/>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519955" y="3734002"/>
            <a:ext cx="541817" cy="197024"/>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544583" y="3592390"/>
            <a:ext cx="98512" cy="184710"/>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Isosceles Triangle 69"/>
          <p:cNvSpPr/>
          <p:nvPr/>
        </p:nvSpPr>
        <p:spPr>
          <a:xfrm>
            <a:off x="544583" y="3506192"/>
            <a:ext cx="98512" cy="86198"/>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741607" y="3456936"/>
            <a:ext cx="98512" cy="32016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Isosceles Triangle 71"/>
          <p:cNvSpPr/>
          <p:nvPr/>
        </p:nvSpPr>
        <p:spPr>
          <a:xfrm>
            <a:off x="741607" y="3370737"/>
            <a:ext cx="98512" cy="86198"/>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914004" y="3592390"/>
            <a:ext cx="98512" cy="184710"/>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Isosceles Triangle 73"/>
          <p:cNvSpPr/>
          <p:nvPr/>
        </p:nvSpPr>
        <p:spPr>
          <a:xfrm>
            <a:off x="914004" y="3506192"/>
            <a:ext cx="98512" cy="86198"/>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753921" y="3814043"/>
            <a:ext cx="73884" cy="116983"/>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5-Point Star 75"/>
          <p:cNvSpPr/>
          <p:nvPr/>
        </p:nvSpPr>
        <p:spPr>
          <a:xfrm>
            <a:off x="2881357" y="2385802"/>
            <a:ext cx="389026" cy="389026"/>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5-Point Star 76"/>
          <p:cNvSpPr/>
          <p:nvPr/>
        </p:nvSpPr>
        <p:spPr>
          <a:xfrm>
            <a:off x="10085885" y="5482115"/>
            <a:ext cx="685585" cy="685585"/>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dirty="0">
                <a:solidFill>
                  <a:srgbClr val="4DA6FF"/>
                </a:solidFill>
                <a:latin typeface="Georgia"/>
              </a:rPr>
              <a:t>TARGET &amp; PURPOSE</a:t>
            </a:r>
          </a:p>
        </p:txBody>
      </p:sp>
      <p:sp>
        <p:nvSpPr>
          <p:cNvPr id="79" name="Rectangle 78"/>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ターゲットとサイトの目的</a:t>
            </a:r>
            <a:endParaRPr sz="2700" b="1" i="0" dirty="0">
              <a:solidFill>
                <a:srgbClr val="EEF4FF"/>
              </a:solidFill>
              <a:latin typeface="Meiryo UI" panose="020B0604030504040204" pitchFamily="50" charset="-128"/>
            </a:endParaRPr>
          </a:p>
        </p:txBody>
      </p:sp>
      <p:sp>
        <p:nvSpPr>
          <p:cNvPr id="82" name="TextBox 81"/>
          <p:cNvSpPr txBox="1"/>
          <p:nvPr/>
        </p:nvSpPr>
        <p:spPr>
          <a:xfrm>
            <a:off x="822960" y="1938528"/>
            <a:ext cx="3657600" cy="261610"/>
          </a:xfrm>
          <a:prstGeom prst="rect">
            <a:avLst/>
          </a:prstGeom>
          <a:noFill/>
        </p:spPr>
        <p:txBody>
          <a:bodyPr wrap="square" lIns="0" tIns="0" rIns="0" bIns="0" anchor="t">
            <a:spAutoFit/>
          </a:bodyPr>
          <a:lstStyle/>
          <a:p>
            <a:pPr algn="l">
              <a:lnSpc>
                <a:spcPct val="100000"/>
              </a:lnSpc>
              <a:spcAft>
                <a:spcPts val="0"/>
              </a:spcAft>
            </a:pPr>
            <a:r>
              <a:rPr sz="1700" b="1" i="0" dirty="0" err="1">
                <a:solidFill>
                  <a:srgbClr val="EEF4FF"/>
                </a:solidFill>
                <a:latin typeface="Meiryo UI" panose="020B0604030504040204" pitchFamily="50" charset="-128"/>
              </a:rPr>
              <a:t>ターゲット</a:t>
            </a:r>
            <a:endParaRPr sz="1700" b="1" i="0" dirty="0">
              <a:solidFill>
                <a:srgbClr val="EEF4FF"/>
              </a:solidFill>
              <a:latin typeface="Meiryo UI" panose="020B0604030504040204" pitchFamily="50" charset="-128"/>
            </a:endParaRPr>
          </a:p>
        </p:txBody>
      </p:sp>
      <p:sp>
        <p:nvSpPr>
          <p:cNvPr id="83" name="Rounded Rectangle 82"/>
          <p:cNvSpPr/>
          <p:nvPr/>
        </p:nvSpPr>
        <p:spPr>
          <a:xfrm>
            <a:off x="822960" y="2423160"/>
            <a:ext cx="4251960" cy="141732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051560" y="2587752"/>
            <a:ext cx="3840480" cy="176972"/>
          </a:xfrm>
          <a:prstGeom prst="rect">
            <a:avLst/>
          </a:prstGeom>
          <a:noFill/>
        </p:spPr>
        <p:txBody>
          <a:bodyPr wrap="square" lIns="0" tIns="0" rIns="0" bIns="0" anchor="t">
            <a:spAutoFit/>
          </a:bodyPr>
          <a:lstStyle/>
          <a:p>
            <a:pPr algn="l">
              <a:lnSpc>
                <a:spcPct val="100000"/>
              </a:lnSpc>
              <a:spcAft>
                <a:spcPts val="0"/>
              </a:spcAft>
            </a:pPr>
            <a:r>
              <a:rPr sz="1150" b="1" i="0" spc="50" dirty="0" err="1">
                <a:solidFill>
                  <a:srgbClr val="9AD5FF"/>
                </a:solidFill>
                <a:latin typeface="Meiryo UI" panose="020B0604030504040204" pitchFamily="50" charset="-128"/>
              </a:rPr>
              <a:t>主ターゲット</a:t>
            </a:r>
            <a:endParaRPr sz="1150" b="1" i="0" spc="50" dirty="0">
              <a:solidFill>
                <a:srgbClr val="9AD5FF"/>
              </a:solidFill>
              <a:latin typeface="Meiryo UI" panose="020B0604030504040204" pitchFamily="50" charset="-128"/>
            </a:endParaRPr>
          </a:p>
        </p:txBody>
      </p:sp>
      <p:sp>
        <p:nvSpPr>
          <p:cNvPr id="85" name="TextBox 84"/>
          <p:cNvSpPr txBox="1"/>
          <p:nvPr/>
        </p:nvSpPr>
        <p:spPr>
          <a:xfrm>
            <a:off x="1051560" y="2898648"/>
            <a:ext cx="3840480" cy="210570"/>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C3D2EA"/>
                </a:solidFill>
                <a:latin typeface="Meiryo UI" panose="020B0604030504040204" pitchFamily="50" charset="-128"/>
              </a:rPr>
              <a:t>キングダムハーツシリーズが好きなゲームユーザ</a:t>
            </a:r>
            <a:r>
              <a:rPr sz="1200" b="0" i="0" dirty="0">
                <a:solidFill>
                  <a:srgbClr val="C3D2EA"/>
                </a:solidFill>
                <a:latin typeface="Meiryo UI" panose="020B0604030504040204" pitchFamily="50" charset="-128"/>
              </a:rPr>
              <a:t>ー</a:t>
            </a:r>
          </a:p>
        </p:txBody>
      </p:sp>
      <p:sp>
        <p:nvSpPr>
          <p:cNvPr id="86" name="Rounded Rectangle 85"/>
          <p:cNvSpPr/>
          <p:nvPr/>
        </p:nvSpPr>
        <p:spPr>
          <a:xfrm>
            <a:off x="822960" y="4023360"/>
            <a:ext cx="4251960" cy="141732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1051560" y="4187952"/>
            <a:ext cx="3840480" cy="176972"/>
          </a:xfrm>
          <a:prstGeom prst="rect">
            <a:avLst/>
          </a:prstGeom>
          <a:noFill/>
        </p:spPr>
        <p:txBody>
          <a:bodyPr wrap="square" lIns="0" tIns="0" rIns="0" bIns="0" anchor="t">
            <a:spAutoFit/>
          </a:bodyPr>
          <a:lstStyle/>
          <a:p>
            <a:pPr algn="l">
              <a:lnSpc>
                <a:spcPct val="100000"/>
              </a:lnSpc>
              <a:spcAft>
                <a:spcPts val="0"/>
              </a:spcAft>
            </a:pPr>
            <a:r>
              <a:rPr sz="1150" b="1" i="0" spc="50" dirty="0" err="1">
                <a:solidFill>
                  <a:srgbClr val="9AD5FF"/>
                </a:solidFill>
                <a:latin typeface="Meiryo UI" panose="020B0604030504040204" pitchFamily="50" charset="-128"/>
              </a:rPr>
              <a:t>サブターゲット</a:t>
            </a:r>
            <a:endParaRPr sz="1150" b="1" i="0" spc="50" dirty="0">
              <a:solidFill>
                <a:srgbClr val="9AD5FF"/>
              </a:solidFill>
              <a:latin typeface="Meiryo UI" panose="020B0604030504040204" pitchFamily="50" charset="-128"/>
            </a:endParaRPr>
          </a:p>
        </p:txBody>
      </p:sp>
      <p:sp>
        <p:nvSpPr>
          <p:cNvPr id="88" name="TextBox 87"/>
          <p:cNvSpPr txBox="1"/>
          <p:nvPr/>
        </p:nvSpPr>
        <p:spPr>
          <a:xfrm>
            <a:off x="1051560" y="4498848"/>
            <a:ext cx="3840480"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C3D2EA"/>
                </a:solidFill>
                <a:latin typeface="Meiryo UI" panose="020B0604030504040204" pitchFamily="50" charset="-128"/>
              </a:rPr>
              <a:t>シリーズを最近知った人、過去の作品を振り返りたい人、幻想的なWebデザインに興味がある人</a:t>
            </a:r>
            <a:endParaRPr sz="1200" b="0" i="0" dirty="0">
              <a:solidFill>
                <a:srgbClr val="C3D2EA"/>
              </a:solidFill>
              <a:latin typeface="Meiryo UI" panose="020B0604030504040204" pitchFamily="50" charset="-128"/>
            </a:endParaRPr>
          </a:p>
        </p:txBody>
      </p:sp>
      <p:cxnSp>
        <p:nvCxnSpPr>
          <p:cNvPr id="89" name="Connector 88"/>
          <p:cNvCxnSpPr/>
          <p:nvPr/>
        </p:nvCxnSpPr>
        <p:spPr>
          <a:xfrm>
            <a:off x="5349240" y="1691640"/>
            <a:ext cx="0" cy="4343400"/>
          </a:xfrm>
          <a:prstGeom prst="line">
            <a:avLst/>
          </a:prstGeom>
          <a:ln w="12700">
            <a:solidFill>
              <a:srgbClr val="143A6B"/>
            </a:solidFill>
          </a:ln>
          <a:effectLst/>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5623560" y="1938528"/>
            <a:ext cx="3657600" cy="261610"/>
          </a:xfrm>
          <a:prstGeom prst="rect">
            <a:avLst/>
          </a:prstGeom>
          <a:noFill/>
        </p:spPr>
        <p:txBody>
          <a:bodyPr wrap="square" lIns="0" tIns="0" rIns="0" bIns="0" anchor="t">
            <a:spAutoFit/>
          </a:bodyPr>
          <a:lstStyle/>
          <a:p>
            <a:pPr algn="l">
              <a:lnSpc>
                <a:spcPct val="100000"/>
              </a:lnSpc>
              <a:spcAft>
                <a:spcPts val="0"/>
              </a:spcAft>
            </a:pPr>
            <a:r>
              <a:rPr sz="1700" b="1" i="0" dirty="0" err="1">
                <a:solidFill>
                  <a:srgbClr val="EEF4FF"/>
                </a:solidFill>
                <a:latin typeface="Meiryo UI" panose="020B0604030504040204" pitchFamily="50" charset="-128"/>
              </a:rPr>
              <a:t>目的の柱</a:t>
            </a:r>
            <a:endParaRPr sz="1700" b="1" i="0" dirty="0">
              <a:solidFill>
                <a:srgbClr val="EEF4FF"/>
              </a:solidFill>
              <a:latin typeface="Meiryo UI" panose="020B0604030504040204" pitchFamily="50" charset="-128"/>
            </a:endParaRPr>
          </a:p>
        </p:txBody>
      </p:sp>
      <p:sp>
        <p:nvSpPr>
          <p:cNvPr id="92" name="Rounded Rectangle 91"/>
          <p:cNvSpPr/>
          <p:nvPr/>
        </p:nvSpPr>
        <p:spPr>
          <a:xfrm>
            <a:off x="5623560" y="2423160"/>
            <a:ext cx="2697480" cy="16002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5806440" y="2560320"/>
            <a:ext cx="548640" cy="457200"/>
          </a:xfrm>
          <a:prstGeom prst="rect">
            <a:avLst/>
          </a:prstGeom>
          <a:noFill/>
        </p:spPr>
        <p:txBody>
          <a:bodyPr wrap="square" lIns="0" tIns="0" rIns="0" bIns="0" anchor="t">
            <a:spAutoFit/>
          </a:bodyPr>
          <a:lstStyle/>
          <a:p>
            <a:pPr algn="l">
              <a:lnSpc>
                <a:spcPct val="100000"/>
              </a:lnSpc>
              <a:spcAft>
                <a:spcPts val="0"/>
              </a:spcAft>
            </a:pPr>
            <a:r>
              <a:rPr sz="2000" b="1" i="0">
                <a:solidFill>
                  <a:srgbClr val="E6D5A3"/>
                </a:solidFill>
                <a:latin typeface="Georgia"/>
              </a:rPr>
              <a:t>①</a:t>
            </a:r>
          </a:p>
        </p:txBody>
      </p:sp>
      <p:sp>
        <p:nvSpPr>
          <p:cNvPr id="94" name="TextBox 93"/>
          <p:cNvSpPr txBox="1"/>
          <p:nvPr/>
        </p:nvSpPr>
        <p:spPr>
          <a:xfrm>
            <a:off x="5806440" y="3017520"/>
            <a:ext cx="2331720" cy="434478"/>
          </a:xfrm>
          <a:prstGeom prst="rect">
            <a:avLst/>
          </a:prstGeom>
          <a:noFill/>
        </p:spPr>
        <p:txBody>
          <a:bodyPr wrap="square" lIns="0" tIns="0" rIns="0" bIns="0" anchor="t">
            <a:spAutoFit/>
          </a:bodyPr>
          <a:lstStyle/>
          <a:p>
            <a:pPr algn="l">
              <a:lnSpc>
                <a:spcPct val="125000"/>
              </a:lnSpc>
              <a:spcAft>
                <a:spcPts val="0"/>
              </a:spcAft>
            </a:pPr>
            <a:r>
              <a:rPr sz="1200" b="0" i="0" dirty="0" err="1">
                <a:solidFill>
                  <a:srgbClr val="C3D2EA"/>
                </a:solidFill>
                <a:latin typeface="Meiryo UI" panose="020B0604030504040204" pitchFamily="50" charset="-128"/>
              </a:rPr>
              <a:t>シリーズの歴史を、楽しみながら振り返ってもらう</a:t>
            </a:r>
            <a:endParaRPr sz="1200" b="0" i="0" dirty="0">
              <a:solidFill>
                <a:srgbClr val="C3D2EA"/>
              </a:solidFill>
              <a:latin typeface="Meiryo UI" panose="020B0604030504040204" pitchFamily="50" charset="-128"/>
            </a:endParaRPr>
          </a:p>
        </p:txBody>
      </p:sp>
      <p:sp>
        <p:nvSpPr>
          <p:cNvPr id="95" name="Rounded Rectangle 94"/>
          <p:cNvSpPr/>
          <p:nvPr/>
        </p:nvSpPr>
        <p:spPr>
          <a:xfrm>
            <a:off x="8503920" y="2423160"/>
            <a:ext cx="2697480" cy="16002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8686800" y="2560320"/>
            <a:ext cx="548640" cy="457200"/>
          </a:xfrm>
          <a:prstGeom prst="rect">
            <a:avLst/>
          </a:prstGeom>
          <a:noFill/>
        </p:spPr>
        <p:txBody>
          <a:bodyPr wrap="square" lIns="0" tIns="0" rIns="0" bIns="0" anchor="t">
            <a:spAutoFit/>
          </a:bodyPr>
          <a:lstStyle/>
          <a:p>
            <a:pPr algn="l">
              <a:lnSpc>
                <a:spcPct val="100000"/>
              </a:lnSpc>
              <a:spcAft>
                <a:spcPts val="0"/>
              </a:spcAft>
            </a:pPr>
            <a:r>
              <a:rPr sz="2000" b="1" i="0">
                <a:solidFill>
                  <a:srgbClr val="E6D5A3"/>
                </a:solidFill>
                <a:latin typeface="Georgia"/>
              </a:rPr>
              <a:t>②</a:t>
            </a:r>
          </a:p>
        </p:txBody>
      </p:sp>
      <p:sp>
        <p:nvSpPr>
          <p:cNvPr id="97" name="TextBox 96"/>
          <p:cNvSpPr txBox="1"/>
          <p:nvPr/>
        </p:nvSpPr>
        <p:spPr>
          <a:xfrm>
            <a:off x="8686800" y="3017520"/>
            <a:ext cx="2331720" cy="434478"/>
          </a:xfrm>
          <a:prstGeom prst="rect">
            <a:avLst/>
          </a:prstGeom>
          <a:noFill/>
        </p:spPr>
        <p:txBody>
          <a:bodyPr wrap="square" lIns="0" tIns="0" rIns="0" bIns="0" anchor="t">
            <a:spAutoFit/>
          </a:bodyPr>
          <a:lstStyle/>
          <a:p>
            <a:pPr algn="l">
              <a:lnSpc>
                <a:spcPct val="125000"/>
              </a:lnSpc>
              <a:spcAft>
                <a:spcPts val="0"/>
              </a:spcAft>
            </a:pPr>
            <a:r>
              <a:rPr sz="1200" b="0" i="0" dirty="0" err="1">
                <a:solidFill>
                  <a:srgbClr val="C3D2EA"/>
                </a:solidFill>
                <a:latin typeface="Meiryo UI" panose="020B0604030504040204" pitchFamily="50" charset="-128"/>
              </a:rPr>
              <a:t>探索して見つける体験を提供する</a:t>
            </a:r>
            <a:endParaRPr sz="1200" b="0" i="0" dirty="0">
              <a:solidFill>
                <a:srgbClr val="C3D2EA"/>
              </a:solidFill>
              <a:latin typeface="Meiryo UI" panose="020B0604030504040204" pitchFamily="50" charset="-128"/>
            </a:endParaRPr>
          </a:p>
        </p:txBody>
      </p:sp>
      <p:sp>
        <p:nvSpPr>
          <p:cNvPr id="98" name="Rounded Rectangle 97"/>
          <p:cNvSpPr/>
          <p:nvPr/>
        </p:nvSpPr>
        <p:spPr>
          <a:xfrm>
            <a:off x="5623560" y="4206240"/>
            <a:ext cx="2697480" cy="16002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5806440" y="4343400"/>
            <a:ext cx="548640" cy="457200"/>
          </a:xfrm>
          <a:prstGeom prst="rect">
            <a:avLst/>
          </a:prstGeom>
          <a:noFill/>
        </p:spPr>
        <p:txBody>
          <a:bodyPr wrap="square" lIns="0" tIns="0" rIns="0" bIns="0" anchor="t">
            <a:spAutoFit/>
          </a:bodyPr>
          <a:lstStyle/>
          <a:p>
            <a:pPr algn="l">
              <a:lnSpc>
                <a:spcPct val="100000"/>
              </a:lnSpc>
              <a:spcAft>
                <a:spcPts val="0"/>
              </a:spcAft>
            </a:pPr>
            <a:r>
              <a:rPr sz="2000" b="1" i="0">
                <a:solidFill>
                  <a:srgbClr val="E6D5A3"/>
                </a:solidFill>
                <a:latin typeface="Georgia"/>
              </a:rPr>
              <a:t>③</a:t>
            </a:r>
          </a:p>
        </p:txBody>
      </p:sp>
      <p:sp>
        <p:nvSpPr>
          <p:cNvPr id="100" name="TextBox 99"/>
          <p:cNvSpPr txBox="1"/>
          <p:nvPr/>
        </p:nvSpPr>
        <p:spPr>
          <a:xfrm>
            <a:off x="5806440" y="4800600"/>
            <a:ext cx="2331720" cy="434478"/>
          </a:xfrm>
          <a:prstGeom prst="rect">
            <a:avLst/>
          </a:prstGeom>
          <a:noFill/>
        </p:spPr>
        <p:txBody>
          <a:bodyPr wrap="square" lIns="0" tIns="0" rIns="0" bIns="0" anchor="t">
            <a:spAutoFit/>
          </a:bodyPr>
          <a:lstStyle/>
          <a:p>
            <a:pPr algn="l">
              <a:lnSpc>
                <a:spcPct val="125000"/>
              </a:lnSpc>
              <a:spcAft>
                <a:spcPts val="0"/>
              </a:spcAft>
            </a:pPr>
            <a:r>
              <a:rPr sz="1200" b="0" i="0" dirty="0" err="1">
                <a:solidFill>
                  <a:srgbClr val="C3D2EA"/>
                </a:solidFill>
                <a:latin typeface="Meiryo UI" panose="020B0604030504040204" pitchFamily="50" charset="-128"/>
              </a:rPr>
              <a:t>Web技術でゲームのようなインタラクティブ表現を実現</a:t>
            </a:r>
            <a:endParaRPr sz="1200" b="0" i="0" dirty="0">
              <a:solidFill>
                <a:srgbClr val="C3D2EA"/>
              </a:solidFill>
              <a:latin typeface="Meiryo UI" panose="020B0604030504040204" pitchFamily="50" charset="-128"/>
            </a:endParaRPr>
          </a:p>
        </p:txBody>
      </p:sp>
      <p:sp>
        <p:nvSpPr>
          <p:cNvPr id="101" name="Rounded Rectangle 100"/>
          <p:cNvSpPr/>
          <p:nvPr/>
        </p:nvSpPr>
        <p:spPr>
          <a:xfrm>
            <a:off x="8503920" y="4206240"/>
            <a:ext cx="2697480" cy="16002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686800" y="4343400"/>
            <a:ext cx="548640" cy="457200"/>
          </a:xfrm>
          <a:prstGeom prst="rect">
            <a:avLst/>
          </a:prstGeom>
          <a:noFill/>
        </p:spPr>
        <p:txBody>
          <a:bodyPr wrap="square" lIns="0" tIns="0" rIns="0" bIns="0" anchor="t">
            <a:spAutoFit/>
          </a:bodyPr>
          <a:lstStyle/>
          <a:p>
            <a:pPr algn="l">
              <a:lnSpc>
                <a:spcPct val="100000"/>
              </a:lnSpc>
              <a:spcAft>
                <a:spcPts val="0"/>
              </a:spcAft>
            </a:pPr>
            <a:r>
              <a:rPr sz="2000" b="1" i="0">
                <a:solidFill>
                  <a:srgbClr val="E6D5A3"/>
                </a:solidFill>
                <a:latin typeface="Georgia"/>
              </a:rPr>
              <a:t>④</a:t>
            </a:r>
          </a:p>
        </p:txBody>
      </p:sp>
      <p:sp>
        <p:nvSpPr>
          <p:cNvPr id="103" name="TextBox 102"/>
          <p:cNvSpPr txBox="1"/>
          <p:nvPr/>
        </p:nvSpPr>
        <p:spPr>
          <a:xfrm>
            <a:off x="8686800" y="4800600"/>
            <a:ext cx="2331720" cy="434478"/>
          </a:xfrm>
          <a:prstGeom prst="rect">
            <a:avLst/>
          </a:prstGeom>
          <a:noFill/>
        </p:spPr>
        <p:txBody>
          <a:bodyPr wrap="square" lIns="0" tIns="0" rIns="0" bIns="0" anchor="t">
            <a:spAutoFit/>
          </a:bodyPr>
          <a:lstStyle/>
          <a:p>
            <a:pPr algn="l">
              <a:lnSpc>
                <a:spcPct val="125000"/>
              </a:lnSpc>
              <a:spcAft>
                <a:spcPts val="0"/>
              </a:spcAft>
            </a:pPr>
            <a:r>
              <a:rPr sz="1200" b="0" i="0" dirty="0" err="1">
                <a:solidFill>
                  <a:srgbClr val="C3D2EA"/>
                </a:solidFill>
                <a:latin typeface="Meiryo UI" panose="020B0604030504040204" pitchFamily="50" charset="-128"/>
              </a:rPr>
              <a:t>シリーズファン以外にも興味を持てる入口を作る</a:t>
            </a:r>
            <a:endParaRPr sz="1200" b="0" i="0" dirty="0">
              <a:solidFill>
                <a:srgbClr val="C3D2EA"/>
              </a:solidFill>
              <a:latin typeface="Meiryo UI" panose="020B0604030504040204" pitchFamily="50" charset="-128"/>
            </a:endParaRPr>
          </a:p>
        </p:txBody>
      </p:sp>
      <p:sp>
        <p:nvSpPr>
          <p:cNvPr id="104" name="TextBox 103"/>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05" name="TextBox 104"/>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04 / 14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pic>
        <p:nvPicPr>
          <p:cNvPr id="104" name="図 103" descr="キングダムハーツ キャラクター解説 ソラ編 :: Hearts &amp; Keys">
            <a:extLst>
              <a:ext uri="{FF2B5EF4-FFF2-40B4-BE49-F238E27FC236}">
                <a16:creationId xmlns:a16="http://schemas.microsoft.com/office/drawing/2014/main" id="{B2FEBB07-FE5F-EC79-EA2A-F4145DFB225F}"/>
              </a:ext>
            </a:extLst>
          </p:cNvPr>
          <p:cNvPicPr>
            <a:picLocks noChangeAspect="1"/>
          </p:cNvPicPr>
          <p:nvPr/>
        </p:nvPicPr>
        <p:blipFill>
          <a:blip r:embed="rId3"/>
          <a:stretch>
            <a:fillRect/>
          </a:stretch>
        </p:blipFill>
        <p:spPr>
          <a:xfrm>
            <a:off x="34844" y="-13615"/>
            <a:ext cx="12187738" cy="6855603"/>
          </a:xfrm>
          <a:prstGeom prst="rect">
            <a:avLst/>
          </a:prstGeom>
          <a:gradFill>
            <a:gsLst>
              <a:gs pos="200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127000">
              <a:schemeClr val="accent1">
                <a:alpha val="0"/>
              </a:schemeClr>
            </a:glow>
            <a:outerShdw dist="50800" dir="5400000" algn="ctr" rotWithShape="0">
              <a:srgbClr val="000000"/>
            </a:outerShdw>
            <a:reflection stA="47000" endPos="47000" dir="5400000" sy="-100000" algn="bl" rotWithShape="0"/>
            <a:softEdge rad="1270000"/>
          </a:effectLst>
        </p:spPr>
      </p:pic>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613148" y="-10017252"/>
            <a:ext cx="11622023" cy="11622023"/>
          </a:xfrm>
          <a:prstGeom prst="ellipse">
            <a:avLst/>
          </a:prstGeom>
          <a:solidFill>
            <a:srgbClr val="9AD5FF">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754880" y="-9875520"/>
            <a:ext cx="11338560" cy="11338560"/>
          </a:xfrm>
          <a:prstGeom prst="ellipse">
            <a:avLst/>
          </a:prstGeom>
          <a:noFill/>
          <a:ln w="330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342278" y="-8288121"/>
            <a:ext cx="8163763" cy="8163763"/>
          </a:xfrm>
          <a:prstGeom prst="ellipse">
            <a:avLst/>
          </a:prstGeom>
          <a:noFill/>
          <a:ln w="2540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816291" y="-6814108"/>
            <a:ext cx="5215737" cy="5215737"/>
          </a:xfrm>
          <a:prstGeom prst="ellipse">
            <a:avLst/>
          </a:prstGeom>
          <a:noFill/>
          <a:ln w="203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2833516" y="-3208251"/>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5177549" y="-2336951"/>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1422148" y="-1796883"/>
            <a:ext cx="1041379" cy="2514110"/>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2293448" y="547149"/>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8384792" y="-1796883"/>
            <a:ext cx="1041379" cy="2514110"/>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8214714" y="547149"/>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5500692" y="-3208251"/>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5330613" y="-2336951"/>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5500692" y="-6245607"/>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5330613" y="-6415685"/>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8384792" y="-9129707"/>
            <a:ext cx="1041379" cy="2514111"/>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8214714" y="-9299786"/>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1422148" y="-9129707"/>
            <a:ext cx="1041379" cy="2514111"/>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2293448" y="-9299786"/>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2833516" y="-6245607"/>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5177549" y="-6415685"/>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1289645" y="3115542"/>
            <a:ext cx="91731" cy="91731"/>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2834923" y="798138"/>
            <a:ext cx="84300" cy="84300"/>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iamond 34"/>
          <p:cNvSpPr/>
          <p:nvPr/>
        </p:nvSpPr>
        <p:spPr>
          <a:xfrm>
            <a:off x="4686247" y="5770786"/>
            <a:ext cx="101544" cy="101544"/>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iamond 35"/>
          <p:cNvSpPr/>
          <p:nvPr/>
        </p:nvSpPr>
        <p:spPr>
          <a:xfrm>
            <a:off x="1367056" y="1683096"/>
            <a:ext cx="98724" cy="98724"/>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948677" y="977023"/>
            <a:ext cx="53889" cy="53889"/>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486732" y="2828486"/>
            <a:ext cx="92649" cy="92649"/>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5049275" y="5136279"/>
            <a:ext cx="82365" cy="82365"/>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210888" y="2581468"/>
            <a:ext cx="82866" cy="82866"/>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iamond 40"/>
          <p:cNvSpPr/>
          <p:nvPr/>
        </p:nvSpPr>
        <p:spPr>
          <a:xfrm>
            <a:off x="7298661" y="3228295"/>
            <a:ext cx="61783" cy="61783"/>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844715" y="6362982"/>
            <a:ext cx="102468" cy="102468"/>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305413" y="4659943"/>
            <a:ext cx="64697" cy="64697"/>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Diamond 43"/>
          <p:cNvSpPr/>
          <p:nvPr/>
        </p:nvSpPr>
        <p:spPr>
          <a:xfrm>
            <a:off x="2067505" y="2894019"/>
            <a:ext cx="61895" cy="61895"/>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rot="19800000">
            <a:off x="9644652" y="5804223"/>
            <a:ext cx="55497" cy="369986"/>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5-Point Star 45"/>
          <p:cNvSpPr/>
          <p:nvPr/>
        </p:nvSpPr>
        <p:spPr>
          <a:xfrm>
            <a:off x="9539822" y="5594565"/>
            <a:ext cx="283656" cy="283656"/>
          </a:xfrm>
          <a:prstGeom prst="star5">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4-Point Star 46"/>
          <p:cNvSpPr/>
          <p:nvPr/>
        </p:nvSpPr>
        <p:spPr>
          <a:xfrm>
            <a:off x="9459659" y="5841222"/>
            <a:ext cx="98663" cy="98663"/>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4-Point Star 47"/>
          <p:cNvSpPr/>
          <p:nvPr/>
        </p:nvSpPr>
        <p:spPr>
          <a:xfrm>
            <a:off x="9410327" y="5964551"/>
            <a:ext cx="67830" cy="67830"/>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rot="19800000">
            <a:off x="9681052" y="1871205"/>
            <a:ext cx="44778" cy="298522"/>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5-Point Star 49"/>
          <p:cNvSpPr/>
          <p:nvPr/>
        </p:nvSpPr>
        <p:spPr>
          <a:xfrm>
            <a:off x="9596470" y="1702043"/>
            <a:ext cx="228867" cy="228867"/>
          </a:xfrm>
          <a:prstGeom prst="star5">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4-Point Star 50"/>
          <p:cNvSpPr/>
          <p:nvPr/>
        </p:nvSpPr>
        <p:spPr>
          <a:xfrm>
            <a:off x="9531791" y="1901057"/>
            <a:ext cx="79605" cy="79605"/>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4-Point Star 51"/>
          <p:cNvSpPr/>
          <p:nvPr/>
        </p:nvSpPr>
        <p:spPr>
          <a:xfrm>
            <a:off x="9491988" y="2000565"/>
            <a:ext cx="54729" cy="54729"/>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rot="19800000">
            <a:off x="5805857" y="943387"/>
            <a:ext cx="61666" cy="411112"/>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5-Point Star 53"/>
          <p:cNvSpPr/>
          <p:nvPr/>
        </p:nvSpPr>
        <p:spPr>
          <a:xfrm>
            <a:off x="5689375" y="710424"/>
            <a:ext cx="315186" cy="315186"/>
          </a:xfrm>
          <a:prstGeom prst="star5">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4-Point Star 54"/>
          <p:cNvSpPr/>
          <p:nvPr/>
        </p:nvSpPr>
        <p:spPr>
          <a:xfrm>
            <a:off x="5600301" y="984499"/>
            <a:ext cx="109630" cy="109630"/>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4-Point Star 55"/>
          <p:cNvSpPr/>
          <p:nvPr/>
        </p:nvSpPr>
        <p:spPr>
          <a:xfrm>
            <a:off x="5545486" y="1121536"/>
            <a:ext cx="75370" cy="75370"/>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7506876" y="2080405"/>
            <a:ext cx="555329" cy="201937"/>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7532118" y="1935262"/>
            <a:ext cx="100968" cy="189316"/>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Isosceles Triangle 58"/>
          <p:cNvSpPr/>
          <p:nvPr/>
        </p:nvSpPr>
        <p:spPr>
          <a:xfrm>
            <a:off x="7532118" y="1846915"/>
            <a:ext cx="100968" cy="88347"/>
          </a:xfrm>
          <a:prstGeom prst="triangle">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7734056" y="1796430"/>
            <a:ext cx="100968" cy="328149"/>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sosceles Triangle 60"/>
          <p:cNvSpPr/>
          <p:nvPr/>
        </p:nvSpPr>
        <p:spPr>
          <a:xfrm>
            <a:off x="7734056" y="1708082"/>
            <a:ext cx="100968" cy="88347"/>
          </a:xfrm>
          <a:prstGeom prst="triangle">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7910752" y="1935262"/>
            <a:ext cx="100968" cy="189316"/>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Isosceles Triangle 62"/>
          <p:cNvSpPr/>
          <p:nvPr/>
        </p:nvSpPr>
        <p:spPr>
          <a:xfrm>
            <a:off x="7910752" y="1846915"/>
            <a:ext cx="100968" cy="88347"/>
          </a:xfrm>
          <a:prstGeom prst="triangle">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7746677" y="2162443"/>
            <a:ext cx="75726" cy="119900"/>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SITE MAP</a:t>
            </a:r>
          </a:p>
        </p:txBody>
      </p:sp>
      <p:sp>
        <p:nvSpPr>
          <p:cNvPr id="66" name="Rectangle 65"/>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ページ構成図</a:t>
            </a:r>
            <a:endParaRPr sz="2700" b="1" i="0" dirty="0">
              <a:solidFill>
                <a:srgbClr val="EEF4FF"/>
              </a:solidFill>
              <a:latin typeface="Meiryo UI" panose="020B0604030504040204" pitchFamily="50" charset="-128"/>
            </a:endParaRPr>
          </a:p>
        </p:txBody>
      </p:sp>
      <p:sp>
        <p:nvSpPr>
          <p:cNvPr id="72" name="Oval 71"/>
          <p:cNvSpPr>
            <a:spLocks noGrp="1" noRot="1" noMove="1" noResize="1" noEditPoints="1" noAdjustHandles="1" noChangeArrowheads="1" noChangeShapeType="1"/>
          </p:cNvSpPr>
          <p:nvPr/>
        </p:nvSpPr>
        <p:spPr>
          <a:xfrm>
            <a:off x="4952390" y="2815391"/>
            <a:ext cx="1737360" cy="1737360"/>
          </a:xfrm>
          <a:prstGeom prst="ellipse">
            <a:avLst/>
          </a:prstGeom>
          <a:solidFill>
            <a:srgbClr val="0A1630"/>
          </a:solidFill>
          <a:ln w="15875">
            <a:solidFill>
              <a:srgbClr val="E6D5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cxnSp>
        <p:nvCxnSpPr>
          <p:cNvPr id="120" name="Connector 119"/>
          <p:cNvCxnSpPr/>
          <p:nvPr/>
        </p:nvCxnSpPr>
        <p:spPr>
          <a:xfrm flipH="1" flipV="1">
            <a:off x="2207843" y="1716073"/>
            <a:ext cx="2835554" cy="1558091"/>
          </a:xfrm>
          <a:prstGeom prst="line">
            <a:avLst/>
          </a:prstGeom>
          <a:ln w="22225">
            <a:solidFill>
              <a:srgbClr val="2A6BB5"/>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a:cxnSpLocks/>
          </p:cNvCxnSpPr>
          <p:nvPr/>
        </p:nvCxnSpPr>
        <p:spPr>
          <a:xfrm flipV="1">
            <a:off x="5961032" y="2392337"/>
            <a:ext cx="167299" cy="428540"/>
          </a:xfrm>
          <a:prstGeom prst="line">
            <a:avLst/>
          </a:prstGeom>
          <a:ln w="22225">
            <a:solidFill>
              <a:srgbClr val="2A6BB5"/>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629982" y="1823347"/>
            <a:ext cx="3382366" cy="1558091"/>
          </a:xfrm>
          <a:prstGeom prst="line">
            <a:avLst/>
          </a:prstGeom>
          <a:ln w="22225">
            <a:solidFill>
              <a:srgbClr val="2A6BB5"/>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H="1">
            <a:off x="2215340" y="4115309"/>
            <a:ext cx="2835554" cy="1642309"/>
          </a:xfrm>
          <a:prstGeom prst="line">
            <a:avLst/>
          </a:prstGeom>
          <a:ln w="22225">
            <a:solidFill>
              <a:srgbClr val="2A6BB5"/>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a:cxnSpLocks/>
          </p:cNvCxnSpPr>
          <p:nvPr/>
        </p:nvCxnSpPr>
        <p:spPr>
          <a:xfrm flipH="1">
            <a:off x="5801606" y="4553366"/>
            <a:ext cx="39655" cy="1386519"/>
          </a:xfrm>
          <a:prstGeom prst="line">
            <a:avLst/>
          </a:prstGeom>
          <a:ln w="22225">
            <a:solidFill>
              <a:srgbClr val="2A6BB5"/>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a:cxnSpLocks/>
          </p:cNvCxnSpPr>
          <p:nvPr/>
        </p:nvCxnSpPr>
        <p:spPr>
          <a:xfrm>
            <a:off x="6609941" y="4073323"/>
            <a:ext cx="1380615" cy="771192"/>
          </a:xfrm>
          <a:prstGeom prst="line">
            <a:avLst/>
          </a:prstGeom>
          <a:ln w="22225">
            <a:solidFill>
              <a:srgbClr val="FFC000"/>
            </a:solidFill>
          </a:ln>
        </p:spPr>
        <p:style>
          <a:lnRef idx="2">
            <a:schemeClr val="accent1"/>
          </a:lnRef>
          <a:fillRef idx="0">
            <a:schemeClr val="accent1"/>
          </a:fillRef>
          <a:effectRef idx="1">
            <a:schemeClr val="accent1"/>
          </a:effectRef>
          <a:fontRef idx="minor">
            <a:schemeClr val="tx1"/>
          </a:fontRef>
        </p:style>
      </p:cxnSp>
      <p:sp>
        <p:nvSpPr>
          <p:cNvPr id="73" name="Heart 72"/>
          <p:cNvSpPr/>
          <p:nvPr/>
        </p:nvSpPr>
        <p:spPr>
          <a:xfrm>
            <a:off x="5558712" y="2971743"/>
            <a:ext cx="555955" cy="555955"/>
          </a:xfrm>
          <a:prstGeom prst="heart">
            <a:avLst/>
          </a:prstGeom>
          <a:noFill/>
          <a:ln w="19050">
            <a:solidFill>
              <a:srgbClr val="E6D5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5791913" y="3167264"/>
            <a:ext cx="88952" cy="88952"/>
          </a:xfrm>
          <a:prstGeom prst="ellipse">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Isosceles Triangle 74"/>
          <p:cNvSpPr/>
          <p:nvPr/>
        </p:nvSpPr>
        <p:spPr>
          <a:xfrm>
            <a:off x="5801606" y="3228923"/>
            <a:ext cx="88952" cy="122310"/>
          </a:xfrm>
          <a:prstGeom prst="triangle">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977402" y="3566160"/>
            <a:ext cx="1737360" cy="274320"/>
          </a:xfrm>
          <a:prstGeom prst="rect">
            <a:avLst/>
          </a:prstGeom>
          <a:noFill/>
        </p:spPr>
        <p:txBody>
          <a:bodyPr wrap="square" lIns="0" tIns="0" rIns="0" bIns="0" anchor="t">
            <a:spAutoFit/>
          </a:bodyPr>
          <a:lstStyle/>
          <a:p>
            <a:pPr algn="ctr">
              <a:lnSpc>
                <a:spcPct val="100000"/>
              </a:lnSpc>
              <a:spcAft>
                <a:spcPts val="0"/>
              </a:spcAft>
            </a:pPr>
            <a:r>
              <a:rPr sz="1600" b="1" i="0" spc="100" dirty="0">
                <a:solidFill>
                  <a:srgbClr val="EEF4FF"/>
                </a:solidFill>
                <a:latin typeface="Georgia"/>
              </a:rPr>
              <a:t>TOP</a:t>
            </a:r>
          </a:p>
        </p:txBody>
      </p:sp>
      <p:sp>
        <p:nvSpPr>
          <p:cNvPr id="77" name="TextBox 76"/>
          <p:cNvSpPr txBox="1"/>
          <p:nvPr/>
        </p:nvSpPr>
        <p:spPr>
          <a:xfrm>
            <a:off x="5131640" y="3867912"/>
            <a:ext cx="1371600" cy="335156"/>
          </a:xfrm>
          <a:prstGeom prst="rect">
            <a:avLst/>
          </a:prstGeom>
          <a:noFill/>
        </p:spPr>
        <p:txBody>
          <a:bodyPr wrap="square" lIns="0" tIns="0" rIns="0" bIns="0" anchor="t">
            <a:spAutoFit/>
          </a:bodyPr>
          <a:lstStyle/>
          <a:p>
            <a:pPr algn="ctr">
              <a:lnSpc>
                <a:spcPct val="115000"/>
              </a:lnSpc>
              <a:spcAft>
                <a:spcPts val="0"/>
              </a:spcAft>
            </a:pPr>
            <a:r>
              <a:rPr sz="1000" b="0" i="0" dirty="0" err="1">
                <a:solidFill>
                  <a:srgbClr val="7D8FAE"/>
                </a:solidFill>
                <a:latin typeface="Meiryo UI" panose="020B0604030504040204" pitchFamily="50" charset="-128"/>
              </a:rPr>
              <a:t>サイトの世界観を体験する入口</a:t>
            </a:r>
            <a:endParaRPr sz="1000" b="0" i="0" dirty="0">
              <a:solidFill>
                <a:srgbClr val="7D8FAE"/>
              </a:solidFill>
              <a:latin typeface="Meiryo UI" panose="020B0604030504040204" pitchFamily="50" charset="-128"/>
            </a:endParaRPr>
          </a:p>
        </p:txBody>
      </p:sp>
      <p:sp>
        <p:nvSpPr>
          <p:cNvPr id="78" name="Rounded Rectangle 77"/>
          <p:cNvSpPr/>
          <p:nvPr/>
        </p:nvSpPr>
        <p:spPr>
          <a:xfrm>
            <a:off x="1659636" y="1508760"/>
            <a:ext cx="265176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481154" y="1345957"/>
            <a:ext cx="365760" cy="365760"/>
          </a:xfrm>
          <a:prstGeom prst="ellipse">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0" name="TextBox 79"/>
          <p:cNvSpPr txBox="1"/>
          <p:nvPr/>
        </p:nvSpPr>
        <p:spPr>
          <a:xfrm>
            <a:off x="1495474" y="1336294"/>
            <a:ext cx="365760" cy="365760"/>
          </a:xfrm>
          <a:prstGeom prst="rect">
            <a:avLst/>
          </a:prstGeom>
          <a:noFill/>
        </p:spPr>
        <p:txBody>
          <a:bodyPr wrap="square" lIns="0" tIns="0" rIns="0" bIns="0" anchor="ctr">
            <a:spAutoFit/>
          </a:bodyPr>
          <a:lstStyle/>
          <a:p>
            <a:pPr algn="ctr">
              <a:lnSpc>
                <a:spcPct val="100000"/>
              </a:lnSpc>
              <a:spcAft>
                <a:spcPts val="0"/>
              </a:spcAft>
            </a:pPr>
            <a:r>
              <a:rPr sz="1400" b="1" i="0" dirty="0">
                <a:solidFill>
                  <a:srgbClr val="EEF4FF"/>
                </a:solidFill>
                <a:latin typeface="Georgia"/>
              </a:rPr>
              <a:t>1</a:t>
            </a:r>
          </a:p>
        </p:txBody>
      </p:sp>
      <p:sp>
        <p:nvSpPr>
          <p:cNvPr id="81" name="TextBox 80"/>
          <p:cNvSpPr txBox="1"/>
          <p:nvPr/>
        </p:nvSpPr>
        <p:spPr>
          <a:xfrm>
            <a:off x="1783295" y="1618411"/>
            <a:ext cx="2286000" cy="274320"/>
          </a:xfrm>
          <a:prstGeom prst="rect">
            <a:avLst/>
          </a:prstGeom>
          <a:noFill/>
        </p:spPr>
        <p:txBody>
          <a:bodyPr wrap="square" lIns="0" tIns="0" rIns="0" bIns="0" anchor="t">
            <a:spAutoFit/>
          </a:bodyPr>
          <a:lstStyle/>
          <a:p>
            <a:pPr algn="l">
              <a:lnSpc>
                <a:spcPct val="100000"/>
              </a:lnSpc>
              <a:spcAft>
                <a:spcPts val="0"/>
              </a:spcAft>
            </a:pPr>
            <a:r>
              <a:rPr sz="1200" b="1" i="0" spc="50" dirty="0">
                <a:solidFill>
                  <a:srgbClr val="9AD5FF"/>
                </a:solidFill>
                <a:latin typeface="Georgia"/>
              </a:rPr>
              <a:t>MEMORY ALBUM</a:t>
            </a:r>
          </a:p>
        </p:txBody>
      </p:sp>
      <p:sp>
        <p:nvSpPr>
          <p:cNvPr id="82" name="TextBox 81"/>
          <p:cNvSpPr txBox="1"/>
          <p:nvPr/>
        </p:nvSpPr>
        <p:spPr>
          <a:xfrm>
            <a:off x="1846914" y="1910427"/>
            <a:ext cx="2286000" cy="186718"/>
          </a:xfrm>
          <a:prstGeom prst="rect">
            <a:avLst/>
          </a:prstGeom>
          <a:noFill/>
        </p:spPr>
        <p:txBody>
          <a:bodyPr wrap="square" lIns="0" tIns="0" rIns="0" bIns="0" anchor="t">
            <a:spAutoFit/>
          </a:bodyPr>
          <a:lstStyle/>
          <a:p>
            <a:pPr algn="l">
              <a:lnSpc>
                <a:spcPct val="125000"/>
              </a:lnSpc>
              <a:spcAft>
                <a:spcPts val="0"/>
              </a:spcAft>
            </a:pPr>
            <a:r>
              <a:rPr sz="950" b="0" i="0" dirty="0" err="1">
                <a:solidFill>
                  <a:srgbClr val="C3D2EA"/>
                </a:solidFill>
                <a:latin typeface="Meiryo UI" panose="020B0604030504040204" pitchFamily="50" charset="-128"/>
              </a:rPr>
              <a:t>作品・ワールド・キャラクターの記憶を年代順に閲覧</a:t>
            </a:r>
            <a:endParaRPr sz="1100" b="0" i="0" dirty="0">
              <a:solidFill>
                <a:srgbClr val="C3D2EA"/>
              </a:solidFill>
              <a:latin typeface="Meiryo UI" panose="020B0604030504040204" pitchFamily="50" charset="-128"/>
            </a:endParaRPr>
          </a:p>
        </p:txBody>
      </p:sp>
      <p:sp>
        <p:nvSpPr>
          <p:cNvPr id="83" name="Rounded Rectangle 82"/>
          <p:cNvSpPr/>
          <p:nvPr/>
        </p:nvSpPr>
        <p:spPr>
          <a:xfrm>
            <a:off x="4768596" y="1508760"/>
            <a:ext cx="265176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4594640" y="1409331"/>
            <a:ext cx="365760" cy="365760"/>
          </a:xfrm>
          <a:prstGeom prst="ellipse">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613113" y="1401666"/>
            <a:ext cx="365760" cy="365760"/>
          </a:xfrm>
          <a:prstGeom prst="rect">
            <a:avLst/>
          </a:prstGeom>
          <a:noFill/>
        </p:spPr>
        <p:txBody>
          <a:bodyPr wrap="square" lIns="0" tIns="0" rIns="0" bIns="0" anchor="ctr">
            <a:spAutoFit/>
          </a:bodyPr>
          <a:lstStyle/>
          <a:p>
            <a:pPr algn="ctr">
              <a:lnSpc>
                <a:spcPct val="100000"/>
              </a:lnSpc>
              <a:spcAft>
                <a:spcPts val="0"/>
              </a:spcAft>
            </a:pPr>
            <a:r>
              <a:rPr sz="1400" b="1" i="0" dirty="0">
                <a:solidFill>
                  <a:srgbClr val="EEF4FF"/>
                </a:solidFill>
                <a:latin typeface="Georgia"/>
              </a:rPr>
              <a:t>2</a:t>
            </a:r>
          </a:p>
        </p:txBody>
      </p:sp>
      <p:sp>
        <p:nvSpPr>
          <p:cNvPr id="86" name="TextBox 85"/>
          <p:cNvSpPr txBox="1"/>
          <p:nvPr/>
        </p:nvSpPr>
        <p:spPr>
          <a:xfrm>
            <a:off x="4943661" y="1620145"/>
            <a:ext cx="2286000" cy="274320"/>
          </a:xfrm>
          <a:prstGeom prst="rect">
            <a:avLst/>
          </a:prstGeom>
          <a:noFill/>
        </p:spPr>
        <p:txBody>
          <a:bodyPr wrap="square" lIns="0" tIns="0" rIns="0" bIns="0" anchor="t">
            <a:spAutoFit/>
          </a:bodyPr>
          <a:lstStyle/>
          <a:p>
            <a:pPr algn="l">
              <a:lnSpc>
                <a:spcPct val="100000"/>
              </a:lnSpc>
              <a:spcAft>
                <a:spcPts val="0"/>
              </a:spcAft>
            </a:pPr>
            <a:r>
              <a:rPr sz="1200" b="1" i="0" spc="50" dirty="0">
                <a:solidFill>
                  <a:srgbClr val="9AD5FF"/>
                </a:solidFill>
                <a:latin typeface="Georgia"/>
              </a:rPr>
              <a:t>TIMELINE</a:t>
            </a:r>
          </a:p>
        </p:txBody>
      </p:sp>
      <p:sp>
        <p:nvSpPr>
          <p:cNvPr id="87" name="TextBox 86"/>
          <p:cNvSpPr txBox="1"/>
          <p:nvPr/>
        </p:nvSpPr>
        <p:spPr>
          <a:xfrm>
            <a:off x="4951476" y="2004194"/>
            <a:ext cx="2286000" cy="372859"/>
          </a:xfrm>
          <a:prstGeom prst="rect">
            <a:avLst/>
          </a:prstGeom>
          <a:noFill/>
        </p:spPr>
        <p:txBody>
          <a:bodyPr wrap="square" lIns="0" tIns="0" rIns="0" bIns="0" anchor="t">
            <a:spAutoFit/>
          </a:bodyPr>
          <a:lstStyle/>
          <a:p>
            <a:pPr algn="l">
              <a:lnSpc>
                <a:spcPct val="125000"/>
              </a:lnSpc>
              <a:spcAft>
                <a:spcPts val="0"/>
              </a:spcAft>
            </a:pPr>
            <a:r>
              <a:rPr sz="950" b="0" i="0" dirty="0" err="1">
                <a:solidFill>
                  <a:srgbClr val="C3D2EA"/>
                </a:solidFill>
                <a:latin typeface="Meiryo UI" panose="020B0604030504040204" pitchFamily="50" charset="-128"/>
              </a:rPr>
              <a:t>発売日順・時系列順の2つの年表で全12作品を整理</a:t>
            </a:r>
            <a:endParaRPr sz="950" b="0" i="0" dirty="0">
              <a:solidFill>
                <a:srgbClr val="C3D2EA"/>
              </a:solidFill>
              <a:latin typeface="Meiryo UI" panose="020B0604030504040204" pitchFamily="50" charset="-128"/>
            </a:endParaRPr>
          </a:p>
        </p:txBody>
      </p:sp>
      <p:sp>
        <p:nvSpPr>
          <p:cNvPr id="88" name="Rounded Rectangle 87"/>
          <p:cNvSpPr/>
          <p:nvPr/>
        </p:nvSpPr>
        <p:spPr>
          <a:xfrm>
            <a:off x="7877556" y="1508760"/>
            <a:ext cx="265176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7715953" y="1381148"/>
            <a:ext cx="365760" cy="365760"/>
          </a:xfrm>
          <a:prstGeom prst="ellipse">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7715953" y="1376740"/>
            <a:ext cx="365760" cy="365760"/>
          </a:xfrm>
          <a:prstGeom prst="rect">
            <a:avLst/>
          </a:prstGeom>
          <a:noFill/>
        </p:spPr>
        <p:txBody>
          <a:bodyPr wrap="square" lIns="0" tIns="0" rIns="0" bIns="0" anchor="ctr">
            <a:spAutoFit/>
          </a:bodyPr>
          <a:lstStyle/>
          <a:p>
            <a:pPr algn="ctr">
              <a:lnSpc>
                <a:spcPct val="100000"/>
              </a:lnSpc>
              <a:spcAft>
                <a:spcPts val="0"/>
              </a:spcAft>
            </a:pPr>
            <a:r>
              <a:rPr sz="1400" b="1" i="0">
                <a:solidFill>
                  <a:srgbClr val="EEF4FF"/>
                </a:solidFill>
                <a:latin typeface="Georgia"/>
              </a:rPr>
              <a:t>3</a:t>
            </a:r>
          </a:p>
        </p:txBody>
      </p:sp>
      <p:sp>
        <p:nvSpPr>
          <p:cNvPr id="91" name="TextBox 90"/>
          <p:cNvSpPr txBox="1"/>
          <p:nvPr/>
        </p:nvSpPr>
        <p:spPr>
          <a:xfrm>
            <a:off x="8037118" y="1629959"/>
            <a:ext cx="2286000" cy="274320"/>
          </a:xfrm>
          <a:prstGeom prst="rect">
            <a:avLst/>
          </a:prstGeom>
          <a:noFill/>
        </p:spPr>
        <p:txBody>
          <a:bodyPr wrap="square" lIns="0" tIns="0" rIns="0" bIns="0" anchor="t">
            <a:spAutoFit/>
          </a:bodyPr>
          <a:lstStyle/>
          <a:p>
            <a:pPr algn="l">
              <a:lnSpc>
                <a:spcPct val="100000"/>
              </a:lnSpc>
              <a:spcAft>
                <a:spcPts val="0"/>
              </a:spcAft>
            </a:pPr>
            <a:r>
              <a:rPr sz="1200" b="1" i="0" spc="50" dirty="0">
                <a:solidFill>
                  <a:srgbClr val="9AD5FF"/>
                </a:solidFill>
                <a:latin typeface="Georgia"/>
              </a:rPr>
              <a:t>MEMORY THEMES</a:t>
            </a:r>
          </a:p>
        </p:txBody>
      </p:sp>
      <p:sp>
        <p:nvSpPr>
          <p:cNvPr id="92" name="TextBox 91"/>
          <p:cNvSpPr txBox="1"/>
          <p:nvPr/>
        </p:nvSpPr>
        <p:spPr>
          <a:xfrm>
            <a:off x="8033340" y="1957220"/>
            <a:ext cx="2286000" cy="161263"/>
          </a:xfrm>
          <a:prstGeom prst="rect">
            <a:avLst/>
          </a:prstGeom>
          <a:noFill/>
        </p:spPr>
        <p:txBody>
          <a:bodyPr wrap="square" lIns="0" tIns="0" rIns="0" bIns="0" anchor="t">
            <a:spAutoFit/>
          </a:bodyPr>
          <a:lstStyle/>
          <a:p>
            <a:pPr algn="l">
              <a:lnSpc>
                <a:spcPct val="125000"/>
              </a:lnSpc>
              <a:spcAft>
                <a:spcPts val="0"/>
              </a:spcAft>
            </a:pPr>
            <a:r>
              <a:rPr sz="950" b="0" i="0" dirty="0" err="1">
                <a:solidFill>
                  <a:srgbClr val="C3D2EA"/>
                </a:solidFill>
                <a:latin typeface="Meiryo UI" panose="020B0604030504040204" pitchFamily="50" charset="-128"/>
              </a:rPr>
              <a:t>代表曲を場面の解説とともに紹介</a:t>
            </a:r>
            <a:endParaRPr sz="950" b="0" i="0" dirty="0">
              <a:solidFill>
                <a:srgbClr val="C3D2EA"/>
              </a:solidFill>
              <a:latin typeface="Meiryo UI" panose="020B0604030504040204" pitchFamily="50" charset="-128"/>
            </a:endParaRPr>
          </a:p>
        </p:txBody>
      </p:sp>
      <p:cxnSp>
        <p:nvCxnSpPr>
          <p:cNvPr id="93" name="Connector 92"/>
          <p:cNvCxnSpPr/>
          <p:nvPr/>
        </p:nvCxnSpPr>
        <p:spPr>
          <a:xfrm>
            <a:off x="822960" y="6355080"/>
            <a:ext cx="320040" cy="0"/>
          </a:xfrm>
          <a:prstGeom prst="line">
            <a:avLst/>
          </a:prstGeom>
          <a:ln w="25400">
            <a:solidFill>
              <a:srgbClr val="2A6BB5"/>
            </a:solidFill>
          </a:ln>
          <a:effectLst/>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234440" y="6217920"/>
            <a:ext cx="1712743" cy="138499"/>
          </a:xfrm>
          <a:prstGeom prst="rect">
            <a:avLst/>
          </a:prstGeom>
          <a:noFill/>
        </p:spPr>
        <p:txBody>
          <a:bodyPr wrap="square" lIns="0" tIns="0" rIns="0" bIns="0" anchor="t">
            <a:spAutoFit/>
          </a:bodyPr>
          <a:lstStyle/>
          <a:p>
            <a:pPr algn="l">
              <a:lnSpc>
                <a:spcPct val="100000"/>
              </a:lnSpc>
              <a:spcAft>
                <a:spcPts val="0"/>
              </a:spcAft>
            </a:pPr>
            <a:r>
              <a:rPr sz="900" b="0" i="0" dirty="0" err="1">
                <a:solidFill>
                  <a:srgbClr val="7D8FAE"/>
                </a:solidFill>
                <a:latin typeface="Meiryo UI" panose="020B0604030504040204" pitchFamily="50" charset="-128"/>
              </a:rPr>
              <a:t>常時アクセス可能なナビゲーション</a:t>
            </a:r>
            <a:endParaRPr sz="900" b="0" i="0" dirty="0">
              <a:solidFill>
                <a:srgbClr val="7D8FAE"/>
              </a:solidFill>
              <a:latin typeface="Meiryo UI" panose="020B0604030504040204" pitchFamily="50" charset="-128"/>
            </a:endParaRPr>
          </a:p>
        </p:txBody>
      </p:sp>
      <p:sp>
        <p:nvSpPr>
          <p:cNvPr id="105" name="Rounded Rectangle 77"/>
          <p:cNvSpPr/>
          <p:nvPr/>
        </p:nvSpPr>
        <p:spPr>
          <a:xfrm>
            <a:off x="1659636" y="4709160"/>
            <a:ext cx="265176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78"/>
          <p:cNvSpPr/>
          <p:nvPr/>
        </p:nvSpPr>
        <p:spPr>
          <a:xfrm>
            <a:off x="1481154" y="4546357"/>
            <a:ext cx="365760" cy="365760"/>
          </a:xfrm>
          <a:prstGeom prst="ellipse">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7" name="TextBox 79"/>
          <p:cNvSpPr txBox="1"/>
          <p:nvPr/>
        </p:nvSpPr>
        <p:spPr>
          <a:xfrm>
            <a:off x="1495474" y="4536694"/>
            <a:ext cx="365760" cy="365760"/>
          </a:xfrm>
          <a:prstGeom prst="rect">
            <a:avLst/>
          </a:prstGeom>
          <a:noFill/>
        </p:spPr>
        <p:txBody>
          <a:bodyPr wrap="square" lIns="0" tIns="0" rIns="0" bIns="0" anchor="ctr">
            <a:spAutoFit/>
          </a:bodyPr>
          <a:lstStyle/>
          <a:p>
            <a:pPr algn="ctr">
              <a:lnSpc>
                <a:spcPct val="100000"/>
              </a:lnSpc>
              <a:spcAft>
                <a:spcPts val="0"/>
              </a:spcAft>
            </a:pPr>
            <a:r>
              <a:rPr sz="1400" b="1" i="0" dirty="0">
                <a:solidFill>
                  <a:srgbClr val="EEF4FF"/>
                </a:solidFill>
                <a:latin typeface="Georgia"/>
              </a:rPr>
              <a:t>4</a:t>
            </a:r>
          </a:p>
        </p:txBody>
      </p:sp>
      <p:sp>
        <p:nvSpPr>
          <p:cNvPr id="108" name="TextBox 80"/>
          <p:cNvSpPr txBox="1"/>
          <p:nvPr/>
        </p:nvSpPr>
        <p:spPr>
          <a:xfrm>
            <a:off x="1783295" y="4818811"/>
            <a:ext cx="2286000" cy="274320"/>
          </a:xfrm>
          <a:prstGeom prst="rect">
            <a:avLst/>
          </a:prstGeom>
          <a:noFill/>
        </p:spPr>
        <p:txBody>
          <a:bodyPr wrap="square" lIns="0" tIns="0" rIns="0" bIns="0" anchor="t">
            <a:spAutoFit/>
          </a:bodyPr>
          <a:lstStyle/>
          <a:p>
            <a:pPr algn="l">
              <a:lnSpc>
                <a:spcPct val="100000"/>
              </a:lnSpc>
              <a:spcAft>
                <a:spcPts val="0"/>
              </a:spcAft>
            </a:pPr>
            <a:r>
              <a:rPr sz="1200" b="1" i="0" spc="50" dirty="0">
                <a:solidFill>
                  <a:srgbClr val="9AD5FF"/>
                </a:solidFill>
                <a:latin typeface="Georgia"/>
              </a:rPr>
              <a:t>MEMORY OF SUMMER</a:t>
            </a:r>
          </a:p>
        </p:txBody>
      </p:sp>
      <p:sp>
        <p:nvSpPr>
          <p:cNvPr id="109" name="TextBox 81"/>
          <p:cNvSpPr txBox="1"/>
          <p:nvPr/>
        </p:nvSpPr>
        <p:spPr>
          <a:xfrm>
            <a:off x="1846914" y="5110827"/>
            <a:ext cx="2286000" cy="186718"/>
          </a:xfrm>
          <a:prstGeom prst="rect">
            <a:avLst/>
          </a:prstGeom>
          <a:noFill/>
        </p:spPr>
        <p:txBody>
          <a:bodyPr wrap="square" lIns="0" tIns="0" rIns="0" bIns="0" anchor="t">
            <a:spAutoFit/>
          </a:bodyPr>
          <a:lstStyle/>
          <a:p>
            <a:pPr algn="l">
              <a:lnSpc>
                <a:spcPct val="125000"/>
              </a:lnSpc>
              <a:spcAft>
                <a:spcPts val="0"/>
              </a:spcAft>
            </a:pPr>
            <a:r>
              <a:rPr sz="950" b="0" i="0" dirty="0" err="1">
                <a:solidFill>
                  <a:srgbClr val="C3D2EA"/>
                </a:solidFill>
                <a:latin typeface="Meiryo UI" panose="020B0604030504040204" pitchFamily="50" charset="-128"/>
              </a:rPr>
              <a:t>『II FINAL MIX』特集。ロクサスの七日間から作品の魅力へ</a:t>
            </a:r>
            <a:endParaRPr sz="1100" b="0" i="0" dirty="0">
              <a:solidFill>
                <a:srgbClr val="C3D2EA"/>
              </a:solidFill>
              <a:latin typeface="Meiryo UI" panose="020B0604030504040204" pitchFamily="50" charset="-128"/>
            </a:endParaRPr>
          </a:p>
        </p:txBody>
      </p:sp>
      <p:sp>
        <p:nvSpPr>
          <p:cNvPr id="110" name="Rounded Rectangle 82"/>
          <p:cNvSpPr/>
          <p:nvPr/>
        </p:nvSpPr>
        <p:spPr>
          <a:xfrm>
            <a:off x="4768596" y="4709160"/>
            <a:ext cx="265176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83"/>
          <p:cNvSpPr/>
          <p:nvPr/>
        </p:nvSpPr>
        <p:spPr>
          <a:xfrm>
            <a:off x="4594640" y="4609731"/>
            <a:ext cx="365760" cy="365760"/>
          </a:xfrm>
          <a:prstGeom prst="ellipse">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84"/>
          <p:cNvSpPr txBox="1"/>
          <p:nvPr/>
        </p:nvSpPr>
        <p:spPr>
          <a:xfrm>
            <a:off x="4613113" y="4602066"/>
            <a:ext cx="365760" cy="365760"/>
          </a:xfrm>
          <a:prstGeom prst="rect">
            <a:avLst/>
          </a:prstGeom>
          <a:noFill/>
        </p:spPr>
        <p:txBody>
          <a:bodyPr wrap="square" lIns="0" tIns="0" rIns="0" bIns="0" anchor="ctr">
            <a:spAutoFit/>
          </a:bodyPr>
          <a:lstStyle/>
          <a:p>
            <a:pPr algn="ctr">
              <a:lnSpc>
                <a:spcPct val="100000"/>
              </a:lnSpc>
              <a:spcAft>
                <a:spcPts val="0"/>
              </a:spcAft>
            </a:pPr>
            <a:r>
              <a:rPr sz="1400" b="1" i="0" dirty="0">
                <a:solidFill>
                  <a:srgbClr val="EEF4FF"/>
                </a:solidFill>
                <a:latin typeface="Georgia"/>
              </a:rPr>
              <a:t>5</a:t>
            </a:r>
          </a:p>
        </p:txBody>
      </p:sp>
      <p:sp>
        <p:nvSpPr>
          <p:cNvPr id="113" name="TextBox 85"/>
          <p:cNvSpPr txBox="1"/>
          <p:nvPr/>
        </p:nvSpPr>
        <p:spPr>
          <a:xfrm>
            <a:off x="4943661" y="4820545"/>
            <a:ext cx="2286000" cy="274320"/>
          </a:xfrm>
          <a:prstGeom prst="rect">
            <a:avLst/>
          </a:prstGeom>
          <a:noFill/>
        </p:spPr>
        <p:txBody>
          <a:bodyPr wrap="square" lIns="0" tIns="0" rIns="0" bIns="0" anchor="t">
            <a:spAutoFit/>
          </a:bodyPr>
          <a:lstStyle/>
          <a:p>
            <a:pPr algn="l">
              <a:lnSpc>
                <a:spcPct val="100000"/>
              </a:lnSpc>
              <a:spcAft>
                <a:spcPts val="0"/>
              </a:spcAft>
            </a:pPr>
            <a:r>
              <a:rPr sz="1200" b="1" i="0" spc="50" dirty="0">
                <a:solidFill>
                  <a:srgbClr val="9AD5FF"/>
                </a:solidFill>
                <a:latin typeface="Georgia"/>
              </a:rPr>
              <a:t>MEMORY CROSSOVER</a:t>
            </a:r>
          </a:p>
        </p:txBody>
      </p:sp>
      <p:sp>
        <p:nvSpPr>
          <p:cNvPr id="114" name="TextBox 86"/>
          <p:cNvSpPr txBox="1"/>
          <p:nvPr/>
        </p:nvSpPr>
        <p:spPr>
          <a:xfrm>
            <a:off x="4951476" y="5204594"/>
            <a:ext cx="2286000" cy="161263"/>
          </a:xfrm>
          <a:prstGeom prst="rect">
            <a:avLst/>
          </a:prstGeom>
          <a:noFill/>
        </p:spPr>
        <p:txBody>
          <a:bodyPr wrap="square" lIns="0" tIns="0" rIns="0" bIns="0" anchor="t">
            <a:spAutoFit/>
          </a:bodyPr>
          <a:lstStyle/>
          <a:p>
            <a:pPr algn="l">
              <a:lnSpc>
                <a:spcPct val="125000"/>
              </a:lnSpc>
              <a:spcAft>
                <a:spcPts val="0"/>
              </a:spcAft>
            </a:pPr>
            <a:r>
              <a:rPr lang="ja-JP" altLang="en-US" sz="950" dirty="0">
                <a:solidFill>
                  <a:srgbClr val="C3D2EA"/>
                </a:solidFill>
                <a:latin typeface="Meiryo UI" panose="020B0604030504040204" pitchFamily="50" charset="-128"/>
                <a:ea typeface="Meiryo UI" panose="020B0604030504040204" pitchFamily="50" charset="-128"/>
              </a:rPr>
              <a:t>コラボ作品の紹介</a:t>
            </a:r>
            <a:endParaRPr sz="950" b="0" i="0" dirty="0">
              <a:solidFill>
                <a:srgbClr val="C3D2EA"/>
              </a:solidFill>
              <a:latin typeface="Meiryo UI" panose="020B0604030504040204" pitchFamily="50" charset="-128"/>
              <a:ea typeface="Meiryo UI" panose="020B0604030504040204" pitchFamily="50" charset="-128"/>
            </a:endParaRPr>
          </a:p>
        </p:txBody>
      </p:sp>
      <p:sp>
        <p:nvSpPr>
          <p:cNvPr id="115" name="Rounded Rectangle 87"/>
          <p:cNvSpPr/>
          <p:nvPr/>
        </p:nvSpPr>
        <p:spPr>
          <a:xfrm>
            <a:off x="7877556" y="4709160"/>
            <a:ext cx="265176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88"/>
          <p:cNvSpPr/>
          <p:nvPr/>
        </p:nvSpPr>
        <p:spPr>
          <a:xfrm>
            <a:off x="7715953" y="4581548"/>
            <a:ext cx="365760" cy="365760"/>
          </a:xfrm>
          <a:prstGeom prst="ellipse">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89"/>
          <p:cNvSpPr txBox="1"/>
          <p:nvPr/>
        </p:nvSpPr>
        <p:spPr>
          <a:xfrm>
            <a:off x="7715953" y="4577140"/>
            <a:ext cx="365760" cy="365760"/>
          </a:xfrm>
          <a:prstGeom prst="rect">
            <a:avLst/>
          </a:prstGeom>
          <a:noFill/>
        </p:spPr>
        <p:txBody>
          <a:bodyPr wrap="square" lIns="0" tIns="0" rIns="0" bIns="0" anchor="ctr">
            <a:spAutoFit/>
          </a:bodyPr>
          <a:lstStyle/>
          <a:p>
            <a:pPr algn="ctr">
              <a:lnSpc>
                <a:spcPct val="100000"/>
              </a:lnSpc>
              <a:spcAft>
                <a:spcPts val="0"/>
              </a:spcAft>
            </a:pPr>
            <a:r>
              <a:rPr sz="1400" b="1" i="0" dirty="0">
                <a:solidFill>
                  <a:srgbClr val="EEF4FF"/>
                </a:solidFill>
                <a:latin typeface="Georgia"/>
              </a:rPr>
              <a:t>6</a:t>
            </a:r>
          </a:p>
        </p:txBody>
      </p:sp>
      <p:sp>
        <p:nvSpPr>
          <p:cNvPr id="118" name="TextBox 90"/>
          <p:cNvSpPr txBox="1"/>
          <p:nvPr/>
        </p:nvSpPr>
        <p:spPr>
          <a:xfrm>
            <a:off x="8037118" y="4830359"/>
            <a:ext cx="2286000" cy="184666"/>
          </a:xfrm>
          <a:prstGeom prst="rect">
            <a:avLst/>
          </a:prstGeom>
          <a:noFill/>
        </p:spPr>
        <p:txBody>
          <a:bodyPr wrap="square" lIns="0" tIns="0" rIns="0" bIns="0" anchor="t">
            <a:spAutoFit/>
          </a:bodyPr>
          <a:lstStyle/>
          <a:p>
            <a:pPr algn="l">
              <a:lnSpc>
                <a:spcPct val="100000"/>
              </a:lnSpc>
              <a:spcAft>
                <a:spcPts val="0"/>
              </a:spcAft>
            </a:pPr>
            <a:r>
              <a:rPr sz="1200" b="1" i="0" spc="50" dirty="0">
                <a:solidFill>
                  <a:srgbClr val="FFC000"/>
                </a:solidFill>
                <a:latin typeface="Georgia"/>
              </a:rPr>
              <a:t>SECRET MEMORY</a:t>
            </a:r>
          </a:p>
        </p:txBody>
      </p:sp>
      <p:sp>
        <p:nvSpPr>
          <p:cNvPr id="119" name="TextBox 91"/>
          <p:cNvSpPr txBox="1"/>
          <p:nvPr/>
        </p:nvSpPr>
        <p:spPr>
          <a:xfrm>
            <a:off x="8033340" y="5157620"/>
            <a:ext cx="2286000" cy="344005"/>
          </a:xfrm>
          <a:prstGeom prst="rect">
            <a:avLst/>
          </a:prstGeom>
          <a:noFill/>
        </p:spPr>
        <p:txBody>
          <a:bodyPr wrap="square" lIns="0" tIns="0" rIns="0" bIns="0" anchor="t">
            <a:spAutoFit/>
          </a:bodyPr>
          <a:lstStyle/>
          <a:p>
            <a:pPr algn="l">
              <a:lnSpc>
                <a:spcPct val="125000"/>
              </a:lnSpc>
              <a:spcAft>
                <a:spcPts val="0"/>
              </a:spcAft>
            </a:pPr>
            <a:r>
              <a:rPr sz="950" b="0" i="0" dirty="0">
                <a:solidFill>
                  <a:srgbClr val="C3D2EA"/>
                </a:solidFill>
                <a:latin typeface="Meiryo UI" panose="020B0604030504040204" pitchFamily="50" charset="-128"/>
              </a:rPr>
              <a:t>記憶の欠片を8個集めると解放される特別な記録</a:t>
            </a:r>
          </a:p>
        </p:txBody>
      </p:sp>
      <p:sp>
        <p:nvSpPr>
          <p:cNvPr id="126" name="TextBox 149"/>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27" name="TextBox 150"/>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05 / 14</a:t>
            </a:r>
          </a:p>
        </p:txBody>
      </p:sp>
      <p:cxnSp>
        <p:nvCxnSpPr>
          <p:cNvPr id="71" name="Connector 92">
            <a:extLst>
              <a:ext uri="{FF2B5EF4-FFF2-40B4-BE49-F238E27FC236}">
                <a16:creationId xmlns:a16="http://schemas.microsoft.com/office/drawing/2014/main" id="{A430D17A-744E-7822-591B-4534DB74E95A}"/>
              </a:ext>
            </a:extLst>
          </p:cNvPr>
          <p:cNvCxnSpPr/>
          <p:nvPr/>
        </p:nvCxnSpPr>
        <p:spPr>
          <a:xfrm>
            <a:off x="3155626" y="6362982"/>
            <a:ext cx="320040" cy="0"/>
          </a:xfrm>
          <a:prstGeom prst="line">
            <a:avLst/>
          </a:prstGeom>
          <a:ln w="25400">
            <a:solidFill>
              <a:srgbClr val="FFC000"/>
            </a:solidFill>
          </a:ln>
          <a:effectLst/>
        </p:spPr>
        <p:style>
          <a:lnRef idx="2">
            <a:schemeClr val="accent1"/>
          </a:lnRef>
          <a:fillRef idx="0">
            <a:schemeClr val="accent1"/>
          </a:fillRef>
          <a:effectRef idx="1">
            <a:schemeClr val="accent1"/>
          </a:effectRef>
          <a:fontRef idx="minor">
            <a:schemeClr val="tx1"/>
          </a:fontRef>
        </p:style>
      </p:cxnSp>
      <p:sp>
        <p:nvSpPr>
          <p:cNvPr id="96" name="TextBox 93">
            <a:extLst>
              <a:ext uri="{FF2B5EF4-FFF2-40B4-BE49-F238E27FC236}">
                <a16:creationId xmlns:a16="http://schemas.microsoft.com/office/drawing/2014/main" id="{36F8BC40-4DB1-3FCB-F353-196613F9B302}"/>
              </a:ext>
            </a:extLst>
          </p:cNvPr>
          <p:cNvSpPr txBox="1"/>
          <p:nvPr/>
        </p:nvSpPr>
        <p:spPr>
          <a:xfrm>
            <a:off x="3534590" y="6224483"/>
            <a:ext cx="1712743" cy="276999"/>
          </a:xfrm>
          <a:prstGeom prst="rect">
            <a:avLst/>
          </a:prstGeom>
          <a:noFill/>
        </p:spPr>
        <p:txBody>
          <a:bodyPr wrap="square" lIns="0" tIns="0" rIns="0" bIns="0" anchor="t">
            <a:spAutoFit/>
          </a:bodyPr>
          <a:lstStyle/>
          <a:p>
            <a:pPr algn="l">
              <a:lnSpc>
                <a:spcPct val="100000"/>
              </a:lnSpc>
              <a:spcAft>
                <a:spcPts val="0"/>
              </a:spcAft>
            </a:pPr>
            <a:r>
              <a:rPr lang="ja-JP" altLang="en-US" sz="900" dirty="0">
                <a:solidFill>
                  <a:srgbClr val="7D8FAE"/>
                </a:solidFill>
                <a:latin typeface="Meiryo UI" panose="020B0604030504040204" pitchFamily="50" charset="-128"/>
              </a:rPr>
              <a:t>条件クリア後</a:t>
            </a:r>
            <a:r>
              <a:rPr sz="900" b="0" i="0" dirty="0" err="1">
                <a:solidFill>
                  <a:srgbClr val="7D8FAE"/>
                </a:solidFill>
                <a:latin typeface="Meiryo UI" panose="020B0604030504040204" pitchFamily="50" charset="-128"/>
              </a:rPr>
              <a:t>アクセス可能な</a:t>
            </a:r>
            <a:endParaRPr lang="en-US" sz="900" b="0" i="0" dirty="0">
              <a:solidFill>
                <a:srgbClr val="7D8FAE"/>
              </a:solidFill>
              <a:latin typeface="Meiryo UI" panose="020B0604030504040204" pitchFamily="50" charset="-128"/>
            </a:endParaRPr>
          </a:p>
          <a:p>
            <a:pPr algn="l">
              <a:lnSpc>
                <a:spcPct val="100000"/>
              </a:lnSpc>
              <a:spcAft>
                <a:spcPts val="0"/>
              </a:spcAft>
            </a:pPr>
            <a:r>
              <a:rPr sz="900" b="0" i="0" dirty="0" err="1">
                <a:solidFill>
                  <a:srgbClr val="7D8FAE"/>
                </a:solidFill>
                <a:latin typeface="Meiryo UI" panose="020B0604030504040204" pitchFamily="50" charset="-128"/>
              </a:rPr>
              <a:t>ナビゲーション</a:t>
            </a:r>
            <a:endParaRPr sz="900" b="0" i="0" dirty="0">
              <a:solidFill>
                <a:srgbClr val="7D8FAE"/>
              </a:solidFill>
              <a:latin typeface="Meiryo UI"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rgbClr val="03060D"/>
        </a:solidFill>
        <a:effectLst/>
      </p:bgPr>
    </p:bg>
    <p:spTree>
      <p:nvGrpSpPr>
        <p:cNvPr id="1" name=""/>
        <p:cNvGrpSpPr/>
        <p:nvPr/>
      </p:nvGrpSpPr>
      <p:grpSpPr>
        <a:xfrm>
          <a:off x="0" y="0"/>
          <a:ext cx="0" cy="0"/>
          <a:chOff x="0" y="0"/>
          <a:chExt cx="0" cy="0"/>
        </a:xfrm>
      </p:grpSpPr>
      <p:sp>
        <p:nvSpPr>
          <p:cNvPr id="152" name="四角形: 角を丸くする 151">
            <a:extLst>
              <a:ext uri="{FF2B5EF4-FFF2-40B4-BE49-F238E27FC236}">
                <a16:creationId xmlns:a16="http://schemas.microsoft.com/office/drawing/2014/main" id="{8DE88A74-1B07-1EB6-D3FD-E7DEEA0AA0B7}"/>
              </a:ext>
            </a:extLst>
          </p:cNvPr>
          <p:cNvSpPr/>
          <p:nvPr/>
        </p:nvSpPr>
        <p:spPr>
          <a:xfrm>
            <a:off x="535105" y="1494786"/>
            <a:ext cx="5951370" cy="445877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677597" y="4312075"/>
            <a:ext cx="13496543" cy="13496543"/>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474720" y="4480560"/>
            <a:ext cx="13167360" cy="1316736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631289" y="6323990"/>
            <a:ext cx="9480499" cy="9480499"/>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 y="8035747"/>
            <a:ext cx="6056985" cy="6056985"/>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906922" y="12223194"/>
            <a:ext cx="2919613" cy="120934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8629025" y="13235026"/>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4267914" y="13862202"/>
            <a:ext cx="1209343" cy="29196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5279746" y="16584305"/>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740662" y="13862202"/>
            <a:ext cx="1209343" cy="29196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543152" y="16584305"/>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2608615" y="12223194"/>
            <a:ext cx="2919612" cy="120934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2806125" y="13235026"/>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2608615" y="8695942"/>
            <a:ext cx="2919612" cy="120934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2806125" y="8498432"/>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740662" y="5346664"/>
            <a:ext cx="1209343" cy="29196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543152" y="5149154"/>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4267914" y="5346664"/>
            <a:ext cx="1209343" cy="29196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5279746" y="5149154"/>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5906922" y="8695942"/>
            <a:ext cx="2919613" cy="120934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8629025" y="8498432"/>
            <a:ext cx="395020" cy="395020"/>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11078438" y="5661495"/>
            <a:ext cx="92567" cy="92567"/>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4115506" y="4693186"/>
            <a:ext cx="97355" cy="97355"/>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301539" y="5805720"/>
            <a:ext cx="53280" cy="5328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105128" y="4274695"/>
            <a:ext cx="100912" cy="100912"/>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784892" y="2294751"/>
            <a:ext cx="85496" cy="85496"/>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Diamond 37"/>
          <p:cNvSpPr/>
          <p:nvPr/>
        </p:nvSpPr>
        <p:spPr>
          <a:xfrm>
            <a:off x="4988884" y="3177115"/>
            <a:ext cx="80049" cy="80049"/>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2445568" y="3803437"/>
            <a:ext cx="52138" cy="52138"/>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9328467" y="5393179"/>
            <a:ext cx="61867" cy="61867"/>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iamond 40"/>
          <p:cNvSpPr/>
          <p:nvPr/>
        </p:nvSpPr>
        <p:spPr>
          <a:xfrm>
            <a:off x="10673898" y="2463651"/>
            <a:ext cx="109187" cy="109187"/>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9759373" y="571015"/>
            <a:ext cx="88450" cy="8845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515875" y="4196309"/>
            <a:ext cx="104209" cy="104209"/>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441282" y="3522241"/>
            <a:ext cx="48271" cy="48271"/>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Diamond 44"/>
          <p:cNvSpPr/>
          <p:nvPr/>
        </p:nvSpPr>
        <p:spPr>
          <a:xfrm>
            <a:off x="2062535" y="1301826"/>
            <a:ext cx="85714" cy="85714"/>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Diamond 45"/>
          <p:cNvSpPr/>
          <p:nvPr/>
        </p:nvSpPr>
        <p:spPr>
          <a:xfrm>
            <a:off x="2161171" y="380050"/>
            <a:ext cx="97792" cy="97792"/>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1257007" y="4124717"/>
            <a:ext cx="91650" cy="9165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iamond 47"/>
          <p:cNvSpPr/>
          <p:nvPr/>
        </p:nvSpPr>
        <p:spPr>
          <a:xfrm>
            <a:off x="6513954" y="3595162"/>
            <a:ext cx="91778" cy="91778"/>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780212" y="4570999"/>
            <a:ext cx="100650" cy="10065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9747181" y="3500696"/>
            <a:ext cx="79154" cy="79154"/>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1" name="Connector 50"/>
          <p:cNvCxnSpPr/>
          <p:nvPr/>
        </p:nvCxnSpPr>
        <p:spPr>
          <a:xfrm>
            <a:off x="10790517" y="856532"/>
            <a:ext cx="218644"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0991900" y="839271"/>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3" name="Connector 52"/>
          <p:cNvCxnSpPr/>
          <p:nvPr/>
        </p:nvCxnSpPr>
        <p:spPr>
          <a:xfrm>
            <a:off x="10779528" y="890352"/>
            <a:ext cx="176887" cy="12851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10939153" y="1001606"/>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5" name="Connector 54"/>
          <p:cNvCxnSpPr/>
          <p:nvPr/>
        </p:nvCxnSpPr>
        <p:spPr>
          <a:xfrm>
            <a:off x="10750759" y="911254"/>
            <a:ext cx="67565" cy="207943"/>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10801063" y="1101935"/>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7" name="Connector 56"/>
          <p:cNvCxnSpPr/>
          <p:nvPr/>
        </p:nvCxnSpPr>
        <p:spPr>
          <a:xfrm flipH="1">
            <a:off x="10647634" y="911254"/>
            <a:ext cx="67565" cy="207943"/>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10630373" y="1101935"/>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9" name="Connector 58"/>
          <p:cNvCxnSpPr/>
          <p:nvPr/>
        </p:nvCxnSpPr>
        <p:spPr>
          <a:xfrm flipH="1">
            <a:off x="10509543" y="890352"/>
            <a:ext cx="176887" cy="12851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0492282" y="1001606"/>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1" name="Connector 60"/>
          <p:cNvCxnSpPr/>
          <p:nvPr/>
        </p:nvCxnSpPr>
        <p:spPr>
          <a:xfrm flipH="1">
            <a:off x="10456797" y="856532"/>
            <a:ext cx="218644"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10439536" y="839271"/>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3" name="Connector 62"/>
          <p:cNvCxnSpPr/>
          <p:nvPr/>
        </p:nvCxnSpPr>
        <p:spPr>
          <a:xfrm flipH="1" flipV="1">
            <a:off x="10509543" y="694196"/>
            <a:ext cx="176887" cy="12851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10492282" y="676935"/>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5" name="Connector 64"/>
          <p:cNvCxnSpPr/>
          <p:nvPr/>
        </p:nvCxnSpPr>
        <p:spPr>
          <a:xfrm flipH="1" flipV="1">
            <a:off x="10647634" y="593867"/>
            <a:ext cx="67565" cy="207943"/>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10630373" y="576606"/>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7" name="Connector 66"/>
          <p:cNvCxnSpPr/>
          <p:nvPr/>
        </p:nvCxnSpPr>
        <p:spPr>
          <a:xfrm flipV="1">
            <a:off x="10750759" y="593867"/>
            <a:ext cx="67565" cy="207943"/>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10801063" y="576606"/>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9" name="Connector 68"/>
          <p:cNvCxnSpPr/>
          <p:nvPr/>
        </p:nvCxnSpPr>
        <p:spPr>
          <a:xfrm flipV="1">
            <a:off x="10779528" y="694196"/>
            <a:ext cx="176887" cy="12851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10939153" y="676935"/>
            <a:ext cx="34522" cy="34522"/>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10698456" y="822009"/>
            <a:ext cx="69045" cy="69045"/>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11318076" y="2959186"/>
            <a:ext cx="302274" cy="109918"/>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11331816" y="2880183"/>
            <a:ext cx="54959" cy="103048"/>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Isosceles Triangle 73"/>
          <p:cNvSpPr/>
          <p:nvPr/>
        </p:nvSpPr>
        <p:spPr>
          <a:xfrm>
            <a:off x="11331816" y="2832093"/>
            <a:ext cx="54959" cy="48089"/>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11441734" y="2804614"/>
            <a:ext cx="54959" cy="178616"/>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Isosceles Triangle 75"/>
          <p:cNvSpPr/>
          <p:nvPr/>
        </p:nvSpPr>
        <p:spPr>
          <a:xfrm>
            <a:off x="11441734" y="2756525"/>
            <a:ext cx="54959" cy="48089"/>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11537912" y="2880183"/>
            <a:ext cx="54959" cy="103048"/>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Isosceles Triangle 77"/>
          <p:cNvSpPr/>
          <p:nvPr/>
        </p:nvSpPr>
        <p:spPr>
          <a:xfrm>
            <a:off x="11537912" y="2832093"/>
            <a:ext cx="54959" cy="48089"/>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ounded Rectangle 78"/>
          <p:cNvSpPr/>
          <p:nvPr/>
        </p:nvSpPr>
        <p:spPr>
          <a:xfrm>
            <a:off x="11448604" y="3003840"/>
            <a:ext cx="41219" cy="65263"/>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5-Point Star 79"/>
          <p:cNvSpPr/>
          <p:nvPr/>
        </p:nvSpPr>
        <p:spPr>
          <a:xfrm>
            <a:off x="1680964" y="4492364"/>
            <a:ext cx="659884" cy="659884"/>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9127187" y="4197957"/>
            <a:ext cx="338125" cy="122954"/>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9142556" y="4109583"/>
            <a:ext cx="61477" cy="115270"/>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Isosceles Triangle 82"/>
          <p:cNvSpPr/>
          <p:nvPr/>
        </p:nvSpPr>
        <p:spPr>
          <a:xfrm>
            <a:off x="9142556" y="4055791"/>
            <a:ext cx="61477" cy="5379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9265511" y="4025052"/>
            <a:ext cx="61477" cy="199801"/>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Isosceles Triangle 84"/>
          <p:cNvSpPr/>
          <p:nvPr/>
        </p:nvSpPr>
        <p:spPr>
          <a:xfrm>
            <a:off x="9265511" y="3971259"/>
            <a:ext cx="61477" cy="5379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9373096" y="4109583"/>
            <a:ext cx="61477" cy="115270"/>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Isosceles Triangle 86"/>
          <p:cNvSpPr/>
          <p:nvPr/>
        </p:nvSpPr>
        <p:spPr>
          <a:xfrm>
            <a:off x="9373096" y="4055791"/>
            <a:ext cx="61477" cy="5379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ounded Rectangle 87"/>
          <p:cNvSpPr/>
          <p:nvPr/>
        </p:nvSpPr>
        <p:spPr>
          <a:xfrm>
            <a:off x="9273195" y="4247908"/>
            <a:ext cx="46108" cy="73004"/>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9" name="Connector 88"/>
          <p:cNvCxnSpPr/>
          <p:nvPr/>
        </p:nvCxnSpPr>
        <p:spPr>
          <a:xfrm>
            <a:off x="4413260" y="6102849"/>
            <a:ext cx="224991"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4620488" y="6085086"/>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1" name="Connector 90"/>
          <p:cNvCxnSpPr/>
          <p:nvPr/>
        </p:nvCxnSpPr>
        <p:spPr>
          <a:xfrm>
            <a:off x="4401952" y="6137650"/>
            <a:ext cx="182022" cy="132247"/>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4566211" y="6252134"/>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 name="Connector 92"/>
          <p:cNvCxnSpPr/>
          <p:nvPr/>
        </p:nvCxnSpPr>
        <p:spPr>
          <a:xfrm>
            <a:off x="4372348" y="6159159"/>
            <a:ext cx="69526" cy="213979"/>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4424111" y="6355376"/>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5" name="Connector 94"/>
          <p:cNvCxnSpPr/>
          <p:nvPr/>
        </p:nvCxnSpPr>
        <p:spPr>
          <a:xfrm flipH="1">
            <a:off x="4266229" y="6159159"/>
            <a:ext cx="69526" cy="213979"/>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6" name="Oval 95"/>
          <p:cNvSpPr/>
          <p:nvPr/>
        </p:nvSpPr>
        <p:spPr>
          <a:xfrm>
            <a:off x="4248467" y="6355376"/>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7" name="Connector 96"/>
          <p:cNvCxnSpPr/>
          <p:nvPr/>
        </p:nvCxnSpPr>
        <p:spPr>
          <a:xfrm flipH="1">
            <a:off x="4124129" y="6137650"/>
            <a:ext cx="182022" cy="132247"/>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8" name="Oval 97"/>
          <p:cNvSpPr/>
          <p:nvPr/>
        </p:nvSpPr>
        <p:spPr>
          <a:xfrm>
            <a:off x="4106367" y="6252134"/>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9" name="Connector 98"/>
          <p:cNvCxnSpPr/>
          <p:nvPr/>
        </p:nvCxnSpPr>
        <p:spPr>
          <a:xfrm flipH="1">
            <a:off x="4069852" y="6102849"/>
            <a:ext cx="224991"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4052090" y="6085086"/>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1" name="Connector 100"/>
          <p:cNvCxnSpPr/>
          <p:nvPr/>
        </p:nvCxnSpPr>
        <p:spPr>
          <a:xfrm flipH="1" flipV="1">
            <a:off x="4124129" y="5935800"/>
            <a:ext cx="182022" cy="132247"/>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4106367" y="5918038"/>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3" name="Connector 102"/>
          <p:cNvCxnSpPr/>
          <p:nvPr/>
        </p:nvCxnSpPr>
        <p:spPr>
          <a:xfrm flipH="1" flipV="1">
            <a:off x="4266229" y="5832559"/>
            <a:ext cx="69526" cy="213979"/>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4" name="Oval 103"/>
          <p:cNvSpPr/>
          <p:nvPr/>
        </p:nvSpPr>
        <p:spPr>
          <a:xfrm>
            <a:off x="4248467" y="5814796"/>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5" name="Connector 104"/>
          <p:cNvCxnSpPr/>
          <p:nvPr/>
        </p:nvCxnSpPr>
        <p:spPr>
          <a:xfrm flipV="1">
            <a:off x="4372348" y="5832559"/>
            <a:ext cx="69526" cy="213979"/>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4424111" y="5814796"/>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 name="Connector 106"/>
          <p:cNvCxnSpPr/>
          <p:nvPr/>
        </p:nvCxnSpPr>
        <p:spPr>
          <a:xfrm flipV="1">
            <a:off x="4401952" y="5935800"/>
            <a:ext cx="182022" cy="132247"/>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8" name="Oval 107"/>
          <p:cNvSpPr/>
          <p:nvPr/>
        </p:nvSpPr>
        <p:spPr>
          <a:xfrm>
            <a:off x="4566211" y="5918038"/>
            <a:ext cx="35524" cy="35524"/>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4318527" y="6067324"/>
            <a:ext cx="71049" cy="7104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5-Point Star 109"/>
          <p:cNvSpPr/>
          <p:nvPr/>
        </p:nvSpPr>
        <p:spPr>
          <a:xfrm>
            <a:off x="472899" y="3298550"/>
            <a:ext cx="665721" cy="665721"/>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5-Point Star 110"/>
          <p:cNvSpPr/>
          <p:nvPr/>
        </p:nvSpPr>
        <p:spPr>
          <a:xfrm>
            <a:off x="2515749" y="1910013"/>
            <a:ext cx="492182" cy="492182"/>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MOCKUP</a:t>
            </a:r>
          </a:p>
        </p:txBody>
      </p:sp>
      <p:sp>
        <p:nvSpPr>
          <p:cNvPr id="113" name="Rectangle 112"/>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TOPページ</a:t>
            </a:r>
            <a:r>
              <a:rPr sz="2700" b="1" i="0" dirty="0">
                <a:solidFill>
                  <a:srgbClr val="EEF4FF"/>
                </a:solidFill>
                <a:latin typeface="Meiryo UI" panose="020B0604030504040204" pitchFamily="50" charset="-128"/>
              </a:rPr>
              <a:t> </a:t>
            </a:r>
            <a:r>
              <a:rPr sz="2700" b="1" i="0" dirty="0" err="1">
                <a:solidFill>
                  <a:srgbClr val="EEF4FF"/>
                </a:solidFill>
                <a:latin typeface="Meiryo UI" panose="020B0604030504040204" pitchFamily="50" charset="-128"/>
              </a:rPr>
              <a:t>デザイン</a:t>
            </a:r>
            <a:endParaRPr sz="2700" b="1" i="0" dirty="0">
              <a:solidFill>
                <a:srgbClr val="EEF4FF"/>
              </a:solidFill>
              <a:latin typeface="Meiryo UI" panose="020B0604030504040204" pitchFamily="50" charset="-128"/>
            </a:endParaRPr>
          </a:p>
        </p:txBody>
      </p:sp>
      <p:sp>
        <p:nvSpPr>
          <p:cNvPr id="115" name="Rounded Rectangle 114"/>
          <p:cNvSpPr/>
          <p:nvPr/>
        </p:nvSpPr>
        <p:spPr>
          <a:xfrm>
            <a:off x="822960" y="1737360"/>
            <a:ext cx="5394960" cy="3977639"/>
          </a:xfrm>
          <a:prstGeom prst="roundRect">
            <a:avLst>
              <a:gd name="adj" fmla="val 3000"/>
            </a:avLst>
          </a:prstGeom>
          <a:solidFill>
            <a:srgbClr val="060D1E"/>
          </a:solidFill>
          <a:ln w="12700">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Rectangle 115"/>
          <p:cNvSpPr/>
          <p:nvPr/>
        </p:nvSpPr>
        <p:spPr>
          <a:xfrm>
            <a:off x="822960" y="1737360"/>
            <a:ext cx="5394960" cy="365760"/>
          </a:xfrm>
          <a:prstGeom prst="rect">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987552" y="1865376"/>
            <a:ext cx="100584" cy="100584"/>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1188720" y="1865376"/>
            <a:ext cx="100584" cy="100584"/>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1389888" y="1865376"/>
            <a:ext cx="100584" cy="100584"/>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Rounded Rectangle 119"/>
          <p:cNvSpPr/>
          <p:nvPr/>
        </p:nvSpPr>
        <p:spPr>
          <a:xfrm>
            <a:off x="1737360" y="1819656"/>
            <a:ext cx="4206240" cy="201168"/>
          </a:xfrm>
          <a:prstGeom prst="roundRect">
            <a:avLst>
              <a:gd name="adj" fmla="val 50000"/>
            </a:avLst>
          </a:prstGeom>
          <a:solidFill>
            <a:srgbClr val="111E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1874520" y="1828800"/>
            <a:ext cx="4023360" cy="182880"/>
          </a:xfrm>
          <a:prstGeom prst="rect">
            <a:avLst/>
          </a:prstGeom>
          <a:noFill/>
        </p:spPr>
        <p:txBody>
          <a:bodyPr wrap="square" lIns="0" tIns="0" rIns="0" bIns="0" anchor="t">
            <a:spAutoFit/>
          </a:bodyPr>
          <a:lstStyle/>
          <a:p>
            <a:pPr algn="l">
              <a:lnSpc>
                <a:spcPct val="100000"/>
              </a:lnSpc>
              <a:spcAft>
                <a:spcPts val="0"/>
              </a:spcAft>
            </a:pPr>
            <a:r>
              <a:rPr sz="800" b="0" i="0">
                <a:solidFill>
                  <a:srgbClr val="7D8FAE"/>
                </a:solidFill>
                <a:latin typeface="Georgia"/>
              </a:rPr>
              <a:t>kingdomhearts-memory / index.html</a:t>
            </a:r>
          </a:p>
        </p:txBody>
      </p:sp>
      <p:pic>
        <p:nvPicPr>
          <p:cNvPr id="153" name="Picture 152" descr="top_v2.png"/>
          <p:cNvPicPr>
            <a:picLocks noChangeAspect="1"/>
          </p:cNvPicPr>
          <p:nvPr/>
        </p:nvPicPr>
        <p:blipFill>
          <a:blip r:embed="rId2"/>
          <a:stretch>
            <a:fillRect/>
          </a:stretch>
        </p:blipFill>
        <p:spPr>
          <a:xfrm>
            <a:off x="822960" y="2103120"/>
            <a:ext cx="5394960" cy="3611880"/>
          </a:xfrm>
          <a:prstGeom prst="rect">
            <a:avLst/>
          </a:prstGeom>
        </p:spPr>
      </p:pic>
      <p:sp>
        <p:nvSpPr>
          <p:cNvPr id="137" name="TextBox 136"/>
          <p:cNvSpPr txBox="1"/>
          <p:nvPr/>
        </p:nvSpPr>
        <p:spPr>
          <a:xfrm>
            <a:off x="805525" y="6064990"/>
            <a:ext cx="5394960" cy="157928"/>
          </a:xfrm>
          <a:prstGeom prst="rect">
            <a:avLst/>
          </a:prstGeom>
          <a:noFill/>
        </p:spPr>
        <p:txBody>
          <a:bodyPr wrap="square" lIns="0" tIns="0" rIns="0" bIns="0" anchor="t">
            <a:spAutoFit/>
          </a:bodyPr>
          <a:lstStyle/>
          <a:p>
            <a:pPr algn="ctr">
              <a:lnSpc>
                <a:spcPct val="130000"/>
              </a:lnSpc>
              <a:spcAft>
                <a:spcPts val="0"/>
              </a:spcAft>
            </a:pPr>
            <a:r>
              <a:rPr sz="900" b="0" i="0" dirty="0">
                <a:solidFill>
                  <a:srgbClr val="7D8FAE"/>
                </a:solidFill>
                <a:latin typeface="Meiryo UI" panose="020B0604030504040204" pitchFamily="50" charset="-128"/>
              </a:rPr>
              <a:t>実装ではCanvasによる光の粒子アニメーションと、カーソルに追従する光の演出が常時動作しています。</a:t>
            </a:r>
          </a:p>
        </p:txBody>
      </p:sp>
      <p:sp>
        <p:nvSpPr>
          <p:cNvPr id="138" name="Rounded Rectangle 137"/>
          <p:cNvSpPr/>
          <p:nvPr/>
        </p:nvSpPr>
        <p:spPr>
          <a:xfrm>
            <a:off x="6492240" y="1737360"/>
            <a:ext cx="4846320" cy="448056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6812280" y="2011680"/>
            <a:ext cx="4206240" cy="246221"/>
          </a:xfrm>
          <a:prstGeom prst="rect">
            <a:avLst/>
          </a:prstGeom>
          <a:noFill/>
        </p:spPr>
        <p:txBody>
          <a:bodyPr wrap="square" lIns="0" tIns="0" rIns="0" bIns="0" anchor="t">
            <a:spAutoFit/>
          </a:bodyPr>
          <a:lstStyle/>
          <a:p>
            <a:pPr algn="l">
              <a:lnSpc>
                <a:spcPct val="100000"/>
              </a:lnSpc>
              <a:spcAft>
                <a:spcPts val="0"/>
              </a:spcAft>
            </a:pPr>
            <a:r>
              <a:rPr sz="1600" b="1" i="0" dirty="0" err="1">
                <a:solidFill>
                  <a:srgbClr val="E6D5A3"/>
                </a:solidFill>
                <a:latin typeface="Meiryo UI" panose="020B0604030504040204" pitchFamily="50" charset="-128"/>
              </a:rPr>
              <a:t>デザインコンセプト</a:t>
            </a:r>
            <a:endParaRPr sz="1600" b="1" i="0" dirty="0">
              <a:solidFill>
                <a:srgbClr val="E6D5A3"/>
              </a:solidFill>
              <a:latin typeface="Meiryo UI" panose="020B0604030504040204" pitchFamily="50" charset="-128"/>
            </a:endParaRPr>
          </a:p>
        </p:txBody>
      </p:sp>
      <p:sp>
        <p:nvSpPr>
          <p:cNvPr id="140" name="Oval 139"/>
          <p:cNvSpPr/>
          <p:nvPr/>
        </p:nvSpPr>
        <p:spPr>
          <a:xfrm>
            <a:off x="6858000" y="2596896"/>
            <a:ext cx="64008" cy="64008"/>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7086600" y="2514600"/>
            <a:ext cx="3931920"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C3D2EA"/>
                </a:solidFill>
                <a:latin typeface="Meiryo UI" panose="020B0604030504040204" pitchFamily="50" charset="-128"/>
              </a:rPr>
              <a:t>配色は漆黒</a:t>
            </a:r>
            <a:r>
              <a:rPr sz="1200" b="0" i="0" dirty="0">
                <a:solidFill>
                  <a:srgbClr val="C3D2EA"/>
                </a:solidFill>
                <a:latin typeface="Meiryo UI" panose="020B0604030504040204" pitchFamily="50" charset="-128"/>
              </a:rPr>
              <a:t>(#03060d)を基調に、光を思わせる淡いブルーを重ね、ゴールドは要所だけに使うアクセントカラーとする。</a:t>
            </a:r>
          </a:p>
        </p:txBody>
      </p:sp>
      <p:sp>
        <p:nvSpPr>
          <p:cNvPr id="142" name="Oval 141"/>
          <p:cNvSpPr/>
          <p:nvPr/>
        </p:nvSpPr>
        <p:spPr>
          <a:xfrm>
            <a:off x="6858000" y="3355848"/>
            <a:ext cx="64008" cy="64008"/>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7086600" y="3273552"/>
            <a:ext cx="3931920"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C3D2EA"/>
                </a:solidFill>
                <a:latin typeface="Meiryo UI" panose="020B0604030504040204" pitchFamily="50" charset="-128"/>
              </a:rPr>
              <a:t>キーワードは「スタイリッシュ</a:t>
            </a:r>
            <a:r>
              <a:rPr sz="1200" b="0" i="0" dirty="0">
                <a:solidFill>
                  <a:srgbClr val="C3D2EA"/>
                </a:solidFill>
                <a:latin typeface="Meiryo UI" panose="020B0604030504040204" pitchFamily="50" charset="-128"/>
              </a:rPr>
              <a:t>」「</a:t>
            </a:r>
            <a:r>
              <a:rPr sz="1200" b="0" i="0" dirty="0" err="1">
                <a:solidFill>
                  <a:srgbClr val="C3D2EA"/>
                </a:solidFill>
                <a:latin typeface="Meiryo UI" panose="020B0604030504040204" pitchFamily="50" charset="-128"/>
              </a:rPr>
              <a:t>ミニマル</a:t>
            </a:r>
            <a:r>
              <a:rPr sz="1200" b="0" i="0" dirty="0">
                <a:solidFill>
                  <a:srgbClr val="C3D2EA"/>
                </a:solidFill>
                <a:latin typeface="Meiryo UI" panose="020B0604030504040204" pitchFamily="50" charset="-128"/>
              </a:rPr>
              <a:t>」「</a:t>
            </a:r>
            <a:r>
              <a:rPr sz="1200" b="0" i="0" dirty="0" err="1">
                <a:solidFill>
                  <a:srgbClr val="C3D2EA"/>
                </a:solidFill>
                <a:latin typeface="Meiryo UI" panose="020B0604030504040204" pitchFamily="50" charset="-128"/>
              </a:rPr>
              <a:t>静けさの中の輝き</a:t>
            </a:r>
            <a:r>
              <a:rPr sz="1200" b="0" i="0" dirty="0">
                <a:solidFill>
                  <a:srgbClr val="C3D2EA"/>
                </a:solidFill>
                <a:latin typeface="Meiryo UI" panose="020B0604030504040204" pitchFamily="50" charset="-128"/>
              </a:rPr>
              <a:t>」。</a:t>
            </a:r>
            <a:r>
              <a:rPr sz="1200" b="0" i="0" dirty="0" err="1">
                <a:solidFill>
                  <a:srgbClr val="C3D2EA"/>
                </a:solidFill>
                <a:latin typeface="Meiryo UI" panose="020B0604030504040204" pitchFamily="50" charset="-128"/>
              </a:rPr>
              <a:t>装飾を詰め込みすぎず、余白で世界観を語る</a:t>
            </a:r>
            <a:endParaRPr sz="1200" b="0" i="0" dirty="0">
              <a:solidFill>
                <a:srgbClr val="C3D2EA"/>
              </a:solidFill>
              <a:latin typeface="Meiryo UI" panose="020B0604030504040204" pitchFamily="50" charset="-128"/>
            </a:endParaRPr>
          </a:p>
        </p:txBody>
      </p:sp>
      <p:sp>
        <p:nvSpPr>
          <p:cNvPr id="144" name="Oval 143"/>
          <p:cNvSpPr/>
          <p:nvPr/>
        </p:nvSpPr>
        <p:spPr>
          <a:xfrm>
            <a:off x="6858000" y="4114800"/>
            <a:ext cx="64008" cy="64008"/>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7086600" y="4032504"/>
            <a:ext cx="3931920"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C3D2EA"/>
                </a:solidFill>
                <a:latin typeface="Meiryo UI" panose="020B0604030504040204" pitchFamily="50" charset="-128"/>
              </a:rPr>
              <a:t>ファーストビューは、ハートに刻まれた鍵穴のロゴマークと大きな余白を中心に据え、没入感を優先する</a:t>
            </a:r>
            <a:endParaRPr sz="1200" b="0" i="0" dirty="0">
              <a:solidFill>
                <a:srgbClr val="C3D2EA"/>
              </a:solidFill>
              <a:latin typeface="Meiryo UI" panose="020B0604030504040204" pitchFamily="50" charset="-128"/>
            </a:endParaRPr>
          </a:p>
        </p:txBody>
      </p:sp>
      <p:sp>
        <p:nvSpPr>
          <p:cNvPr id="146" name="Oval 145"/>
          <p:cNvSpPr/>
          <p:nvPr/>
        </p:nvSpPr>
        <p:spPr>
          <a:xfrm>
            <a:off x="6858000" y="4873752"/>
            <a:ext cx="64008" cy="64008"/>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7086600" y="4791456"/>
            <a:ext cx="3931920"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C3D2EA"/>
                </a:solidFill>
                <a:latin typeface="Meiryo UI" panose="020B0604030504040204" pitchFamily="50" charset="-128"/>
              </a:rPr>
              <a:t>常に静かに漂う光の粒子</a:t>
            </a:r>
            <a:r>
              <a:rPr sz="1200" b="0" i="0" dirty="0">
                <a:solidFill>
                  <a:srgbClr val="C3D2EA"/>
                </a:solidFill>
                <a:latin typeface="Meiryo UI" panose="020B0604030504040204" pitchFamily="50" charset="-128"/>
              </a:rPr>
              <a:t>(Canvas)</a:t>
            </a:r>
            <a:r>
              <a:rPr sz="1200" b="0" i="0" dirty="0" err="1">
                <a:solidFill>
                  <a:srgbClr val="C3D2EA"/>
                </a:solidFill>
                <a:latin typeface="Meiryo UI" panose="020B0604030504040204" pitchFamily="50" charset="-128"/>
              </a:rPr>
              <a:t>と、カーソルに追従する淡い光で「操作している実感」を演出する</a:t>
            </a:r>
            <a:endParaRPr sz="1200" b="0" i="0" dirty="0">
              <a:solidFill>
                <a:srgbClr val="C3D2EA"/>
              </a:solidFill>
              <a:latin typeface="Meiryo UI" panose="020B0604030504040204" pitchFamily="50" charset="-128"/>
            </a:endParaRPr>
          </a:p>
        </p:txBody>
      </p:sp>
      <p:sp>
        <p:nvSpPr>
          <p:cNvPr id="148" name="Oval 147"/>
          <p:cNvSpPr/>
          <p:nvPr/>
        </p:nvSpPr>
        <p:spPr>
          <a:xfrm>
            <a:off x="6858000" y="5632704"/>
            <a:ext cx="64008" cy="64008"/>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7086600" y="5550408"/>
            <a:ext cx="3931920"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C3D2EA"/>
                </a:solidFill>
                <a:latin typeface="Meiryo UI" panose="020B0604030504040204" pitchFamily="50" charset="-128"/>
              </a:rPr>
              <a:t>ボタンは輪郭線のみのゴースト調にし、ホバー時にゴールドの光を纏うことで特別感を出す</a:t>
            </a:r>
            <a:endParaRPr sz="1200" b="0" i="0" dirty="0">
              <a:solidFill>
                <a:srgbClr val="C3D2EA"/>
              </a:solidFill>
              <a:latin typeface="Meiryo UI" panose="020B0604030504040204" pitchFamily="50" charset="-128"/>
            </a:endParaRPr>
          </a:p>
        </p:txBody>
      </p:sp>
      <p:sp>
        <p:nvSpPr>
          <p:cNvPr id="150" name="TextBox 149"/>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51" name="TextBox 150"/>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06 / 14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rgbClr val="03060D"/>
        </a:solidFill>
        <a:effectLst/>
      </p:bgPr>
    </p:bg>
    <p:spTree>
      <p:nvGrpSpPr>
        <p:cNvPr id="1" name=""/>
        <p:cNvGrpSpPr/>
        <p:nvPr/>
      </p:nvGrpSpPr>
      <p:grpSpPr>
        <a:xfrm>
          <a:off x="0" y="0"/>
          <a:ext cx="0" cy="0"/>
          <a:chOff x="0" y="0"/>
          <a:chExt cx="0" cy="0"/>
        </a:xfrm>
      </p:grpSpPr>
      <p:pic>
        <p:nvPicPr>
          <p:cNvPr id="104" name="図 103" descr="キングダムハーツ キャラクター解説 ソラ編 :: Hearts &amp; Keys">
            <a:extLst>
              <a:ext uri="{FF2B5EF4-FFF2-40B4-BE49-F238E27FC236}">
                <a16:creationId xmlns:a16="http://schemas.microsoft.com/office/drawing/2014/main" id="{B2FEBB07-FE5F-EC79-EA2A-F4145DFB225F}"/>
              </a:ext>
            </a:extLst>
          </p:cNvPr>
          <p:cNvPicPr>
            <a:picLocks noChangeAspect="1"/>
          </p:cNvPicPr>
          <p:nvPr/>
        </p:nvPicPr>
        <p:blipFill>
          <a:blip r:embed="rId2"/>
          <a:stretch>
            <a:fillRect/>
          </a:stretch>
        </p:blipFill>
        <p:spPr>
          <a:xfrm>
            <a:off x="34844" y="-13615"/>
            <a:ext cx="12187738" cy="6855603"/>
          </a:xfrm>
          <a:prstGeom prst="rect">
            <a:avLst/>
          </a:prstGeom>
          <a:gradFill>
            <a:gsLst>
              <a:gs pos="200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127000">
              <a:schemeClr val="accent1">
                <a:alpha val="0"/>
              </a:schemeClr>
            </a:glow>
            <a:outerShdw dist="50800" dir="5400000" algn="ctr" rotWithShape="0">
              <a:srgbClr val="000000"/>
            </a:outerShdw>
            <a:reflection stA="47000" endPos="47000" dir="5400000" sy="-100000" algn="bl" rotWithShape="0"/>
            <a:softEdge rad="1270000"/>
          </a:effectLst>
        </p:spPr>
      </p:pic>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613148" y="-10017252"/>
            <a:ext cx="11622023" cy="11622023"/>
          </a:xfrm>
          <a:prstGeom prst="ellipse">
            <a:avLst/>
          </a:prstGeom>
          <a:solidFill>
            <a:srgbClr val="9AD5FF">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754880" y="-9875520"/>
            <a:ext cx="11338560" cy="11338560"/>
          </a:xfrm>
          <a:prstGeom prst="ellipse">
            <a:avLst/>
          </a:prstGeom>
          <a:noFill/>
          <a:ln w="330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342278" y="-8288121"/>
            <a:ext cx="8163763" cy="8163763"/>
          </a:xfrm>
          <a:prstGeom prst="ellipse">
            <a:avLst/>
          </a:prstGeom>
          <a:noFill/>
          <a:ln w="2540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816291" y="-6814108"/>
            <a:ext cx="5215737" cy="5215737"/>
          </a:xfrm>
          <a:prstGeom prst="ellipse">
            <a:avLst/>
          </a:prstGeom>
          <a:noFill/>
          <a:ln w="203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2833516" y="-3208251"/>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5177549" y="-2336951"/>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1422148" y="-1796883"/>
            <a:ext cx="1041379" cy="2514110"/>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2293448" y="547149"/>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8384792" y="-1796883"/>
            <a:ext cx="1041379" cy="2514110"/>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8214714" y="547149"/>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5500692" y="-3208251"/>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5330613" y="-2336951"/>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5500692" y="-6245607"/>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5330613" y="-6415685"/>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8384792" y="-9129707"/>
            <a:ext cx="1041379" cy="2514111"/>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8214714" y="-9299786"/>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1422148" y="-9129707"/>
            <a:ext cx="1041379" cy="2514111"/>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2293448" y="-9299786"/>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2833516" y="-6245607"/>
            <a:ext cx="2514111" cy="1041379"/>
          </a:xfrm>
          <a:prstGeom prst="line">
            <a:avLst/>
          </a:prstGeom>
          <a:ln w="20320">
            <a:solidFill>
              <a:srgbClr val="2A6BB5">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5177549" y="-6415685"/>
            <a:ext cx="340156" cy="340156"/>
          </a:xfrm>
          <a:prstGeom prst="diamond">
            <a:avLst/>
          </a:prstGeom>
          <a:solidFill>
            <a:srgbClr val="2A6BB5">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2A6BB5">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1289645" y="3115542"/>
            <a:ext cx="91731" cy="91731"/>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2834923" y="798138"/>
            <a:ext cx="84300" cy="84300"/>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iamond 34"/>
          <p:cNvSpPr/>
          <p:nvPr/>
        </p:nvSpPr>
        <p:spPr>
          <a:xfrm>
            <a:off x="4686247" y="5770786"/>
            <a:ext cx="101544" cy="101544"/>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iamond 35"/>
          <p:cNvSpPr/>
          <p:nvPr/>
        </p:nvSpPr>
        <p:spPr>
          <a:xfrm>
            <a:off x="1367056" y="1683096"/>
            <a:ext cx="98724" cy="98724"/>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948677" y="977023"/>
            <a:ext cx="53889" cy="53889"/>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486732" y="2828486"/>
            <a:ext cx="92649" cy="92649"/>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5049275" y="5136279"/>
            <a:ext cx="82365" cy="82365"/>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210888" y="2581468"/>
            <a:ext cx="82866" cy="82866"/>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iamond 40"/>
          <p:cNvSpPr/>
          <p:nvPr/>
        </p:nvSpPr>
        <p:spPr>
          <a:xfrm>
            <a:off x="7298661" y="3228295"/>
            <a:ext cx="61783" cy="61783"/>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844715" y="6362982"/>
            <a:ext cx="102468" cy="102468"/>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305413" y="4659943"/>
            <a:ext cx="64697" cy="64697"/>
          </a:xfrm>
          <a:prstGeom prst="ellipse">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Diamond 43"/>
          <p:cNvSpPr/>
          <p:nvPr/>
        </p:nvSpPr>
        <p:spPr>
          <a:xfrm>
            <a:off x="2067505" y="2894019"/>
            <a:ext cx="61895" cy="61895"/>
          </a:xfrm>
          <a:prstGeom prst="diamond">
            <a:avLst/>
          </a:prstGeom>
          <a:solidFill>
            <a:srgbClr val="143A6B">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rot="19800000">
            <a:off x="9644652" y="5804223"/>
            <a:ext cx="55497" cy="369986"/>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5-Point Star 45"/>
          <p:cNvSpPr/>
          <p:nvPr/>
        </p:nvSpPr>
        <p:spPr>
          <a:xfrm>
            <a:off x="9539822" y="5594565"/>
            <a:ext cx="283656" cy="283656"/>
          </a:xfrm>
          <a:prstGeom prst="star5">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4-Point Star 46"/>
          <p:cNvSpPr/>
          <p:nvPr/>
        </p:nvSpPr>
        <p:spPr>
          <a:xfrm>
            <a:off x="9459659" y="5841222"/>
            <a:ext cx="98663" cy="98663"/>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4-Point Star 47"/>
          <p:cNvSpPr/>
          <p:nvPr/>
        </p:nvSpPr>
        <p:spPr>
          <a:xfrm>
            <a:off x="9410327" y="5964551"/>
            <a:ext cx="67830" cy="67830"/>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rot="19800000">
            <a:off x="9681052" y="1871205"/>
            <a:ext cx="44778" cy="298522"/>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5-Point Star 49"/>
          <p:cNvSpPr/>
          <p:nvPr/>
        </p:nvSpPr>
        <p:spPr>
          <a:xfrm>
            <a:off x="9596470" y="1702043"/>
            <a:ext cx="228867" cy="228867"/>
          </a:xfrm>
          <a:prstGeom prst="star5">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4-Point Star 50"/>
          <p:cNvSpPr/>
          <p:nvPr/>
        </p:nvSpPr>
        <p:spPr>
          <a:xfrm>
            <a:off x="9531791" y="1901057"/>
            <a:ext cx="79605" cy="79605"/>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4-Point Star 51"/>
          <p:cNvSpPr/>
          <p:nvPr/>
        </p:nvSpPr>
        <p:spPr>
          <a:xfrm>
            <a:off x="9491988" y="2000565"/>
            <a:ext cx="54729" cy="54729"/>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rot="19800000">
            <a:off x="5805857" y="943387"/>
            <a:ext cx="61666" cy="411112"/>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5-Point Star 53"/>
          <p:cNvSpPr/>
          <p:nvPr/>
        </p:nvSpPr>
        <p:spPr>
          <a:xfrm>
            <a:off x="5689375" y="710424"/>
            <a:ext cx="315186" cy="315186"/>
          </a:xfrm>
          <a:prstGeom prst="star5">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4-Point Star 54"/>
          <p:cNvSpPr/>
          <p:nvPr/>
        </p:nvSpPr>
        <p:spPr>
          <a:xfrm>
            <a:off x="5600301" y="984499"/>
            <a:ext cx="109630" cy="109630"/>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4-Point Star 55"/>
          <p:cNvSpPr/>
          <p:nvPr/>
        </p:nvSpPr>
        <p:spPr>
          <a:xfrm>
            <a:off x="5545486" y="1121536"/>
            <a:ext cx="75370" cy="75370"/>
          </a:xfrm>
          <a:prstGeom prst="star4">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7506876" y="2080405"/>
            <a:ext cx="555329" cy="201937"/>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7532118" y="1935262"/>
            <a:ext cx="100968" cy="189316"/>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Isosceles Triangle 58"/>
          <p:cNvSpPr/>
          <p:nvPr/>
        </p:nvSpPr>
        <p:spPr>
          <a:xfrm>
            <a:off x="7532118" y="1846915"/>
            <a:ext cx="100968" cy="88347"/>
          </a:xfrm>
          <a:prstGeom prst="triangle">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7734056" y="1796430"/>
            <a:ext cx="100968" cy="328149"/>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sosceles Triangle 60"/>
          <p:cNvSpPr/>
          <p:nvPr/>
        </p:nvSpPr>
        <p:spPr>
          <a:xfrm>
            <a:off x="7734056" y="1708082"/>
            <a:ext cx="100968" cy="88347"/>
          </a:xfrm>
          <a:prstGeom prst="triangle">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7910752" y="1935262"/>
            <a:ext cx="100968" cy="189316"/>
          </a:xfrm>
          <a:prstGeom prst="rect">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Isosceles Triangle 62"/>
          <p:cNvSpPr/>
          <p:nvPr/>
        </p:nvSpPr>
        <p:spPr>
          <a:xfrm>
            <a:off x="7910752" y="1846915"/>
            <a:ext cx="100968" cy="88347"/>
          </a:xfrm>
          <a:prstGeom prst="triangle">
            <a:avLst/>
          </a:prstGeom>
          <a:solidFill>
            <a:srgbClr val="143A6B">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7746677" y="2162443"/>
            <a:ext cx="75726" cy="119900"/>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PAGE TOUR</a:t>
            </a:r>
          </a:p>
        </p:txBody>
      </p:sp>
      <p:sp>
        <p:nvSpPr>
          <p:cNvPr id="66" name="Rectangle 65"/>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全ページ紹介</a:t>
            </a:r>
            <a:endParaRPr sz="2700" b="1" i="0" dirty="0">
              <a:solidFill>
                <a:srgbClr val="EEF4FF"/>
              </a:solidFill>
              <a:latin typeface="Meiryo UI" panose="020B0604030504040204" pitchFamily="50" charset="-128"/>
            </a:endParaRPr>
          </a:p>
        </p:txBody>
      </p:sp>
      <p:sp>
        <p:nvSpPr>
          <p:cNvPr id="105" name="Rounded Rectangle 114"/>
          <p:cNvSpPr/>
          <p:nvPr/>
        </p:nvSpPr>
        <p:spPr>
          <a:xfrm>
            <a:off x="1655064" y="1600200"/>
            <a:ext cx="2651760" cy="1955110"/>
          </a:xfrm>
          <a:prstGeom prst="roundRect">
            <a:avLst>
              <a:gd name="adj" fmla="val 3000"/>
            </a:avLst>
          </a:prstGeom>
          <a:solidFill>
            <a:srgbClr val="060D1E"/>
          </a:solidFill>
          <a:ln w="12700">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Rectangle 115"/>
          <p:cNvSpPr/>
          <p:nvPr/>
        </p:nvSpPr>
        <p:spPr>
          <a:xfrm>
            <a:off x="1655064" y="1600200"/>
            <a:ext cx="2651760" cy="179780"/>
          </a:xfrm>
          <a:prstGeom prst="rect">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16"/>
          <p:cNvSpPr/>
          <p:nvPr/>
        </p:nvSpPr>
        <p:spPr>
          <a:xfrm>
            <a:off x="1735965"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17"/>
          <p:cNvSpPr/>
          <p:nvPr/>
        </p:nvSpPr>
        <p:spPr>
          <a:xfrm>
            <a:off x="1834844"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18"/>
          <p:cNvSpPr/>
          <p:nvPr/>
        </p:nvSpPr>
        <p:spPr>
          <a:xfrm>
            <a:off x="1933723"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Picture 109" descr="album.png"/>
          <p:cNvPicPr>
            <a:picLocks noChangeAspect="1"/>
          </p:cNvPicPr>
          <p:nvPr/>
        </p:nvPicPr>
        <p:blipFill>
          <a:blip r:embed="rId3"/>
          <a:stretch>
            <a:fillRect/>
          </a:stretch>
        </p:blipFill>
        <p:spPr>
          <a:xfrm>
            <a:off x="1655064" y="1779980"/>
            <a:ext cx="2651760" cy="1775330"/>
          </a:xfrm>
          <a:prstGeom prst="rect">
            <a:avLst/>
          </a:prstGeom>
        </p:spPr>
      </p:pic>
      <p:sp>
        <p:nvSpPr>
          <p:cNvPr id="111" name="TextBox 110"/>
          <p:cNvSpPr txBox="1"/>
          <p:nvPr/>
        </p:nvSpPr>
        <p:spPr>
          <a:xfrm>
            <a:off x="1655064" y="3615310"/>
            <a:ext cx="2651760" cy="274320"/>
          </a:xfrm>
          <a:prstGeom prst="rect">
            <a:avLst/>
          </a:prstGeom>
          <a:noFill/>
        </p:spPr>
        <p:txBody>
          <a:bodyPr wrap="square">
            <a:spAutoFit/>
          </a:bodyPr>
          <a:lstStyle/>
          <a:p>
            <a:pPr algn="l"/>
            <a:r>
              <a:rPr sz="1200" b="1" spc="50">
                <a:solidFill>
                  <a:srgbClr val="9AD5FF"/>
                </a:solidFill>
                <a:latin typeface="Georgia"/>
              </a:rPr>
              <a:t>MEMORY ALBUM</a:t>
            </a:r>
          </a:p>
        </p:txBody>
      </p:sp>
      <p:sp>
        <p:nvSpPr>
          <p:cNvPr id="2" name="Rounded Rectangle 114"/>
          <p:cNvSpPr/>
          <p:nvPr/>
        </p:nvSpPr>
        <p:spPr>
          <a:xfrm>
            <a:off x="4764024" y="1600200"/>
            <a:ext cx="2651760" cy="1955110"/>
          </a:xfrm>
          <a:prstGeom prst="roundRect">
            <a:avLst>
              <a:gd name="adj" fmla="val 3000"/>
            </a:avLst>
          </a:prstGeom>
          <a:solidFill>
            <a:srgbClr val="060D1E"/>
          </a:solidFill>
          <a:ln w="12700">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115"/>
          <p:cNvSpPr/>
          <p:nvPr/>
        </p:nvSpPr>
        <p:spPr>
          <a:xfrm>
            <a:off x="4764024" y="1600200"/>
            <a:ext cx="2651760" cy="179780"/>
          </a:xfrm>
          <a:prstGeom prst="rect">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6"/>
          <p:cNvSpPr/>
          <p:nvPr/>
        </p:nvSpPr>
        <p:spPr>
          <a:xfrm>
            <a:off x="4844925"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7"/>
          <p:cNvSpPr/>
          <p:nvPr/>
        </p:nvSpPr>
        <p:spPr>
          <a:xfrm>
            <a:off x="4943804"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8"/>
          <p:cNvSpPr/>
          <p:nvPr/>
        </p:nvSpPr>
        <p:spPr>
          <a:xfrm>
            <a:off x="5042683"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5" name="Picture 114" descr="timeline.png"/>
          <p:cNvPicPr>
            <a:picLocks noChangeAspect="1"/>
          </p:cNvPicPr>
          <p:nvPr/>
        </p:nvPicPr>
        <p:blipFill>
          <a:blip r:embed="rId4"/>
          <a:stretch>
            <a:fillRect/>
          </a:stretch>
        </p:blipFill>
        <p:spPr>
          <a:xfrm>
            <a:off x="4764024" y="1779980"/>
            <a:ext cx="2651760" cy="1775330"/>
          </a:xfrm>
          <a:prstGeom prst="rect">
            <a:avLst/>
          </a:prstGeom>
        </p:spPr>
      </p:pic>
      <p:sp>
        <p:nvSpPr>
          <p:cNvPr id="116" name="TextBox 115"/>
          <p:cNvSpPr txBox="1"/>
          <p:nvPr/>
        </p:nvSpPr>
        <p:spPr>
          <a:xfrm>
            <a:off x="4764024" y="3615310"/>
            <a:ext cx="2651760" cy="274320"/>
          </a:xfrm>
          <a:prstGeom prst="rect">
            <a:avLst/>
          </a:prstGeom>
          <a:noFill/>
        </p:spPr>
        <p:txBody>
          <a:bodyPr wrap="square">
            <a:spAutoFit/>
          </a:bodyPr>
          <a:lstStyle/>
          <a:p>
            <a:pPr algn="l"/>
            <a:r>
              <a:rPr sz="1200" b="1" spc="50">
                <a:solidFill>
                  <a:srgbClr val="9AD5FF"/>
                </a:solidFill>
                <a:latin typeface="Georgia"/>
              </a:rPr>
              <a:t>TIMELINE</a:t>
            </a:r>
          </a:p>
        </p:txBody>
      </p:sp>
      <p:sp>
        <p:nvSpPr>
          <p:cNvPr id="69" name="Rounded Rectangle 114"/>
          <p:cNvSpPr/>
          <p:nvPr/>
        </p:nvSpPr>
        <p:spPr>
          <a:xfrm>
            <a:off x="7882127" y="1600200"/>
            <a:ext cx="2651760" cy="1955110"/>
          </a:xfrm>
          <a:prstGeom prst="roundRect">
            <a:avLst>
              <a:gd name="adj" fmla="val 3000"/>
            </a:avLst>
          </a:prstGeom>
          <a:solidFill>
            <a:srgbClr val="060D1E"/>
          </a:solidFill>
          <a:ln w="12700">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115"/>
          <p:cNvSpPr/>
          <p:nvPr/>
        </p:nvSpPr>
        <p:spPr>
          <a:xfrm>
            <a:off x="7882127" y="1600200"/>
            <a:ext cx="2651760" cy="179780"/>
          </a:xfrm>
          <a:prstGeom prst="rect">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7963028"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8061907"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8160786" y="1663123"/>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Picture 119" descr="music.png"/>
          <p:cNvPicPr>
            <a:picLocks noChangeAspect="1"/>
          </p:cNvPicPr>
          <p:nvPr/>
        </p:nvPicPr>
        <p:blipFill>
          <a:blip r:embed="rId5"/>
          <a:stretch>
            <a:fillRect/>
          </a:stretch>
        </p:blipFill>
        <p:spPr>
          <a:xfrm>
            <a:off x="7882127" y="1779980"/>
            <a:ext cx="2651760" cy="1775330"/>
          </a:xfrm>
          <a:prstGeom prst="rect">
            <a:avLst/>
          </a:prstGeom>
        </p:spPr>
      </p:pic>
      <p:sp>
        <p:nvSpPr>
          <p:cNvPr id="121" name="TextBox 120"/>
          <p:cNvSpPr txBox="1"/>
          <p:nvPr/>
        </p:nvSpPr>
        <p:spPr>
          <a:xfrm>
            <a:off x="7882127" y="3615310"/>
            <a:ext cx="2651760" cy="274320"/>
          </a:xfrm>
          <a:prstGeom prst="rect">
            <a:avLst/>
          </a:prstGeom>
          <a:noFill/>
        </p:spPr>
        <p:txBody>
          <a:bodyPr wrap="square">
            <a:spAutoFit/>
          </a:bodyPr>
          <a:lstStyle/>
          <a:p>
            <a:pPr algn="l"/>
            <a:r>
              <a:rPr sz="1200" b="1" spc="50">
                <a:solidFill>
                  <a:srgbClr val="9AD5FF"/>
                </a:solidFill>
                <a:latin typeface="Georgia"/>
              </a:rPr>
              <a:t>MEMORY THEMES</a:t>
            </a:r>
          </a:p>
        </p:txBody>
      </p:sp>
      <p:sp>
        <p:nvSpPr>
          <p:cNvPr id="71" name="Rounded Rectangle 114"/>
          <p:cNvSpPr/>
          <p:nvPr/>
        </p:nvSpPr>
        <p:spPr>
          <a:xfrm>
            <a:off x="1655064" y="4041648"/>
            <a:ext cx="2651760" cy="1955110"/>
          </a:xfrm>
          <a:prstGeom prst="roundRect">
            <a:avLst>
              <a:gd name="adj" fmla="val 3000"/>
            </a:avLst>
          </a:prstGeom>
          <a:solidFill>
            <a:srgbClr val="060D1E"/>
          </a:solidFill>
          <a:ln w="12700">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115"/>
          <p:cNvSpPr/>
          <p:nvPr/>
        </p:nvSpPr>
        <p:spPr>
          <a:xfrm>
            <a:off x="1655064" y="4041648"/>
            <a:ext cx="2651760" cy="179780"/>
          </a:xfrm>
          <a:prstGeom prst="rect">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16"/>
          <p:cNvSpPr/>
          <p:nvPr/>
        </p:nvSpPr>
        <p:spPr>
          <a:xfrm>
            <a:off x="1735965"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17"/>
          <p:cNvSpPr/>
          <p:nvPr/>
        </p:nvSpPr>
        <p:spPr>
          <a:xfrm>
            <a:off x="1834844"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18"/>
          <p:cNvSpPr/>
          <p:nvPr/>
        </p:nvSpPr>
        <p:spPr>
          <a:xfrm>
            <a:off x="1933723"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5" name="Picture 124" descr="roxas.png"/>
          <p:cNvPicPr>
            <a:picLocks noChangeAspect="1"/>
          </p:cNvPicPr>
          <p:nvPr/>
        </p:nvPicPr>
        <p:blipFill>
          <a:blip r:embed="rId6"/>
          <a:stretch>
            <a:fillRect/>
          </a:stretch>
        </p:blipFill>
        <p:spPr>
          <a:xfrm>
            <a:off x="1655064" y="4221428"/>
            <a:ext cx="2651760" cy="1775330"/>
          </a:xfrm>
          <a:prstGeom prst="rect">
            <a:avLst/>
          </a:prstGeom>
        </p:spPr>
      </p:pic>
      <p:sp>
        <p:nvSpPr>
          <p:cNvPr id="126" name="TextBox 125"/>
          <p:cNvSpPr txBox="1"/>
          <p:nvPr/>
        </p:nvSpPr>
        <p:spPr>
          <a:xfrm>
            <a:off x="1655064" y="6056758"/>
            <a:ext cx="2651760" cy="274320"/>
          </a:xfrm>
          <a:prstGeom prst="rect">
            <a:avLst/>
          </a:prstGeom>
          <a:noFill/>
        </p:spPr>
        <p:txBody>
          <a:bodyPr wrap="square">
            <a:spAutoFit/>
          </a:bodyPr>
          <a:lstStyle/>
          <a:p>
            <a:pPr algn="l"/>
            <a:r>
              <a:rPr sz="1200" b="1" spc="50">
                <a:solidFill>
                  <a:srgbClr val="9AD5FF"/>
                </a:solidFill>
                <a:latin typeface="Georgia"/>
              </a:rPr>
              <a:t>MEMORY OF SUMMER</a:t>
            </a:r>
          </a:p>
        </p:txBody>
      </p:sp>
      <p:sp>
        <p:nvSpPr>
          <p:cNvPr id="73" name="Rounded Rectangle 114"/>
          <p:cNvSpPr/>
          <p:nvPr/>
        </p:nvSpPr>
        <p:spPr>
          <a:xfrm>
            <a:off x="4764024" y="4041648"/>
            <a:ext cx="2651760" cy="1955110"/>
          </a:xfrm>
          <a:prstGeom prst="roundRect">
            <a:avLst>
              <a:gd name="adj" fmla="val 3000"/>
            </a:avLst>
          </a:prstGeom>
          <a:solidFill>
            <a:srgbClr val="060D1E"/>
          </a:solidFill>
          <a:ln w="12700">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115"/>
          <p:cNvSpPr/>
          <p:nvPr/>
        </p:nvSpPr>
        <p:spPr>
          <a:xfrm>
            <a:off x="4764024" y="4041648"/>
            <a:ext cx="2651760" cy="179780"/>
          </a:xfrm>
          <a:prstGeom prst="rect">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16"/>
          <p:cNvSpPr/>
          <p:nvPr/>
        </p:nvSpPr>
        <p:spPr>
          <a:xfrm>
            <a:off x="4844925"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17"/>
          <p:cNvSpPr/>
          <p:nvPr/>
        </p:nvSpPr>
        <p:spPr>
          <a:xfrm>
            <a:off x="4943804"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18"/>
          <p:cNvSpPr/>
          <p:nvPr/>
        </p:nvSpPr>
        <p:spPr>
          <a:xfrm>
            <a:off x="5042683"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0" name="Picture 129" descr="crossover2.png"/>
          <p:cNvPicPr>
            <a:picLocks noChangeAspect="1"/>
          </p:cNvPicPr>
          <p:nvPr/>
        </p:nvPicPr>
        <p:blipFill>
          <a:blip r:embed="rId7"/>
          <a:stretch>
            <a:fillRect/>
          </a:stretch>
        </p:blipFill>
        <p:spPr>
          <a:xfrm>
            <a:off x="4764024" y="4221428"/>
            <a:ext cx="2651760" cy="1775330"/>
          </a:xfrm>
          <a:prstGeom prst="rect">
            <a:avLst/>
          </a:prstGeom>
        </p:spPr>
      </p:pic>
      <p:sp>
        <p:nvSpPr>
          <p:cNvPr id="131" name="TextBox 130"/>
          <p:cNvSpPr txBox="1"/>
          <p:nvPr/>
        </p:nvSpPr>
        <p:spPr>
          <a:xfrm>
            <a:off x="4764024" y="6056758"/>
            <a:ext cx="2651760" cy="274320"/>
          </a:xfrm>
          <a:prstGeom prst="rect">
            <a:avLst/>
          </a:prstGeom>
          <a:noFill/>
        </p:spPr>
        <p:txBody>
          <a:bodyPr wrap="square">
            <a:spAutoFit/>
          </a:bodyPr>
          <a:lstStyle/>
          <a:p>
            <a:pPr algn="l"/>
            <a:r>
              <a:rPr sz="1200" b="1" spc="50">
                <a:solidFill>
                  <a:srgbClr val="9AD5FF"/>
                </a:solidFill>
                <a:latin typeface="Georgia"/>
              </a:rPr>
              <a:t>MEMORY CROSSOVER</a:t>
            </a:r>
          </a:p>
        </p:txBody>
      </p:sp>
      <p:sp>
        <p:nvSpPr>
          <p:cNvPr id="75" name="Rounded Rectangle 114"/>
          <p:cNvSpPr/>
          <p:nvPr/>
        </p:nvSpPr>
        <p:spPr>
          <a:xfrm>
            <a:off x="7882127" y="4041648"/>
            <a:ext cx="2651760" cy="1955110"/>
          </a:xfrm>
          <a:prstGeom prst="roundRect">
            <a:avLst>
              <a:gd name="adj" fmla="val 3000"/>
            </a:avLst>
          </a:prstGeom>
          <a:solidFill>
            <a:srgbClr val="060D1E"/>
          </a:solidFill>
          <a:ln w="12700">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115"/>
          <p:cNvSpPr/>
          <p:nvPr/>
        </p:nvSpPr>
        <p:spPr>
          <a:xfrm>
            <a:off x="7882127" y="4041648"/>
            <a:ext cx="2651760" cy="179780"/>
          </a:xfrm>
          <a:prstGeom prst="rect">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16"/>
          <p:cNvSpPr/>
          <p:nvPr/>
        </p:nvSpPr>
        <p:spPr>
          <a:xfrm>
            <a:off x="7963028"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17"/>
          <p:cNvSpPr/>
          <p:nvPr/>
        </p:nvSpPr>
        <p:spPr>
          <a:xfrm>
            <a:off x="8061907"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18"/>
          <p:cNvSpPr/>
          <p:nvPr/>
        </p:nvSpPr>
        <p:spPr>
          <a:xfrm>
            <a:off x="8160786" y="4104571"/>
            <a:ext cx="49439" cy="49439"/>
          </a:xfrm>
          <a:prstGeom prst="ellipse">
            <a:avLst/>
          </a:prstGeom>
          <a:solidFill>
            <a:srgbClr val="7D8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5" name="Picture 134" descr="secret.png"/>
          <p:cNvPicPr>
            <a:picLocks noChangeAspect="1"/>
          </p:cNvPicPr>
          <p:nvPr/>
        </p:nvPicPr>
        <p:blipFill>
          <a:blip r:embed="rId8"/>
          <a:stretch>
            <a:fillRect/>
          </a:stretch>
        </p:blipFill>
        <p:spPr>
          <a:xfrm>
            <a:off x="7882127" y="4221428"/>
            <a:ext cx="2651760" cy="1775330"/>
          </a:xfrm>
          <a:prstGeom prst="rect">
            <a:avLst/>
          </a:prstGeom>
        </p:spPr>
      </p:pic>
      <p:sp>
        <p:nvSpPr>
          <p:cNvPr id="136" name="TextBox 135"/>
          <p:cNvSpPr txBox="1"/>
          <p:nvPr/>
        </p:nvSpPr>
        <p:spPr>
          <a:xfrm>
            <a:off x="7882127" y="6056758"/>
            <a:ext cx="2651760" cy="274320"/>
          </a:xfrm>
          <a:prstGeom prst="rect">
            <a:avLst/>
          </a:prstGeom>
          <a:noFill/>
        </p:spPr>
        <p:txBody>
          <a:bodyPr wrap="square">
            <a:spAutoFit/>
          </a:bodyPr>
          <a:lstStyle/>
          <a:p>
            <a:pPr algn="l"/>
            <a:r>
              <a:rPr sz="1200" b="1" spc="50" dirty="0">
                <a:solidFill>
                  <a:srgbClr val="FFC000"/>
                </a:solidFill>
                <a:latin typeface="Georgia"/>
              </a:rPr>
              <a:t>SECRET MEMORY</a:t>
            </a:r>
          </a:p>
        </p:txBody>
      </p:sp>
      <p:sp>
        <p:nvSpPr>
          <p:cNvPr id="137" name="TextBox 149"/>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38" name="TextBox 150"/>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07 / 14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991355" y="-10392156"/>
            <a:ext cx="12371831" cy="12371831"/>
          </a:xfrm>
          <a:prstGeom prst="ellipse">
            <a:avLst/>
          </a:prstGeom>
          <a:solidFill>
            <a:srgbClr val="9AD5FF">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840480" y="-10241280"/>
            <a:ext cx="12070080" cy="12070080"/>
          </a:xfrm>
          <a:prstGeom prst="ellipse">
            <a:avLst/>
          </a:prstGeom>
          <a:noFill/>
          <a:ln w="330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150668" y="-8551468"/>
            <a:ext cx="8690457" cy="8690457"/>
          </a:xfrm>
          <a:prstGeom prst="ellipse">
            <a:avLst/>
          </a:prstGeom>
          <a:noFill/>
          <a:ln w="2540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81558" y="-6982358"/>
            <a:ext cx="5552236" cy="5552236"/>
          </a:xfrm>
          <a:prstGeom prst="ellipse">
            <a:avLst/>
          </a:prstGeom>
          <a:noFill/>
          <a:ln w="203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4759358" y="-3143865"/>
            <a:ext cx="2676312" cy="1108565"/>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7254619" y="-2216351"/>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3256934" y="-1641441"/>
            <a:ext cx="1108565" cy="267631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4184448" y="853819"/>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23620" y="-1641441"/>
            <a:ext cx="1108565" cy="267631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57430" y="853819"/>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3046550" y="-3143865"/>
            <a:ext cx="2676312" cy="1108565"/>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3227602" y="-2216351"/>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3046550" y="-6377179"/>
            <a:ext cx="2676312" cy="1108565"/>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3227602" y="-6558230"/>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23620" y="-9447350"/>
            <a:ext cx="1108565" cy="2676312"/>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157430" y="-9628402"/>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3256934" y="-9447350"/>
            <a:ext cx="1108565" cy="2676312"/>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4184448" y="-9628402"/>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4759358" y="-6377179"/>
            <a:ext cx="2676312" cy="1108565"/>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7254619" y="-6558230"/>
            <a:ext cx="362102" cy="362102"/>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0172701" y="2458908"/>
            <a:ext cx="96332" cy="96332"/>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3911663" y="5027149"/>
            <a:ext cx="67143" cy="67143"/>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4310908" y="4922424"/>
            <a:ext cx="55165" cy="55165"/>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343664" y="1355612"/>
            <a:ext cx="73250" cy="73250"/>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Diamond 36"/>
          <p:cNvSpPr/>
          <p:nvPr/>
        </p:nvSpPr>
        <p:spPr>
          <a:xfrm>
            <a:off x="5550685" y="5718233"/>
            <a:ext cx="104630" cy="104630"/>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11386964" y="4069558"/>
            <a:ext cx="107151" cy="107151"/>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6274392" y="1856785"/>
            <a:ext cx="105209" cy="10520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7370371" y="1033485"/>
            <a:ext cx="98409" cy="9840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0191491" y="6301453"/>
            <a:ext cx="108177" cy="10817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799370" y="3580561"/>
            <a:ext cx="78025" cy="78025"/>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7386501" y="5381135"/>
            <a:ext cx="78716" cy="78716"/>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11117879" y="5171219"/>
            <a:ext cx="105321" cy="105321"/>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Diamond 44"/>
          <p:cNvSpPr/>
          <p:nvPr/>
        </p:nvSpPr>
        <p:spPr>
          <a:xfrm>
            <a:off x="1831735" y="2886711"/>
            <a:ext cx="64325" cy="64325"/>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862869" y="996534"/>
            <a:ext cx="76513" cy="7651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iamond 46"/>
          <p:cNvSpPr/>
          <p:nvPr/>
        </p:nvSpPr>
        <p:spPr>
          <a:xfrm>
            <a:off x="10053865" y="6247892"/>
            <a:ext cx="82970" cy="82970"/>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iamond 47"/>
          <p:cNvSpPr/>
          <p:nvPr/>
        </p:nvSpPr>
        <p:spPr>
          <a:xfrm>
            <a:off x="2573646" y="670616"/>
            <a:ext cx="101286" cy="101286"/>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463201" y="3084376"/>
            <a:ext cx="83089" cy="8308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7727758" y="778419"/>
            <a:ext cx="86363" cy="8636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5-Point Star 50"/>
          <p:cNvSpPr/>
          <p:nvPr/>
        </p:nvSpPr>
        <p:spPr>
          <a:xfrm>
            <a:off x="2183627" y="1769567"/>
            <a:ext cx="436773" cy="436773"/>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2207313" y="1749263"/>
            <a:ext cx="457305" cy="16629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2228100" y="1629740"/>
            <a:ext cx="83146" cy="155899"/>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Isosceles Triangle 53"/>
          <p:cNvSpPr/>
          <p:nvPr/>
        </p:nvSpPr>
        <p:spPr>
          <a:xfrm>
            <a:off x="2228100" y="1556987"/>
            <a:ext cx="83146" cy="7275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2394393" y="1515414"/>
            <a:ext cx="83146" cy="270225"/>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Isosceles Triangle 55"/>
          <p:cNvSpPr/>
          <p:nvPr/>
        </p:nvSpPr>
        <p:spPr>
          <a:xfrm>
            <a:off x="2394393" y="1442661"/>
            <a:ext cx="83146" cy="7275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2539899" y="1629740"/>
            <a:ext cx="83146" cy="155899"/>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Isosceles Triangle 57"/>
          <p:cNvSpPr/>
          <p:nvPr/>
        </p:nvSpPr>
        <p:spPr>
          <a:xfrm>
            <a:off x="2539899" y="1556987"/>
            <a:ext cx="83146" cy="7275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ounded Rectangle 58"/>
          <p:cNvSpPr/>
          <p:nvPr/>
        </p:nvSpPr>
        <p:spPr>
          <a:xfrm>
            <a:off x="2404786" y="1816820"/>
            <a:ext cx="62359" cy="98736"/>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2971724" y="1960818"/>
            <a:ext cx="347552" cy="12638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2987522" y="1869980"/>
            <a:ext cx="63191" cy="118483"/>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Isosceles Triangle 61"/>
          <p:cNvSpPr/>
          <p:nvPr/>
        </p:nvSpPr>
        <p:spPr>
          <a:xfrm>
            <a:off x="2987522" y="1814688"/>
            <a:ext cx="63191" cy="55292"/>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3113905" y="1783092"/>
            <a:ext cx="63191" cy="205371"/>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Isosceles Triangle 63"/>
          <p:cNvSpPr/>
          <p:nvPr/>
        </p:nvSpPr>
        <p:spPr>
          <a:xfrm>
            <a:off x="3113905" y="1727800"/>
            <a:ext cx="63191" cy="55292"/>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3224490" y="1869980"/>
            <a:ext cx="63191" cy="118483"/>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Isosceles Triangle 65"/>
          <p:cNvSpPr/>
          <p:nvPr/>
        </p:nvSpPr>
        <p:spPr>
          <a:xfrm>
            <a:off x="3224490" y="1814688"/>
            <a:ext cx="63191" cy="55292"/>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3121804" y="2012161"/>
            <a:ext cx="47393" cy="75039"/>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4445883" y="5789052"/>
            <a:ext cx="433606" cy="157675"/>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4465592" y="5675723"/>
            <a:ext cx="78837" cy="147820"/>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Isosceles Triangle 69"/>
          <p:cNvSpPr/>
          <p:nvPr/>
        </p:nvSpPr>
        <p:spPr>
          <a:xfrm>
            <a:off x="4465592" y="5606740"/>
            <a:ext cx="78837" cy="68982"/>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4623267" y="5567321"/>
            <a:ext cx="78837" cy="2562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Isosceles Triangle 71"/>
          <p:cNvSpPr/>
          <p:nvPr/>
        </p:nvSpPr>
        <p:spPr>
          <a:xfrm>
            <a:off x="4623267" y="5498338"/>
            <a:ext cx="78837" cy="68982"/>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4761233" y="5675723"/>
            <a:ext cx="78837" cy="147820"/>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Isosceles Triangle 73"/>
          <p:cNvSpPr/>
          <p:nvPr/>
        </p:nvSpPr>
        <p:spPr>
          <a:xfrm>
            <a:off x="4761233" y="5606740"/>
            <a:ext cx="78837" cy="68982"/>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4633122" y="5853107"/>
            <a:ext cx="59128" cy="93619"/>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5-Point Star 75"/>
          <p:cNvSpPr/>
          <p:nvPr/>
        </p:nvSpPr>
        <p:spPr>
          <a:xfrm>
            <a:off x="10189989" y="5795562"/>
            <a:ext cx="485724" cy="485724"/>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5-Point Star 76"/>
          <p:cNvSpPr/>
          <p:nvPr/>
        </p:nvSpPr>
        <p:spPr>
          <a:xfrm>
            <a:off x="3700382" y="4946675"/>
            <a:ext cx="613455" cy="613455"/>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rot="19800000">
            <a:off x="11281529" y="5397321"/>
            <a:ext cx="48464" cy="323099"/>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5-Point Star 78"/>
          <p:cNvSpPr/>
          <p:nvPr/>
        </p:nvSpPr>
        <p:spPr>
          <a:xfrm>
            <a:off x="11189984" y="5214232"/>
            <a:ext cx="247709" cy="247709"/>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4-Point Star 79"/>
          <p:cNvSpPr/>
          <p:nvPr/>
        </p:nvSpPr>
        <p:spPr>
          <a:xfrm>
            <a:off x="11119979" y="5429631"/>
            <a:ext cx="86159" cy="86159"/>
          </a:xfrm>
          <a:prstGeom prst="star4">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4-Point Star 80"/>
          <p:cNvSpPr/>
          <p:nvPr/>
        </p:nvSpPr>
        <p:spPr>
          <a:xfrm>
            <a:off x="11076899" y="5537331"/>
            <a:ext cx="59234" cy="59234"/>
          </a:xfrm>
          <a:prstGeom prst="star4">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DESIGN &amp; WORLD</a:t>
            </a:r>
          </a:p>
        </p:txBody>
      </p:sp>
      <p:sp>
        <p:nvSpPr>
          <p:cNvPr id="83" name="Rectangle 82"/>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デザインイメージと世界観</a:t>
            </a:r>
            <a:endParaRPr sz="2700" b="1" i="0" dirty="0">
              <a:solidFill>
                <a:srgbClr val="EEF4FF"/>
              </a:solidFill>
              <a:latin typeface="Meiryo UI" panose="020B0604030504040204" pitchFamily="50" charset="-128"/>
            </a:endParaRPr>
          </a:p>
        </p:txBody>
      </p:sp>
      <p:sp>
        <p:nvSpPr>
          <p:cNvPr id="85" name="TextBox 84"/>
          <p:cNvSpPr txBox="1"/>
          <p:nvPr/>
        </p:nvSpPr>
        <p:spPr>
          <a:xfrm>
            <a:off x="822960" y="1691640"/>
            <a:ext cx="3657600" cy="184666"/>
          </a:xfrm>
          <a:prstGeom prst="rect">
            <a:avLst/>
          </a:prstGeom>
          <a:noFill/>
        </p:spPr>
        <p:txBody>
          <a:bodyPr wrap="square" lIns="0" tIns="0" rIns="0" bIns="0" anchor="t">
            <a:spAutoFit/>
          </a:bodyPr>
          <a:lstStyle/>
          <a:p>
            <a:pPr algn="l">
              <a:lnSpc>
                <a:spcPct val="100000"/>
              </a:lnSpc>
              <a:spcAft>
                <a:spcPts val="0"/>
              </a:spcAft>
            </a:pPr>
            <a:r>
              <a:rPr sz="1200" b="1" i="0" dirty="0" err="1">
                <a:solidFill>
                  <a:srgbClr val="9AD5FF"/>
                </a:solidFill>
                <a:latin typeface="Meiryo UI" panose="020B0604030504040204" pitchFamily="50" charset="-128"/>
              </a:rPr>
              <a:t>カラーパレット</a:t>
            </a:r>
            <a:endParaRPr sz="1200" b="1" i="0" dirty="0">
              <a:solidFill>
                <a:srgbClr val="9AD5FF"/>
              </a:solidFill>
              <a:latin typeface="Meiryo UI" panose="020B0604030504040204" pitchFamily="50" charset="-128"/>
            </a:endParaRPr>
          </a:p>
        </p:txBody>
      </p:sp>
      <p:sp>
        <p:nvSpPr>
          <p:cNvPr id="86" name="Rounded Rectangle 85"/>
          <p:cNvSpPr/>
          <p:nvPr/>
        </p:nvSpPr>
        <p:spPr>
          <a:xfrm>
            <a:off x="822960" y="2057400"/>
            <a:ext cx="1417320" cy="1051560"/>
          </a:xfrm>
          <a:prstGeom prst="roundRect">
            <a:avLst>
              <a:gd name="adj" fmla="val 8000"/>
            </a:avLst>
          </a:prstGeom>
          <a:solidFill>
            <a:srgbClr val="03060D"/>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22960" y="3182112"/>
            <a:ext cx="1417320" cy="146194"/>
          </a:xfrm>
          <a:prstGeom prst="rect">
            <a:avLst/>
          </a:prstGeom>
          <a:noFill/>
        </p:spPr>
        <p:txBody>
          <a:bodyPr wrap="square" lIns="0" tIns="0" rIns="0" bIns="0" anchor="t">
            <a:spAutoFit/>
          </a:bodyPr>
          <a:lstStyle/>
          <a:p>
            <a:pPr algn="ctr">
              <a:lnSpc>
                <a:spcPct val="100000"/>
              </a:lnSpc>
              <a:spcAft>
                <a:spcPts val="0"/>
              </a:spcAft>
            </a:pPr>
            <a:r>
              <a:rPr sz="950" b="0" i="0" dirty="0">
                <a:solidFill>
                  <a:srgbClr val="EEF4FF"/>
                </a:solidFill>
                <a:latin typeface="Meiryo UI" panose="020B0604030504040204" pitchFamily="50" charset="-128"/>
              </a:rPr>
              <a:t>Void Black</a:t>
            </a:r>
          </a:p>
        </p:txBody>
      </p:sp>
      <p:sp>
        <p:nvSpPr>
          <p:cNvPr id="88" name="TextBox 87"/>
          <p:cNvSpPr txBox="1"/>
          <p:nvPr/>
        </p:nvSpPr>
        <p:spPr>
          <a:xfrm>
            <a:off x="822960" y="3401568"/>
            <a:ext cx="1417320" cy="228600"/>
          </a:xfrm>
          <a:prstGeom prst="rect">
            <a:avLst/>
          </a:prstGeom>
          <a:noFill/>
        </p:spPr>
        <p:txBody>
          <a:bodyPr wrap="square" lIns="0" tIns="0" rIns="0" bIns="0" anchor="t">
            <a:spAutoFit/>
          </a:bodyPr>
          <a:lstStyle/>
          <a:p>
            <a:pPr algn="ctr">
              <a:lnSpc>
                <a:spcPct val="100000"/>
              </a:lnSpc>
              <a:spcAft>
                <a:spcPts val="0"/>
              </a:spcAft>
            </a:pPr>
            <a:r>
              <a:rPr sz="850" b="0" i="0">
                <a:solidFill>
                  <a:srgbClr val="7D8FAE"/>
                </a:solidFill>
                <a:latin typeface="Georgia"/>
              </a:rPr>
              <a:t>#03060D</a:t>
            </a:r>
          </a:p>
        </p:txBody>
      </p:sp>
      <p:sp>
        <p:nvSpPr>
          <p:cNvPr id="89" name="Rounded Rectangle 88"/>
          <p:cNvSpPr/>
          <p:nvPr/>
        </p:nvSpPr>
        <p:spPr>
          <a:xfrm>
            <a:off x="2514600" y="2057400"/>
            <a:ext cx="1417320" cy="1051560"/>
          </a:xfrm>
          <a:prstGeom prst="roundRect">
            <a:avLst>
              <a:gd name="adj" fmla="val 8000"/>
            </a:avLst>
          </a:prstGeom>
          <a:solidFill>
            <a:srgbClr val="060D1E"/>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2514600" y="3182112"/>
            <a:ext cx="1417320" cy="146194"/>
          </a:xfrm>
          <a:prstGeom prst="rect">
            <a:avLst/>
          </a:prstGeom>
          <a:noFill/>
        </p:spPr>
        <p:txBody>
          <a:bodyPr wrap="square" lIns="0" tIns="0" rIns="0" bIns="0" anchor="t">
            <a:spAutoFit/>
          </a:bodyPr>
          <a:lstStyle/>
          <a:p>
            <a:pPr algn="ctr">
              <a:lnSpc>
                <a:spcPct val="100000"/>
              </a:lnSpc>
              <a:spcAft>
                <a:spcPts val="0"/>
              </a:spcAft>
            </a:pPr>
            <a:r>
              <a:rPr sz="950" b="0" i="0" dirty="0">
                <a:solidFill>
                  <a:srgbClr val="EEF4FF"/>
                </a:solidFill>
                <a:latin typeface="Meiryo UI" panose="020B0604030504040204" pitchFamily="50" charset="-128"/>
              </a:rPr>
              <a:t>Dark Navy</a:t>
            </a:r>
          </a:p>
        </p:txBody>
      </p:sp>
      <p:sp>
        <p:nvSpPr>
          <p:cNvPr id="91" name="TextBox 90"/>
          <p:cNvSpPr txBox="1"/>
          <p:nvPr/>
        </p:nvSpPr>
        <p:spPr>
          <a:xfrm>
            <a:off x="2514600" y="3401568"/>
            <a:ext cx="1417320" cy="228600"/>
          </a:xfrm>
          <a:prstGeom prst="rect">
            <a:avLst/>
          </a:prstGeom>
          <a:noFill/>
        </p:spPr>
        <p:txBody>
          <a:bodyPr wrap="square" lIns="0" tIns="0" rIns="0" bIns="0" anchor="t">
            <a:spAutoFit/>
          </a:bodyPr>
          <a:lstStyle/>
          <a:p>
            <a:pPr algn="ctr">
              <a:lnSpc>
                <a:spcPct val="100000"/>
              </a:lnSpc>
              <a:spcAft>
                <a:spcPts val="0"/>
              </a:spcAft>
            </a:pPr>
            <a:r>
              <a:rPr sz="850" b="0" i="0">
                <a:solidFill>
                  <a:srgbClr val="7D8FAE"/>
                </a:solidFill>
                <a:latin typeface="Georgia"/>
              </a:rPr>
              <a:t>#060D1E</a:t>
            </a:r>
          </a:p>
        </p:txBody>
      </p:sp>
      <p:sp>
        <p:nvSpPr>
          <p:cNvPr id="92" name="Rounded Rectangle 91"/>
          <p:cNvSpPr/>
          <p:nvPr/>
        </p:nvSpPr>
        <p:spPr>
          <a:xfrm>
            <a:off x="4206240" y="2057400"/>
            <a:ext cx="1417320" cy="1051560"/>
          </a:xfrm>
          <a:prstGeom prst="roundRect">
            <a:avLst>
              <a:gd name="adj" fmla="val 8000"/>
            </a:avLst>
          </a:prstGeom>
          <a:solidFill>
            <a:srgbClr val="4DA6FF"/>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4206240" y="3182112"/>
            <a:ext cx="1417320" cy="146194"/>
          </a:xfrm>
          <a:prstGeom prst="rect">
            <a:avLst/>
          </a:prstGeom>
          <a:noFill/>
        </p:spPr>
        <p:txBody>
          <a:bodyPr wrap="square" lIns="0" tIns="0" rIns="0" bIns="0" anchor="t">
            <a:spAutoFit/>
          </a:bodyPr>
          <a:lstStyle/>
          <a:p>
            <a:pPr algn="ctr">
              <a:lnSpc>
                <a:spcPct val="100000"/>
              </a:lnSpc>
              <a:spcAft>
                <a:spcPts val="0"/>
              </a:spcAft>
            </a:pPr>
            <a:r>
              <a:rPr sz="950" b="0" i="0" dirty="0">
                <a:solidFill>
                  <a:srgbClr val="EEF4FF"/>
                </a:solidFill>
                <a:latin typeface="Meiryo UI" panose="020B0604030504040204" pitchFamily="50" charset="-128"/>
              </a:rPr>
              <a:t>Blue</a:t>
            </a:r>
          </a:p>
        </p:txBody>
      </p:sp>
      <p:sp>
        <p:nvSpPr>
          <p:cNvPr id="94" name="TextBox 93"/>
          <p:cNvSpPr txBox="1"/>
          <p:nvPr/>
        </p:nvSpPr>
        <p:spPr>
          <a:xfrm>
            <a:off x="4206240" y="3401568"/>
            <a:ext cx="1417320" cy="228600"/>
          </a:xfrm>
          <a:prstGeom prst="rect">
            <a:avLst/>
          </a:prstGeom>
          <a:noFill/>
        </p:spPr>
        <p:txBody>
          <a:bodyPr wrap="square" lIns="0" tIns="0" rIns="0" bIns="0" anchor="t">
            <a:spAutoFit/>
          </a:bodyPr>
          <a:lstStyle/>
          <a:p>
            <a:pPr algn="ctr">
              <a:lnSpc>
                <a:spcPct val="100000"/>
              </a:lnSpc>
              <a:spcAft>
                <a:spcPts val="0"/>
              </a:spcAft>
            </a:pPr>
            <a:r>
              <a:rPr sz="850" b="0" i="0">
                <a:solidFill>
                  <a:srgbClr val="7D8FAE"/>
                </a:solidFill>
                <a:latin typeface="Georgia"/>
              </a:rPr>
              <a:t>#4DA6FF</a:t>
            </a:r>
          </a:p>
        </p:txBody>
      </p:sp>
      <p:sp>
        <p:nvSpPr>
          <p:cNvPr id="95" name="Rounded Rectangle 94"/>
          <p:cNvSpPr/>
          <p:nvPr/>
        </p:nvSpPr>
        <p:spPr>
          <a:xfrm>
            <a:off x="5897880" y="2057400"/>
            <a:ext cx="1417320" cy="1051560"/>
          </a:xfrm>
          <a:prstGeom prst="roundRect">
            <a:avLst>
              <a:gd name="adj" fmla="val 8000"/>
            </a:avLst>
          </a:prstGeom>
          <a:solidFill>
            <a:srgbClr val="EEF4FF"/>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5897880" y="3182112"/>
            <a:ext cx="1417320" cy="146194"/>
          </a:xfrm>
          <a:prstGeom prst="rect">
            <a:avLst/>
          </a:prstGeom>
          <a:noFill/>
        </p:spPr>
        <p:txBody>
          <a:bodyPr wrap="square" lIns="0" tIns="0" rIns="0" bIns="0" anchor="t">
            <a:spAutoFit/>
          </a:bodyPr>
          <a:lstStyle/>
          <a:p>
            <a:pPr algn="ctr">
              <a:lnSpc>
                <a:spcPct val="100000"/>
              </a:lnSpc>
              <a:spcAft>
                <a:spcPts val="0"/>
              </a:spcAft>
            </a:pPr>
            <a:r>
              <a:rPr sz="950" b="0" i="0" dirty="0">
                <a:solidFill>
                  <a:srgbClr val="EEF4FF"/>
                </a:solidFill>
                <a:latin typeface="Meiryo UI" panose="020B0604030504040204" pitchFamily="50" charset="-128"/>
              </a:rPr>
              <a:t>White</a:t>
            </a:r>
          </a:p>
        </p:txBody>
      </p:sp>
      <p:sp>
        <p:nvSpPr>
          <p:cNvPr id="97" name="TextBox 96"/>
          <p:cNvSpPr txBox="1"/>
          <p:nvPr/>
        </p:nvSpPr>
        <p:spPr>
          <a:xfrm>
            <a:off x="5897880" y="3401568"/>
            <a:ext cx="1417320" cy="228600"/>
          </a:xfrm>
          <a:prstGeom prst="rect">
            <a:avLst/>
          </a:prstGeom>
          <a:noFill/>
        </p:spPr>
        <p:txBody>
          <a:bodyPr wrap="square" lIns="0" tIns="0" rIns="0" bIns="0" anchor="t">
            <a:spAutoFit/>
          </a:bodyPr>
          <a:lstStyle/>
          <a:p>
            <a:pPr algn="ctr">
              <a:lnSpc>
                <a:spcPct val="100000"/>
              </a:lnSpc>
              <a:spcAft>
                <a:spcPts val="0"/>
              </a:spcAft>
            </a:pPr>
            <a:r>
              <a:rPr sz="850" b="0" i="0">
                <a:solidFill>
                  <a:srgbClr val="7D8FAE"/>
                </a:solidFill>
                <a:latin typeface="Georgia"/>
              </a:rPr>
              <a:t>#EEF4FF</a:t>
            </a:r>
          </a:p>
        </p:txBody>
      </p:sp>
      <p:sp>
        <p:nvSpPr>
          <p:cNvPr id="98" name="Rounded Rectangle 97"/>
          <p:cNvSpPr/>
          <p:nvPr/>
        </p:nvSpPr>
        <p:spPr>
          <a:xfrm>
            <a:off x="7589520" y="2057400"/>
            <a:ext cx="1417320" cy="1051560"/>
          </a:xfrm>
          <a:prstGeom prst="roundRect">
            <a:avLst>
              <a:gd name="adj" fmla="val 8000"/>
            </a:avLst>
          </a:prstGeom>
          <a:solidFill>
            <a:srgbClr val="E6D5A3"/>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7589520" y="3182112"/>
            <a:ext cx="1417320" cy="146194"/>
          </a:xfrm>
          <a:prstGeom prst="rect">
            <a:avLst/>
          </a:prstGeom>
          <a:noFill/>
        </p:spPr>
        <p:txBody>
          <a:bodyPr wrap="square" lIns="0" tIns="0" rIns="0" bIns="0" anchor="t">
            <a:spAutoFit/>
          </a:bodyPr>
          <a:lstStyle/>
          <a:p>
            <a:pPr algn="ctr">
              <a:lnSpc>
                <a:spcPct val="100000"/>
              </a:lnSpc>
              <a:spcAft>
                <a:spcPts val="0"/>
              </a:spcAft>
            </a:pPr>
            <a:r>
              <a:rPr sz="950" b="0" i="0" dirty="0">
                <a:solidFill>
                  <a:srgbClr val="EEF4FF"/>
                </a:solidFill>
                <a:latin typeface="Meiryo UI" panose="020B0604030504040204" pitchFamily="50" charset="-128"/>
              </a:rPr>
              <a:t>Pale Gold</a:t>
            </a:r>
          </a:p>
        </p:txBody>
      </p:sp>
      <p:sp>
        <p:nvSpPr>
          <p:cNvPr id="100" name="TextBox 99"/>
          <p:cNvSpPr txBox="1"/>
          <p:nvPr/>
        </p:nvSpPr>
        <p:spPr>
          <a:xfrm>
            <a:off x="7589520" y="3401568"/>
            <a:ext cx="1417320" cy="228600"/>
          </a:xfrm>
          <a:prstGeom prst="rect">
            <a:avLst/>
          </a:prstGeom>
          <a:noFill/>
        </p:spPr>
        <p:txBody>
          <a:bodyPr wrap="square" lIns="0" tIns="0" rIns="0" bIns="0" anchor="t">
            <a:spAutoFit/>
          </a:bodyPr>
          <a:lstStyle/>
          <a:p>
            <a:pPr algn="ctr">
              <a:lnSpc>
                <a:spcPct val="100000"/>
              </a:lnSpc>
              <a:spcAft>
                <a:spcPts val="0"/>
              </a:spcAft>
            </a:pPr>
            <a:r>
              <a:rPr sz="850" b="0" i="0">
                <a:solidFill>
                  <a:srgbClr val="7D8FAE"/>
                </a:solidFill>
                <a:latin typeface="Georgia"/>
              </a:rPr>
              <a:t>#E6D5A3</a:t>
            </a:r>
          </a:p>
        </p:txBody>
      </p:sp>
      <p:sp>
        <p:nvSpPr>
          <p:cNvPr id="101" name="TextBox 100"/>
          <p:cNvSpPr txBox="1"/>
          <p:nvPr/>
        </p:nvSpPr>
        <p:spPr>
          <a:xfrm>
            <a:off x="822960" y="3977639"/>
            <a:ext cx="3657600" cy="184666"/>
          </a:xfrm>
          <a:prstGeom prst="rect">
            <a:avLst/>
          </a:prstGeom>
          <a:noFill/>
        </p:spPr>
        <p:txBody>
          <a:bodyPr wrap="square" lIns="0" tIns="0" rIns="0" bIns="0" anchor="t">
            <a:spAutoFit/>
          </a:bodyPr>
          <a:lstStyle/>
          <a:p>
            <a:pPr algn="l">
              <a:lnSpc>
                <a:spcPct val="100000"/>
              </a:lnSpc>
              <a:spcAft>
                <a:spcPts val="0"/>
              </a:spcAft>
            </a:pPr>
            <a:r>
              <a:rPr sz="1200" b="1" i="0" dirty="0" err="1">
                <a:solidFill>
                  <a:srgbClr val="9AD5FF"/>
                </a:solidFill>
                <a:latin typeface="Meiryo UI" panose="020B0604030504040204" pitchFamily="50" charset="-128"/>
              </a:rPr>
              <a:t>デザインキーワード</a:t>
            </a:r>
            <a:endParaRPr sz="1200" b="1" i="0" dirty="0">
              <a:solidFill>
                <a:srgbClr val="9AD5FF"/>
              </a:solidFill>
              <a:latin typeface="Meiryo UI" panose="020B0604030504040204" pitchFamily="50" charset="-128"/>
            </a:endParaRPr>
          </a:p>
        </p:txBody>
      </p:sp>
      <p:sp>
        <p:nvSpPr>
          <p:cNvPr id="102" name="Rounded Rectangle 101"/>
          <p:cNvSpPr/>
          <p:nvPr/>
        </p:nvSpPr>
        <p:spPr>
          <a:xfrm>
            <a:off x="822960" y="4343400"/>
            <a:ext cx="1033272" cy="384048"/>
          </a:xfrm>
          <a:prstGeom prst="roundRect">
            <a:avLst>
              <a:gd name="adj" fmla="val 50000"/>
            </a:avLst>
          </a:prstGeom>
          <a:solidFill>
            <a:srgbClr val="0A1630"/>
          </a:solidFill>
          <a:ln w="9525">
            <a:solidFill>
              <a:srgbClr val="2A6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822960" y="4454632"/>
            <a:ext cx="1033272" cy="161583"/>
          </a:xfrm>
          <a:prstGeom prst="rect">
            <a:avLst/>
          </a:prstGeom>
          <a:noFill/>
        </p:spPr>
        <p:txBody>
          <a:bodyPr wrap="square" lIns="0" tIns="0" rIns="0" bIns="0" anchor="ctr">
            <a:spAutoFit/>
          </a:bodyPr>
          <a:lstStyle/>
          <a:p>
            <a:pPr algn="ctr">
              <a:lnSpc>
                <a:spcPct val="100000"/>
              </a:lnSpc>
              <a:spcAft>
                <a:spcPts val="0"/>
              </a:spcAft>
            </a:pPr>
            <a:r>
              <a:rPr sz="1050" b="0" i="0" dirty="0" err="1">
                <a:solidFill>
                  <a:srgbClr val="9AD5FF"/>
                </a:solidFill>
                <a:latin typeface="Meiryo UI" panose="020B0604030504040204" pitchFamily="50" charset="-128"/>
              </a:rPr>
              <a:t>幻想的</a:t>
            </a:r>
            <a:endParaRPr sz="1050" b="0" i="0" dirty="0">
              <a:solidFill>
                <a:srgbClr val="9AD5FF"/>
              </a:solidFill>
              <a:latin typeface="Meiryo UI" panose="020B0604030504040204" pitchFamily="50" charset="-128"/>
            </a:endParaRPr>
          </a:p>
        </p:txBody>
      </p:sp>
      <p:sp>
        <p:nvSpPr>
          <p:cNvPr id="104" name="Rounded Rectangle 103"/>
          <p:cNvSpPr/>
          <p:nvPr/>
        </p:nvSpPr>
        <p:spPr>
          <a:xfrm>
            <a:off x="2020824" y="4343400"/>
            <a:ext cx="1033272" cy="384048"/>
          </a:xfrm>
          <a:prstGeom prst="roundRect">
            <a:avLst>
              <a:gd name="adj" fmla="val 50000"/>
            </a:avLst>
          </a:prstGeom>
          <a:solidFill>
            <a:srgbClr val="0A1630"/>
          </a:solidFill>
          <a:ln w="9525">
            <a:solidFill>
              <a:srgbClr val="2A6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2020824" y="4454632"/>
            <a:ext cx="1033272" cy="161583"/>
          </a:xfrm>
          <a:prstGeom prst="rect">
            <a:avLst/>
          </a:prstGeom>
          <a:noFill/>
        </p:spPr>
        <p:txBody>
          <a:bodyPr wrap="square" lIns="0" tIns="0" rIns="0" bIns="0" anchor="ctr">
            <a:spAutoFit/>
          </a:bodyPr>
          <a:lstStyle/>
          <a:p>
            <a:pPr algn="ctr">
              <a:lnSpc>
                <a:spcPct val="100000"/>
              </a:lnSpc>
              <a:spcAft>
                <a:spcPts val="0"/>
              </a:spcAft>
            </a:pPr>
            <a:r>
              <a:rPr sz="1050" b="0" i="0" dirty="0" err="1">
                <a:solidFill>
                  <a:srgbClr val="9AD5FF"/>
                </a:solidFill>
                <a:latin typeface="Meiryo UI" panose="020B0604030504040204" pitchFamily="50" charset="-128"/>
              </a:rPr>
              <a:t>神秘的</a:t>
            </a:r>
            <a:endParaRPr sz="1050" b="0" i="0" dirty="0">
              <a:solidFill>
                <a:srgbClr val="9AD5FF"/>
              </a:solidFill>
              <a:latin typeface="Meiryo UI" panose="020B0604030504040204" pitchFamily="50" charset="-128"/>
            </a:endParaRPr>
          </a:p>
        </p:txBody>
      </p:sp>
      <p:sp>
        <p:nvSpPr>
          <p:cNvPr id="106" name="Rounded Rectangle 105"/>
          <p:cNvSpPr/>
          <p:nvPr/>
        </p:nvSpPr>
        <p:spPr>
          <a:xfrm>
            <a:off x="3218688" y="4343400"/>
            <a:ext cx="1033272" cy="384048"/>
          </a:xfrm>
          <a:prstGeom prst="roundRect">
            <a:avLst>
              <a:gd name="adj" fmla="val 50000"/>
            </a:avLst>
          </a:prstGeom>
          <a:solidFill>
            <a:srgbClr val="0A1630"/>
          </a:solidFill>
          <a:ln w="9525">
            <a:solidFill>
              <a:srgbClr val="2A6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3218688" y="4454632"/>
            <a:ext cx="1033272" cy="161583"/>
          </a:xfrm>
          <a:prstGeom prst="rect">
            <a:avLst/>
          </a:prstGeom>
          <a:noFill/>
        </p:spPr>
        <p:txBody>
          <a:bodyPr wrap="square" lIns="0" tIns="0" rIns="0" bIns="0" anchor="ctr">
            <a:spAutoFit/>
          </a:bodyPr>
          <a:lstStyle/>
          <a:p>
            <a:pPr algn="ctr">
              <a:lnSpc>
                <a:spcPct val="100000"/>
              </a:lnSpc>
              <a:spcAft>
                <a:spcPts val="0"/>
              </a:spcAft>
            </a:pPr>
            <a:r>
              <a:rPr sz="1050" b="0" i="0" dirty="0" err="1">
                <a:solidFill>
                  <a:srgbClr val="9AD5FF"/>
                </a:solidFill>
                <a:latin typeface="Meiryo UI" panose="020B0604030504040204" pitchFamily="50" charset="-128"/>
              </a:rPr>
              <a:t>静けさ</a:t>
            </a:r>
            <a:endParaRPr sz="1050" b="0" i="0" dirty="0">
              <a:solidFill>
                <a:srgbClr val="9AD5FF"/>
              </a:solidFill>
              <a:latin typeface="Meiryo UI" panose="020B0604030504040204" pitchFamily="50" charset="-128"/>
            </a:endParaRPr>
          </a:p>
        </p:txBody>
      </p:sp>
      <p:sp>
        <p:nvSpPr>
          <p:cNvPr id="108" name="Rounded Rectangle 107"/>
          <p:cNvSpPr/>
          <p:nvPr/>
        </p:nvSpPr>
        <p:spPr>
          <a:xfrm>
            <a:off x="4416552" y="4343400"/>
            <a:ext cx="557784" cy="384048"/>
          </a:xfrm>
          <a:prstGeom prst="roundRect">
            <a:avLst>
              <a:gd name="adj" fmla="val 50000"/>
            </a:avLst>
          </a:prstGeom>
          <a:solidFill>
            <a:srgbClr val="0A1630"/>
          </a:solidFill>
          <a:ln w="9525">
            <a:solidFill>
              <a:srgbClr val="2A6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4416552" y="4454632"/>
            <a:ext cx="557784" cy="161583"/>
          </a:xfrm>
          <a:prstGeom prst="rect">
            <a:avLst/>
          </a:prstGeom>
          <a:noFill/>
        </p:spPr>
        <p:txBody>
          <a:bodyPr wrap="square" lIns="0" tIns="0" rIns="0" bIns="0" anchor="ctr">
            <a:spAutoFit/>
          </a:bodyPr>
          <a:lstStyle/>
          <a:p>
            <a:pPr algn="ctr">
              <a:lnSpc>
                <a:spcPct val="100000"/>
              </a:lnSpc>
              <a:spcAft>
                <a:spcPts val="0"/>
              </a:spcAft>
            </a:pPr>
            <a:r>
              <a:rPr sz="1050" b="0" i="0" dirty="0">
                <a:solidFill>
                  <a:srgbClr val="9AD5FF"/>
                </a:solidFill>
                <a:latin typeface="Meiryo UI" panose="020B0604030504040204" pitchFamily="50" charset="-128"/>
              </a:rPr>
              <a:t>光</a:t>
            </a:r>
          </a:p>
        </p:txBody>
      </p:sp>
      <p:sp>
        <p:nvSpPr>
          <p:cNvPr id="110" name="Rounded Rectangle 109"/>
          <p:cNvSpPr/>
          <p:nvPr/>
        </p:nvSpPr>
        <p:spPr>
          <a:xfrm>
            <a:off x="5138928" y="4343400"/>
            <a:ext cx="795528" cy="384048"/>
          </a:xfrm>
          <a:prstGeom prst="roundRect">
            <a:avLst>
              <a:gd name="adj" fmla="val 50000"/>
            </a:avLst>
          </a:prstGeom>
          <a:solidFill>
            <a:srgbClr val="0A1630"/>
          </a:solidFill>
          <a:ln w="9525">
            <a:solidFill>
              <a:srgbClr val="2A6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5138928" y="4454632"/>
            <a:ext cx="795528" cy="161583"/>
          </a:xfrm>
          <a:prstGeom prst="rect">
            <a:avLst/>
          </a:prstGeom>
          <a:noFill/>
        </p:spPr>
        <p:txBody>
          <a:bodyPr wrap="square" lIns="0" tIns="0" rIns="0" bIns="0" anchor="ctr">
            <a:spAutoFit/>
          </a:bodyPr>
          <a:lstStyle/>
          <a:p>
            <a:pPr algn="ctr">
              <a:lnSpc>
                <a:spcPct val="100000"/>
              </a:lnSpc>
              <a:spcAft>
                <a:spcPts val="0"/>
              </a:spcAft>
            </a:pPr>
            <a:r>
              <a:rPr sz="1050" b="0" i="0" dirty="0" err="1">
                <a:solidFill>
                  <a:srgbClr val="9AD5FF"/>
                </a:solidFill>
                <a:latin typeface="Meiryo UI" panose="020B0604030504040204" pitchFamily="50" charset="-128"/>
              </a:rPr>
              <a:t>記憶</a:t>
            </a:r>
            <a:endParaRPr sz="1050" b="0" i="0" dirty="0">
              <a:solidFill>
                <a:srgbClr val="9AD5FF"/>
              </a:solidFill>
              <a:latin typeface="Meiryo UI" panose="020B0604030504040204" pitchFamily="50" charset="-128"/>
            </a:endParaRPr>
          </a:p>
        </p:txBody>
      </p:sp>
      <p:sp>
        <p:nvSpPr>
          <p:cNvPr id="112" name="Rounded Rectangle 111"/>
          <p:cNvSpPr/>
          <p:nvPr/>
        </p:nvSpPr>
        <p:spPr>
          <a:xfrm>
            <a:off x="6099048" y="4343400"/>
            <a:ext cx="1508760" cy="384048"/>
          </a:xfrm>
          <a:prstGeom prst="roundRect">
            <a:avLst>
              <a:gd name="adj" fmla="val 50000"/>
            </a:avLst>
          </a:prstGeom>
          <a:solidFill>
            <a:srgbClr val="0A1630"/>
          </a:solidFill>
          <a:ln w="9525">
            <a:solidFill>
              <a:srgbClr val="2A6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6099048" y="4454632"/>
            <a:ext cx="1508760" cy="161583"/>
          </a:xfrm>
          <a:prstGeom prst="rect">
            <a:avLst/>
          </a:prstGeom>
          <a:noFill/>
        </p:spPr>
        <p:txBody>
          <a:bodyPr wrap="square" lIns="0" tIns="0" rIns="0" bIns="0" anchor="ctr">
            <a:spAutoFit/>
          </a:bodyPr>
          <a:lstStyle/>
          <a:p>
            <a:pPr algn="ctr">
              <a:lnSpc>
                <a:spcPct val="100000"/>
              </a:lnSpc>
              <a:spcAft>
                <a:spcPts val="0"/>
              </a:spcAft>
            </a:pPr>
            <a:r>
              <a:rPr sz="1050" b="0" i="0" dirty="0" err="1">
                <a:solidFill>
                  <a:srgbClr val="9AD5FF"/>
                </a:solidFill>
                <a:latin typeface="Meiryo UI" panose="020B0604030504040204" pitchFamily="50" charset="-128"/>
              </a:rPr>
              <a:t>ゲームUI</a:t>
            </a:r>
            <a:endParaRPr sz="1050" b="0" i="0" dirty="0">
              <a:solidFill>
                <a:srgbClr val="9AD5FF"/>
              </a:solidFill>
              <a:latin typeface="Meiryo UI" panose="020B0604030504040204" pitchFamily="50" charset="-128"/>
            </a:endParaRPr>
          </a:p>
        </p:txBody>
      </p:sp>
      <p:sp>
        <p:nvSpPr>
          <p:cNvPr id="114" name="Rounded Rectangle 113"/>
          <p:cNvSpPr/>
          <p:nvPr/>
        </p:nvSpPr>
        <p:spPr>
          <a:xfrm>
            <a:off x="822960" y="4983480"/>
            <a:ext cx="10515600" cy="128016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1097280" y="5166360"/>
            <a:ext cx="10058400" cy="184666"/>
          </a:xfrm>
          <a:prstGeom prst="rect">
            <a:avLst/>
          </a:prstGeom>
          <a:noFill/>
        </p:spPr>
        <p:txBody>
          <a:bodyPr wrap="square" lIns="0" tIns="0" rIns="0" bIns="0" anchor="t">
            <a:spAutoFit/>
          </a:bodyPr>
          <a:lstStyle/>
          <a:p>
            <a:pPr algn="l">
              <a:lnSpc>
                <a:spcPct val="100000"/>
              </a:lnSpc>
              <a:spcAft>
                <a:spcPts val="0"/>
              </a:spcAft>
            </a:pPr>
            <a:r>
              <a:rPr sz="1200" b="1" i="0" dirty="0" err="1">
                <a:solidFill>
                  <a:srgbClr val="E6D5A3"/>
                </a:solidFill>
                <a:latin typeface="Meiryo UI" panose="020B0604030504040204" pitchFamily="50" charset="-128"/>
              </a:rPr>
              <a:t>具体的なデザイン要素</a:t>
            </a:r>
            <a:endParaRPr sz="1200" b="1" i="0" dirty="0">
              <a:solidFill>
                <a:srgbClr val="E6D5A3"/>
              </a:solidFill>
              <a:latin typeface="Meiryo UI" panose="020B0604030504040204" pitchFamily="50" charset="-128"/>
            </a:endParaRPr>
          </a:p>
        </p:txBody>
      </p:sp>
      <p:sp>
        <p:nvSpPr>
          <p:cNvPr id="116" name="TextBox 115"/>
          <p:cNvSpPr txBox="1"/>
          <p:nvPr/>
        </p:nvSpPr>
        <p:spPr>
          <a:xfrm>
            <a:off x="1097280" y="5486400"/>
            <a:ext cx="10058400" cy="563488"/>
          </a:xfrm>
          <a:prstGeom prst="rect">
            <a:avLst/>
          </a:prstGeom>
          <a:noFill/>
        </p:spPr>
        <p:txBody>
          <a:bodyPr wrap="square" lIns="0" tIns="0" rIns="0" bIns="0" anchor="t">
            <a:spAutoFit/>
          </a:bodyPr>
          <a:lstStyle/>
          <a:p>
            <a:pPr algn="l">
              <a:lnSpc>
                <a:spcPct val="140000"/>
              </a:lnSpc>
              <a:spcAft>
                <a:spcPts val="0"/>
              </a:spcAft>
            </a:pPr>
            <a:r>
              <a:rPr sz="1400" b="0" i="0" dirty="0">
                <a:solidFill>
                  <a:srgbClr val="C3D2EA"/>
                </a:solidFill>
                <a:latin typeface="Meiryo UI" panose="020B0604030504040204" pitchFamily="50" charset="-128"/>
              </a:rPr>
              <a:t>光る粒子・ガラス風UI・青白い発光・余白を活かした滑らかな遷移</a:t>
            </a:r>
          </a:p>
        </p:txBody>
      </p:sp>
      <p:sp>
        <p:nvSpPr>
          <p:cNvPr id="117" name="TextBox 116"/>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18" name="TextBox 117"/>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09 / 14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877056" y="5065776"/>
            <a:ext cx="11996927" cy="11996927"/>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023360" y="5212080"/>
            <a:ext cx="11704320" cy="1170432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661964" y="6850684"/>
            <a:ext cx="8427110" cy="8427110"/>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183526" y="8372246"/>
            <a:ext cx="5383987" cy="5383987"/>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2362597" y="12094421"/>
            <a:ext cx="2595212" cy="107497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4782244" y="12993828"/>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0905701" y="13551317"/>
            <a:ext cx="1074972" cy="25952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1805108" y="15970964"/>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7770366" y="13551317"/>
            <a:ext cx="1074972" cy="25952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7594802" y="15970964"/>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4793230" y="12094421"/>
            <a:ext cx="2595212" cy="107497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4617665" y="12993828"/>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4793230" y="8959086"/>
            <a:ext cx="2595212" cy="107497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4617665" y="8783522"/>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7770366" y="5981950"/>
            <a:ext cx="1074972" cy="25952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7594802" y="5806385"/>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0905701" y="5981950"/>
            <a:ext cx="1074972" cy="25952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1805108" y="5806385"/>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2362597" y="8959086"/>
            <a:ext cx="2595212" cy="107497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4782244" y="8783522"/>
            <a:ext cx="351129" cy="351129"/>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320375" y="5840657"/>
            <a:ext cx="46793" cy="46793"/>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540979" y="667319"/>
            <a:ext cx="97331" cy="97331"/>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34046" y="6270881"/>
            <a:ext cx="69014" cy="69014"/>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iamond 35"/>
          <p:cNvSpPr/>
          <p:nvPr/>
        </p:nvSpPr>
        <p:spPr>
          <a:xfrm>
            <a:off x="7690554" y="4548555"/>
            <a:ext cx="93504" cy="93504"/>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5812322" y="1161946"/>
            <a:ext cx="63310" cy="6331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Diamond 37"/>
          <p:cNvSpPr/>
          <p:nvPr/>
        </p:nvSpPr>
        <p:spPr>
          <a:xfrm>
            <a:off x="1281617" y="2457167"/>
            <a:ext cx="97890" cy="97890"/>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Diamond 38"/>
          <p:cNvSpPr/>
          <p:nvPr/>
        </p:nvSpPr>
        <p:spPr>
          <a:xfrm>
            <a:off x="5252904" y="549272"/>
            <a:ext cx="92926" cy="92926"/>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2468427" y="4886268"/>
            <a:ext cx="74028" cy="74028"/>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iamond 40"/>
          <p:cNvSpPr/>
          <p:nvPr/>
        </p:nvSpPr>
        <p:spPr>
          <a:xfrm>
            <a:off x="7197550" y="3362791"/>
            <a:ext cx="72903" cy="72903"/>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Diamond 41"/>
          <p:cNvSpPr/>
          <p:nvPr/>
        </p:nvSpPr>
        <p:spPr>
          <a:xfrm>
            <a:off x="2030378" y="1568822"/>
            <a:ext cx="61381" cy="61381"/>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iamond 42"/>
          <p:cNvSpPr/>
          <p:nvPr/>
        </p:nvSpPr>
        <p:spPr>
          <a:xfrm>
            <a:off x="10324443" y="1628186"/>
            <a:ext cx="54112" cy="54112"/>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1916473" y="5399494"/>
            <a:ext cx="106740" cy="10674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9937845" y="4148248"/>
            <a:ext cx="595134" cy="216412"/>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9964896" y="3992702"/>
            <a:ext cx="108206" cy="202886"/>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Isosceles Triangle 46"/>
          <p:cNvSpPr/>
          <p:nvPr/>
        </p:nvSpPr>
        <p:spPr>
          <a:xfrm>
            <a:off x="9964896" y="3898022"/>
            <a:ext cx="108206" cy="94680"/>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10181309" y="3843918"/>
            <a:ext cx="108206" cy="351670"/>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Isosceles Triangle 48"/>
          <p:cNvSpPr/>
          <p:nvPr/>
        </p:nvSpPr>
        <p:spPr>
          <a:xfrm>
            <a:off x="10181309" y="3749238"/>
            <a:ext cx="108206" cy="94680"/>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10370670" y="3992702"/>
            <a:ext cx="108206" cy="202886"/>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Isosceles Triangle 50"/>
          <p:cNvSpPr/>
          <p:nvPr/>
        </p:nvSpPr>
        <p:spPr>
          <a:xfrm>
            <a:off x="10370670" y="3898022"/>
            <a:ext cx="108206" cy="94680"/>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p:cNvSpPr/>
          <p:nvPr/>
        </p:nvSpPr>
        <p:spPr>
          <a:xfrm>
            <a:off x="10194835" y="4236166"/>
            <a:ext cx="81154" cy="128494"/>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rot="19800000">
            <a:off x="2524292" y="6134433"/>
            <a:ext cx="36583" cy="243890"/>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5-Point Star 53"/>
          <p:cNvSpPr/>
          <p:nvPr/>
        </p:nvSpPr>
        <p:spPr>
          <a:xfrm>
            <a:off x="2455190" y="5996229"/>
            <a:ext cx="186982" cy="186982"/>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4-Point Star 54"/>
          <p:cNvSpPr/>
          <p:nvPr/>
        </p:nvSpPr>
        <p:spPr>
          <a:xfrm>
            <a:off x="2402347" y="6158822"/>
            <a:ext cx="65037" cy="65037"/>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4-Point Star 55"/>
          <p:cNvSpPr/>
          <p:nvPr/>
        </p:nvSpPr>
        <p:spPr>
          <a:xfrm>
            <a:off x="2369829" y="6240119"/>
            <a:ext cx="44713" cy="44713"/>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826192" y="4424175"/>
            <a:ext cx="558242" cy="202997"/>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851567" y="4278271"/>
            <a:ext cx="101498" cy="190309"/>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Isosceles Triangle 58"/>
          <p:cNvSpPr/>
          <p:nvPr/>
        </p:nvSpPr>
        <p:spPr>
          <a:xfrm>
            <a:off x="1851567" y="4189459"/>
            <a:ext cx="101498" cy="88811"/>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2054564" y="4138710"/>
            <a:ext cx="101498" cy="329870"/>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sosceles Triangle 60"/>
          <p:cNvSpPr/>
          <p:nvPr/>
        </p:nvSpPr>
        <p:spPr>
          <a:xfrm>
            <a:off x="2054564" y="4049899"/>
            <a:ext cx="101498" cy="88811"/>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232187" y="4278271"/>
            <a:ext cx="101498" cy="190309"/>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Isosceles Triangle 62"/>
          <p:cNvSpPr/>
          <p:nvPr/>
        </p:nvSpPr>
        <p:spPr>
          <a:xfrm>
            <a:off x="2232187" y="4189459"/>
            <a:ext cx="101498" cy="88811"/>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2067252" y="4506642"/>
            <a:ext cx="76123" cy="120529"/>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rot="19800000">
            <a:off x="2221544" y="3604394"/>
            <a:ext cx="43522" cy="290147"/>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5-Point Star 65"/>
          <p:cNvSpPr/>
          <p:nvPr/>
        </p:nvSpPr>
        <p:spPr>
          <a:xfrm>
            <a:off x="2139336" y="3439978"/>
            <a:ext cx="222446" cy="222446"/>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4-Point Star 66"/>
          <p:cNvSpPr/>
          <p:nvPr/>
        </p:nvSpPr>
        <p:spPr>
          <a:xfrm>
            <a:off x="2076471" y="3633409"/>
            <a:ext cx="77372" cy="77372"/>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4-Point Star 67"/>
          <p:cNvSpPr/>
          <p:nvPr/>
        </p:nvSpPr>
        <p:spPr>
          <a:xfrm>
            <a:off x="2037784" y="3730125"/>
            <a:ext cx="53193" cy="53193"/>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FEATURES</a:t>
            </a:r>
          </a:p>
        </p:txBody>
      </p:sp>
      <p:sp>
        <p:nvSpPr>
          <p:cNvPr id="70" name="Rectangle 69"/>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実装機能:必須機能と発展機能</a:t>
            </a:r>
            <a:endParaRPr sz="2700" b="1" i="0" dirty="0">
              <a:solidFill>
                <a:srgbClr val="EEF4FF"/>
              </a:solidFill>
              <a:latin typeface="Meiryo UI" panose="020B0604030504040204" pitchFamily="50" charset="-128"/>
            </a:endParaRPr>
          </a:p>
        </p:txBody>
      </p:sp>
      <p:sp>
        <p:nvSpPr>
          <p:cNvPr id="72" name="Rounded Rectangle 71"/>
          <p:cNvSpPr/>
          <p:nvPr/>
        </p:nvSpPr>
        <p:spPr>
          <a:xfrm>
            <a:off x="4389120" y="1783080"/>
            <a:ext cx="2377440" cy="502920"/>
          </a:xfrm>
          <a:prstGeom prst="roundRect">
            <a:avLst>
              <a:gd name="adj" fmla="val 50000"/>
            </a:avLst>
          </a:prstGeom>
          <a:solidFill>
            <a:srgbClr val="2A6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4389120" y="1919124"/>
            <a:ext cx="2377440" cy="230832"/>
          </a:xfrm>
          <a:prstGeom prst="rect">
            <a:avLst/>
          </a:prstGeom>
          <a:noFill/>
        </p:spPr>
        <p:txBody>
          <a:bodyPr wrap="square" lIns="0" tIns="0" rIns="0" bIns="0" anchor="ctr">
            <a:spAutoFit/>
          </a:bodyPr>
          <a:lstStyle/>
          <a:p>
            <a:pPr algn="ctr">
              <a:lnSpc>
                <a:spcPct val="100000"/>
              </a:lnSpc>
              <a:spcAft>
                <a:spcPts val="0"/>
              </a:spcAft>
            </a:pPr>
            <a:r>
              <a:rPr sz="1500" b="1" i="0" dirty="0">
                <a:solidFill>
                  <a:srgbClr val="03060D"/>
                </a:solidFill>
                <a:latin typeface="Meiryo UI" panose="020B0604030504040204" pitchFamily="50" charset="-128"/>
              </a:rPr>
              <a:t>2段階実装</a:t>
            </a:r>
          </a:p>
        </p:txBody>
      </p:sp>
      <p:cxnSp>
        <p:nvCxnSpPr>
          <p:cNvPr id="74" name="Connector 73"/>
          <p:cNvCxnSpPr/>
          <p:nvPr/>
        </p:nvCxnSpPr>
        <p:spPr>
          <a:xfrm>
            <a:off x="5577840" y="2286000"/>
            <a:ext cx="0" cy="320040"/>
          </a:xfrm>
          <a:prstGeom prst="line">
            <a:avLst/>
          </a:prstGeom>
          <a:ln w="12700">
            <a:solidFill>
              <a:srgbClr val="143A6B"/>
            </a:solidFill>
          </a:ln>
          <a:effectLst/>
        </p:spPr>
        <p:style>
          <a:lnRef idx="2">
            <a:schemeClr val="accent1"/>
          </a:lnRef>
          <a:fillRef idx="0">
            <a:schemeClr val="accent1"/>
          </a:fillRef>
          <a:effectRef idx="1">
            <a:schemeClr val="accent1"/>
          </a:effectRef>
          <a:fontRef idx="minor">
            <a:schemeClr val="tx1"/>
          </a:fontRef>
        </p:style>
      </p:cxnSp>
      <p:sp>
        <p:nvSpPr>
          <p:cNvPr id="75" name="Rounded Rectangle 74"/>
          <p:cNvSpPr/>
          <p:nvPr/>
        </p:nvSpPr>
        <p:spPr>
          <a:xfrm>
            <a:off x="2377440" y="2606040"/>
            <a:ext cx="6400800" cy="50292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2377440" y="2734389"/>
            <a:ext cx="6400800" cy="246221"/>
          </a:xfrm>
          <a:prstGeom prst="rect">
            <a:avLst/>
          </a:prstGeom>
          <a:noFill/>
        </p:spPr>
        <p:txBody>
          <a:bodyPr wrap="square" lIns="0" tIns="0" rIns="0" bIns="0" anchor="ctr">
            <a:spAutoFit/>
          </a:bodyPr>
          <a:lstStyle/>
          <a:p>
            <a:pPr algn="ctr">
              <a:lnSpc>
                <a:spcPct val="100000"/>
              </a:lnSpc>
              <a:spcAft>
                <a:spcPts val="0"/>
              </a:spcAft>
            </a:pPr>
            <a:r>
              <a:rPr sz="1600" b="0" i="0" dirty="0" err="1">
                <a:solidFill>
                  <a:srgbClr val="9AD5FF"/>
                </a:solidFill>
                <a:latin typeface="Meiryo UI" panose="020B0604030504040204" pitchFamily="50" charset="-128"/>
              </a:rPr>
              <a:t>基本的なWebサイト機能とゲームのような体験機能を両立</a:t>
            </a:r>
            <a:endParaRPr sz="1600" b="0" i="0" dirty="0">
              <a:solidFill>
                <a:srgbClr val="9AD5FF"/>
              </a:solidFill>
              <a:latin typeface="Meiryo UI" panose="020B0604030504040204" pitchFamily="50" charset="-128"/>
            </a:endParaRPr>
          </a:p>
        </p:txBody>
      </p:sp>
      <p:cxnSp>
        <p:nvCxnSpPr>
          <p:cNvPr id="77" name="Connector 76"/>
          <p:cNvCxnSpPr/>
          <p:nvPr/>
        </p:nvCxnSpPr>
        <p:spPr>
          <a:xfrm>
            <a:off x="2090775" y="3337560"/>
            <a:ext cx="8010144" cy="0"/>
          </a:xfrm>
          <a:prstGeom prst="line">
            <a:avLst/>
          </a:prstGeom>
          <a:ln w="12700">
            <a:solidFill>
              <a:srgbClr val="143A6B"/>
            </a:solidFill>
          </a:ln>
          <a:effectLst/>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090775" y="3337560"/>
            <a:ext cx="0" cy="228600"/>
          </a:xfrm>
          <a:prstGeom prst="line">
            <a:avLst/>
          </a:prstGeom>
          <a:ln w="12700">
            <a:solidFill>
              <a:srgbClr val="143A6B"/>
            </a:solidFill>
          </a:ln>
          <a:effectLst/>
        </p:spPr>
        <p:style>
          <a:lnRef idx="2">
            <a:schemeClr val="accent1"/>
          </a:lnRef>
          <a:fillRef idx="0">
            <a:schemeClr val="accent1"/>
          </a:fillRef>
          <a:effectRef idx="1">
            <a:schemeClr val="accent1"/>
          </a:effectRef>
          <a:fontRef idx="minor">
            <a:schemeClr val="tx1"/>
          </a:fontRef>
        </p:style>
      </p:cxnSp>
      <p:sp>
        <p:nvSpPr>
          <p:cNvPr id="79" name="Rounded Rectangle 78"/>
          <p:cNvSpPr/>
          <p:nvPr/>
        </p:nvSpPr>
        <p:spPr>
          <a:xfrm>
            <a:off x="833475" y="3566160"/>
            <a:ext cx="2514600" cy="18288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998067" y="3730752"/>
            <a:ext cx="2185416" cy="229550"/>
          </a:xfrm>
          <a:prstGeom prst="rect">
            <a:avLst/>
          </a:prstGeom>
          <a:noFill/>
        </p:spPr>
        <p:txBody>
          <a:bodyPr wrap="square" lIns="0" tIns="0" rIns="0" bIns="0" anchor="t">
            <a:spAutoFit/>
          </a:bodyPr>
          <a:lstStyle/>
          <a:p>
            <a:pPr algn="l">
              <a:lnSpc>
                <a:spcPct val="120000"/>
              </a:lnSpc>
              <a:spcAft>
                <a:spcPts val="0"/>
              </a:spcAft>
            </a:pPr>
            <a:r>
              <a:rPr sz="1400" b="1" i="0" dirty="0" err="1">
                <a:solidFill>
                  <a:srgbClr val="EEF4FF"/>
                </a:solidFill>
                <a:latin typeface="Meiryo UI" panose="020B0604030504040204" pitchFamily="50" charset="-128"/>
              </a:rPr>
              <a:t>必須機能</a:t>
            </a:r>
            <a:r>
              <a:rPr sz="1400" b="1" i="0" dirty="0">
                <a:solidFill>
                  <a:srgbClr val="EEF4FF"/>
                </a:solidFill>
                <a:latin typeface="Meiryo UI" panose="020B0604030504040204" pitchFamily="50" charset="-128"/>
              </a:rPr>
              <a:t>(</a:t>
            </a:r>
            <a:r>
              <a:rPr sz="1400" b="1" i="0" dirty="0" err="1">
                <a:solidFill>
                  <a:srgbClr val="EEF4FF"/>
                </a:solidFill>
                <a:latin typeface="Meiryo UI" panose="020B0604030504040204" pitchFamily="50" charset="-128"/>
              </a:rPr>
              <a:t>基本Webサイト</a:t>
            </a:r>
            <a:r>
              <a:rPr sz="1400" b="1" i="0" dirty="0">
                <a:solidFill>
                  <a:srgbClr val="EEF4FF"/>
                </a:solidFill>
                <a:latin typeface="Meiryo UI" panose="020B0604030504040204" pitchFamily="50" charset="-128"/>
              </a:rPr>
              <a:t>)</a:t>
            </a:r>
          </a:p>
        </p:txBody>
      </p:sp>
      <p:sp>
        <p:nvSpPr>
          <p:cNvPr id="81" name="TextBox 80"/>
          <p:cNvSpPr txBox="1"/>
          <p:nvPr/>
        </p:nvSpPr>
        <p:spPr>
          <a:xfrm>
            <a:off x="998067" y="4224528"/>
            <a:ext cx="2185416"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7D8FAE"/>
                </a:solidFill>
                <a:latin typeface="Meiryo UI" panose="020B0604030504040204" pitchFamily="50" charset="-128"/>
              </a:rPr>
              <a:t>ナビゲーション・ページ切り替え、作品</a:t>
            </a:r>
            <a:r>
              <a:rPr sz="1200" b="0" i="0" dirty="0">
                <a:solidFill>
                  <a:srgbClr val="7D8FAE"/>
                </a:solidFill>
                <a:latin typeface="Meiryo UI" panose="020B0604030504040204" pitchFamily="50" charset="-128"/>
              </a:rPr>
              <a:t>/</a:t>
            </a:r>
            <a:r>
              <a:rPr sz="1200" b="0" i="0" dirty="0" err="1">
                <a:solidFill>
                  <a:srgbClr val="7D8FAE"/>
                </a:solidFill>
                <a:latin typeface="Meiryo UI" panose="020B0604030504040204" pitchFamily="50" charset="-128"/>
              </a:rPr>
              <a:t>キャラクター情報表示</a:t>
            </a:r>
            <a:r>
              <a:rPr sz="1200" b="0" i="0" dirty="0">
                <a:solidFill>
                  <a:srgbClr val="7D8FAE"/>
                </a:solidFill>
                <a:latin typeface="Meiryo UI" panose="020B0604030504040204" pitchFamily="50" charset="-128"/>
              </a:rPr>
              <a:t>、</a:t>
            </a:r>
          </a:p>
        </p:txBody>
      </p:sp>
      <p:cxnSp>
        <p:nvCxnSpPr>
          <p:cNvPr id="82" name="Connector 81"/>
          <p:cNvCxnSpPr/>
          <p:nvPr/>
        </p:nvCxnSpPr>
        <p:spPr>
          <a:xfrm>
            <a:off x="4760823" y="3337560"/>
            <a:ext cx="0" cy="228600"/>
          </a:xfrm>
          <a:prstGeom prst="line">
            <a:avLst/>
          </a:prstGeom>
          <a:ln w="12700">
            <a:solidFill>
              <a:srgbClr val="143A6B"/>
            </a:solidFill>
          </a:ln>
          <a:effectLst/>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3503523" y="3566160"/>
            <a:ext cx="2514600" cy="18288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3668115" y="3730752"/>
            <a:ext cx="2185416" cy="229550"/>
          </a:xfrm>
          <a:prstGeom prst="rect">
            <a:avLst/>
          </a:prstGeom>
          <a:noFill/>
        </p:spPr>
        <p:txBody>
          <a:bodyPr wrap="square" lIns="0" tIns="0" rIns="0" bIns="0" anchor="t">
            <a:spAutoFit/>
          </a:bodyPr>
          <a:lstStyle/>
          <a:p>
            <a:pPr algn="l">
              <a:lnSpc>
                <a:spcPct val="120000"/>
              </a:lnSpc>
              <a:spcAft>
                <a:spcPts val="0"/>
              </a:spcAft>
            </a:pPr>
            <a:r>
              <a:rPr sz="1400" b="1" i="0" dirty="0" err="1">
                <a:solidFill>
                  <a:srgbClr val="EEF4FF"/>
                </a:solidFill>
                <a:latin typeface="Meiryo UI" panose="020B0604030504040204" pitchFamily="50" charset="-128"/>
              </a:rPr>
              <a:t>発展機能</a:t>
            </a:r>
            <a:r>
              <a:rPr sz="1400" b="1" i="0" dirty="0">
                <a:solidFill>
                  <a:srgbClr val="EEF4FF"/>
                </a:solidFill>
                <a:latin typeface="Meiryo UI" panose="020B0604030504040204" pitchFamily="50" charset="-128"/>
              </a:rPr>
              <a:t>①(</a:t>
            </a:r>
            <a:r>
              <a:rPr sz="1400" b="1" i="0" dirty="0" err="1">
                <a:solidFill>
                  <a:srgbClr val="EEF4FF"/>
                </a:solidFill>
                <a:latin typeface="Meiryo UI" panose="020B0604030504040204" pitchFamily="50" charset="-128"/>
              </a:rPr>
              <a:t>視覚効果</a:t>
            </a:r>
            <a:r>
              <a:rPr sz="1400" b="1" i="0" dirty="0">
                <a:solidFill>
                  <a:srgbClr val="EEF4FF"/>
                </a:solidFill>
                <a:latin typeface="Meiryo UI" panose="020B0604030504040204" pitchFamily="50" charset="-128"/>
              </a:rPr>
              <a:t>)</a:t>
            </a:r>
          </a:p>
        </p:txBody>
      </p:sp>
      <p:sp>
        <p:nvSpPr>
          <p:cNvPr id="85" name="TextBox 84"/>
          <p:cNvSpPr txBox="1"/>
          <p:nvPr/>
        </p:nvSpPr>
        <p:spPr>
          <a:xfrm>
            <a:off x="3668115" y="4224528"/>
            <a:ext cx="2185416" cy="690702"/>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7D8FAE"/>
                </a:solidFill>
                <a:latin typeface="Meiryo UI" panose="020B0604030504040204" pitchFamily="50" charset="-128"/>
              </a:rPr>
              <a:t>カーソル位置に反応する光のエフェクト、ページ遷移アニメーション、スクロール連動アニメーション</a:t>
            </a:r>
            <a:endParaRPr sz="1200" b="0" i="0" dirty="0">
              <a:solidFill>
                <a:srgbClr val="7D8FAE"/>
              </a:solidFill>
              <a:latin typeface="Meiryo UI" panose="020B0604030504040204" pitchFamily="50" charset="-128"/>
            </a:endParaRPr>
          </a:p>
        </p:txBody>
      </p:sp>
      <p:cxnSp>
        <p:nvCxnSpPr>
          <p:cNvPr id="86" name="Connector 85"/>
          <p:cNvCxnSpPr/>
          <p:nvPr/>
        </p:nvCxnSpPr>
        <p:spPr>
          <a:xfrm>
            <a:off x="7430871" y="3337560"/>
            <a:ext cx="0" cy="228600"/>
          </a:xfrm>
          <a:prstGeom prst="line">
            <a:avLst/>
          </a:prstGeom>
          <a:ln w="12700">
            <a:solidFill>
              <a:srgbClr val="143A6B"/>
            </a:solidFill>
          </a:ln>
          <a:effectLst/>
        </p:spPr>
        <p:style>
          <a:lnRef idx="2">
            <a:schemeClr val="accent1"/>
          </a:lnRef>
          <a:fillRef idx="0">
            <a:schemeClr val="accent1"/>
          </a:fillRef>
          <a:effectRef idx="1">
            <a:schemeClr val="accent1"/>
          </a:effectRef>
          <a:fontRef idx="minor">
            <a:schemeClr val="tx1"/>
          </a:fontRef>
        </p:style>
      </p:cxnSp>
      <p:sp>
        <p:nvSpPr>
          <p:cNvPr id="87" name="Rounded Rectangle 86"/>
          <p:cNvSpPr/>
          <p:nvPr/>
        </p:nvSpPr>
        <p:spPr>
          <a:xfrm>
            <a:off x="6173571" y="3566160"/>
            <a:ext cx="2514600" cy="18288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338163" y="3730752"/>
            <a:ext cx="2185416" cy="229550"/>
          </a:xfrm>
          <a:prstGeom prst="rect">
            <a:avLst/>
          </a:prstGeom>
          <a:noFill/>
        </p:spPr>
        <p:txBody>
          <a:bodyPr wrap="square" lIns="0" tIns="0" rIns="0" bIns="0" anchor="t">
            <a:spAutoFit/>
          </a:bodyPr>
          <a:lstStyle/>
          <a:p>
            <a:pPr algn="l">
              <a:lnSpc>
                <a:spcPct val="120000"/>
              </a:lnSpc>
              <a:spcAft>
                <a:spcPts val="0"/>
              </a:spcAft>
            </a:pPr>
            <a:r>
              <a:rPr sz="1400" b="1" i="0" dirty="0" err="1">
                <a:solidFill>
                  <a:srgbClr val="EEF4FF"/>
                </a:solidFill>
                <a:latin typeface="Meiryo UI" panose="020B0604030504040204" pitchFamily="50" charset="-128"/>
              </a:rPr>
              <a:t>発展機能</a:t>
            </a:r>
            <a:r>
              <a:rPr sz="1400" b="1" i="0" dirty="0">
                <a:solidFill>
                  <a:srgbClr val="EEF4FF"/>
                </a:solidFill>
                <a:latin typeface="Meiryo UI" panose="020B0604030504040204" pitchFamily="50" charset="-128"/>
              </a:rPr>
              <a:t>②(</a:t>
            </a:r>
            <a:r>
              <a:rPr sz="1400" b="1" i="0" dirty="0" err="1">
                <a:solidFill>
                  <a:srgbClr val="EEF4FF"/>
                </a:solidFill>
                <a:latin typeface="Meiryo UI" panose="020B0604030504040204" pitchFamily="50" charset="-128"/>
              </a:rPr>
              <a:t>音響効果</a:t>
            </a:r>
            <a:r>
              <a:rPr sz="1400" b="1" i="0" dirty="0">
                <a:solidFill>
                  <a:srgbClr val="EEF4FF"/>
                </a:solidFill>
                <a:latin typeface="Meiryo UI" panose="020B0604030504040204" pitchFamily="50" charset="-128"/>
              </a:rPr>
              <a:t>)</a:t>
            </a:r>
          </a:p>
        </p:txBody>
      </p:sp>
      <p:sp>
        <p:nvSpPr>
          <p:cNvPr id="89" name="TextBox 88"/>
          <p:cNvSpPr txBox="1"/>
          <p:nvPr/>
        </p:nvSpPr>
        <p:spPr>
          <a:xfrm>
            <a:off x="6338163" y="4224528"/>
            <a:ext cx="2185416"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7D8FAE"/>
                </a:solidFill>
                <a:latin typeface="Meiryo UI" panose="020B0604030504040204" pitchFamily="50" charset="-128"/>
              </a:rPr>
              <a:t>ホバー時・クリック時の効果音、BGM・SEのON</a:t>
            </a:r>
            <a:r>
              <a:rPr sz="1200" b="0" i="0" dirty="0">
                <a:solidFill>
                  <a:srgbClr val="7D8FAE"/>
                </a:solidFill>
                <a:latin typeface="Meiryo UI" panose="020B0604030504040204" pitchFamily="50" charset="-128"/>
              </a:rPr>
              <a:t>/</a:t>
            </a:r>
            <a:r>
              <a:rPr sz="1200" b="0" i="0" dirty="0" err="1">
                <a:solidFill>
                  <a:srgbClr val="7D8FAE"/>
                </a:solidFill>
                <a:latin typeface="Meiryo UI" panose="020B0604030504040204" pitchFamily="50" charset="-128"/>
              </a:rPr>
              <a:t>OFF切り替え</a:t>
            </a:r>
            <a:endParaRPr sz="1200" b="0" i="0" dirty="0">
              <a:solidFill>
                <a:srgbClr val="7D8FAE"/>
              </a:solidFill>
              <a:latin typeface="Meiryo UI" panose="020B0604030504040204" pitchFamily="50" charset="-128"/>
            </a:endParaRPr>
          </a:p>
        </p:txBody>
      </p:sp>
      <p:cxnSp>
        <p:nvCxnSpPr>
          <p:cNvPr id="90" name="Connector 89"/>
          <p:cNvCxnSpPr/>
          <p:nvPr/>
        </p:nvCxnSpPr>
        <p:spPr>
          <a:xfrm>
            <a:off x="10100919" y="3337560"/>
            <a:ext cx="0" cy="228600"/>
          </a:xfrm>
          <a:prstGeom prst="line">
            <a:avLst/>
          </a:prstGeom>
          <a:ln w="12700">
            <a:solidFill>
              <a:srgbClr val="143A6B"/>
            </a:solidFill>
          </a:ln>
          <a:effectLst/>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8843619" y="3566160"/>
            <a:ext cx="2514600" cy="182880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008211" y="3730752"/>
            <a:ext cx="2185416" cy="229550"/>
          </a:xfrm>
          <a:prstGeom prst="rect">
            <a:avLst/>
          </a:prstGeom>
          <a:noFill/>
        </p:spPr>
        <p:txBody>
          <a:bodyPr wrap="square" lIns="0" tIns="0" rIns="0" bIns="0" anchor="t">
            <a:spAutoFit/>
          </a:bodyPr>
          <a:lstStyle/>
          <a:p>
            <a:pPr algn="l">
              <a:lnSpc>
                <a:spcPct val="120000"/>
              </a:lnSpc>
              <a:spcAft>
                <a:spcPts val="0"/>
              </a:spcAft>
            </a:pPr>
            <a:r>
              <a:rPr sz="1400" b="1" i="0" dirty="0" err="1">
                <a:solidFill>
                  <a:srgbClr val="EEF4FF"/>
                </a:solidFill>
                <a:latin typeface="Meiryo UI" panose="020B0604030504040204" pitchFamily="50" charset="-128"/>
              </a:rPr>
              <a:t>発展機能</a:t>
            </a:r>
            <a:r>
              <a:rPr sz="1400" b="1" i="0" dirty="0">
                <a:solidFill>
                  <a:srgbClr val="EEF4FF"/>
                </a:solidFill>
                <a:latin typeface="Meiryo UI" panose="020B0604030504040204" pitchFamily="50" charset="-128"/>
              </a:rPr>
              <a:t>③(</a:t>
            </a:r>
            <a:r>
              <a:rPr sz="1400" b="1" i="0" dirty="0" err="1">
                <a:solidFill>
                  <a:srgbClr val="EEF4FF"/>
                </a:solidFill>
                <a:latin typeface="Meiryo UI" panose="020B0604030504040204" pitchFamily="50" charset="-128"/>
              </a:rPr>
              <a:t>ゲーム要素</a:t>
            </a:r>
            <a:r>
              <a:rPr sz="1400" b="1" i="0" dirty="0">
                <a:solidFill>
                  <a:srgbClr val="EEF4FF"/>
                </a:solidFill>
                <a:latin typeface="Meiryo UI" panose="020B0604030504040204" pitchFamily="50" charset="-128"/>
              </a:rPr>
              <a:t>)</a:t>
            </a:r>
          </a:p>
        </p:txBody>
      </p:sp>
      <p:sp>
        <p:nvSpPr>
          <p:cNvPr id="93" name="TextBox 92"/>
          <p:cNvSpPr txBox="1"/>
          <p:nvPr/>
        </p:nvSpPr>
        <p:spPr>
          <a:xfrm>
            <a:off x="9008211" y="4224528"/>
            <a:ext cx="2185416" cy="450636"/>
          </a:xfrm>
          <a:prstGeom prst="rect">
            <a:avLst/>
          </a:prstGeom>
          <a:noFill/>
        </p:spPr>
        <p:txBody>
          <a:bodyPr wrap="square" lIns="0" tIns="0" rIns="0" bIns="0" anchor="t">
            <a:spAutoFit/>
          </a:bodyPr>
          <a:lstStyle/>
          <a:p>
            <a:pPr algn="l">
              <a:lnSpc>
                <a:spcPct val="130000"/>
              </a:lnSpc>
              <a:spcAft>
                <a:spcPts val="0"/>
              </a:spcAft>
            </a:pPr>
            <a:r>
              <a:rPr sz="1200" b="0" i="0" dirty="0" err="1">
                <a:solidFill>
                  <a:srgbClr val="7D8FAE"/>
                </a:solidFill>
                <a:latin typeface="Meiryo UI" panose="020B0604030504040204" pitchFamily="50" charset="-128"/>
              </a:rPr>
              <a:t>記憶の欠片収集システムと収集状況の保存、隠しコンテンツの解放</a:t>
            </a:r>
            <a:endParaRPr sz="1200" b="0" i="0" dirty="0">
              <a:solidFill>
                <a:srgbClr val="7D8FAE"/>
              </a:solidFill>
              <a:latin typeface="Meiryo UI" panose="020B0604030504040204" pitchFamily="50" charset="-128"/>
            </a:endParaRPr>
          </a:p>
        </p:txBody>
      </p:sp>
      <p:sp>
        <p:nvSpPr>
          <p:cNvPr id="94" name="TextBox 93"/>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95" name="TextBox 94"/>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10 / 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296211" y="3833425"/>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319272" y="-10579608"/>
            <a:ext cx="12746735" cy="12746735"/>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474720" y="-10424160"/>
            <a:ext cx="12435840" cy="1243584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215737" y="-8683142"/>
            <a:ext cx="8953804" cy="8953804"/>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832396" y="-7066483"/>
            <a:ext cx="5720486" cy="5720486"/>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2335160"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4906034"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0787207"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174282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7455914"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726937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4292707"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4106169"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4292707"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4106169"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7455914"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726937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0787207"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174282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2335160"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4906034"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887206" y="1513199"/>
            <a:ext cx="107503" cy="10750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5625734" y="4384779"/>
            <a:ext cx="59451" cy="5945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3649481" y="4562154"/>
            <a:ext cx="59313" cy="5931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1235629" y="1504206"/>
            <a:ext cx="51407" cy="5140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512409" y="3209791"/>
            <a:ext cx="66588" cy="6658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Diamond 37"/>
          <p:cNvSpPr/>
          <p:nvPr/>
        </p:nvSpPr>
        <p:spPr>
          <a:xfrm>
            <a:off x="4925983" y="1595987"/>
            <a:ext cx="73253" cy="73253"/>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1683108" y="5364531"/>
            <a:ext cx="89254" cy="89254"/>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220800" y="2737812"/>
            <a:ext cx="69996" cy="69996"/>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933287" y="4418257"/>
            <a:ext cx="46137" cy="4613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377493" y="2436825"/>
            <a:ext cx="47119" cy="4711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iamond 42"/>
          <p:cNvSpPr/>
          <p:nvPr/>
        </p:nvSpPr>
        <p:spPr>
          <a:xfrm>
            <a:off x="561689" y="3777889"/>
            <a:ext cx="55536" cy="55536"/>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458078" y="722788"/>
            <a:ext cx="55369" cy="5536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8515024" y="2542631"/>
            <a:ext cx="87478" cy="8747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5972189" y="5686229"/>
            <a:ext cx="65645" cy="65645"/>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iamond 46"/>
          <p:cNvSpPr/>
          <p:nvPr/>
        </p:nvSpPr>
        <p:spPr>
          <a:xfrm>
            <a:off x="8103478" y="4507222"/>
            <a:ext cx="46100" cy="46100"/>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11177" y="2438364"/>
            <a:ext cx="106277" cy="10627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735402" y="1048307"/>
            <a:ext cx="90892" cy="90892"/>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Diamond 49"/>
          <p:cNvSpPr/>
          <p:nvPr/>
        </p:nvSpPr>
        <p:spPr>
          <a:xfrm>
            <a:off x="9411011" y="5173646"/>
            <a:ext cx="54701" cy="5470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226050" y="4589618"/>
            <a:ext cx="334172" cy="12151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241240"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a:off x="1241240"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1362757" y="4418735"/>
            <a:ext cx="60758" cy="197465"/>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Isosceles Triangle 54"/>
          <p:cNvSpPr/>
          <p:nvPr/>
        </p:nvSpPr>
        <p:spPr>
          <a:xfrm>
            <a:off x="1362757" y="4365571"/>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469084"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sosceles Triangle 56"/>
          <p:cNvSpPr/>
          <p:nvPr/>
        </p:nvSpPr>
        <p:spPr>
          <a:xfrm>
            <a:off x="1469084"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1370352" y="4638984"/>
            <a:ext cx="45568" cy="72150"/>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0437299" y="6401557"/>
            <a:ext cx="554389" cy="2015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10462498"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sosceles Triangle 60"/>
          <p:cNvSpPr/>
          <p:nvPr/>
        </p:nvSpPr>
        <p:spPr>
          <a:xfrm>
            <a:off x="10462498"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0664094" y="6118062"/>
            <a:ext cx="100798" cy="327593"/>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Isosceles Triangle 62"/>
          <p:cNvSpPr/>
          <p:nvPr/>
        </p:nvSpPr>
        <p:spPr>
          <a:xfrm>
            <a:off x="10664094" y="6029864"/>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0840491"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Isosceles Triangle 64"/>
          <p:cNvSpPr/>
          <p:nvPr/>
        </p:nvSpPr>
        <p:spPr>
          <a:xfrm>
            <a:off x="10840491"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ounded Rectangle 65"/>
          <p:cNvSpPr/>
          <p:nvPr/>
        </p:nvSpPr>
        <p:spPr>
          <a:xfrm>
            <a:off x="10676694" y="6483455"/>
            <a:ext cx="75598" cy="119697"/>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5-Point Star 66"/>
          <p:cNvSpPr/>
          <p:nvPr/>
        </p:nvSpPr>
        <p:spPr>
          <a:xfrm>
            <a:off x="3938405" y="2904924"/>
            <a:ext cx="591403" cy="591403"/>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8" name="Connector 67"/>
          <p:cNvCxnSpPr/>
          <p:nvPr/>
        </p:nvCxnSpPr>
        <p:spPr>
          <a:xfrm>
            <a:off x="2463218" y="2345972"/>
            <a:ext cx="141143"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593218"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0" name="Connector 69"/>
          <p:cNvCxnSpPr/>
          <p:nvPr/>
        </p:nvCxnSpPr>
        <p:spPr>
          <a:xfrm>
            <a:off x="2456124"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2559168"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a:off x="2437552"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470025"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4" name="Connector 73"/>
          <p:cNvCxnSpPr/>
          <p:nvPr/>
        </p:nvCxnSpPr>
        <p:spPr>
          <a:xfrm flipH="1">
            <a:off x="2370981"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2359838"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H="1">
            <a:off x="2281838"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270695"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8" name="Connector 77"/>
          <p:cNvCxnSpPr/>
          <p:nvPr/>
        </p:nvCxnSpPr>
        <p:spPr>
          <a:xfrm flipH="1">
            <a:off x="2247788" y="2345972"/>
            <a:ext cx="141144"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2236645"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0" name="Connector 79"/>
          <p:cNvCxnSpPr/>
          <p:nvPr/>
        </p:nvCxnSpPr>
        <p:spPr>
          <a:xfrm flipH="1" flipV="1">
            <a:off x="2281838"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2270695"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2" name="Connector 81"/>
          <p:cNvCxnSpPr/>
          <p:nvPr/>
        </p:nvCxnSpPr>
        <p:spPr>
          <a:xfrm flipH="1" flipV="1">
            <a:off x="2370981"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2359838"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flipV="1">
            <a:off x="2437552"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2470025"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flipV="1">
            <a:off x="2456124"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2559168"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403789" y="2323686"/>
            <a:ext cx="44571" cy="4457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9" name="Connector 88"/>
          <p:cNvCxnSpPr/>
          <p:nvPr/>
        </p:nvCxnSpPr>
        <p:spPr>
          <a:xfrm>
            <a:off x="2657579"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2817300"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1" name="Connector 90"/>
          <p:cNvCxnSpPr/>
          <p:nvPr/>
        </p:nvCxnSpPr>
        <p:spPr>
          <a:xfrm>
            <a:off x="2648863"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2775466"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 name="Connector 92"/>
          <p:cNvCxnSpPr/>
          <p:nvPr/>
        </p:nvCxnSpPr>
        <p:spPr>
          <a:xfrm>
            <a:off x="2626046"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2665943"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5" name="Connector 94"/>
          <p:cNvCxnSpPr/>
          <p:nvPr/>
        </p:nvCxnSpPr>
        <p:spPr>
          <a:xfrm flipH="1">
            <a:off x="2544255"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6" name="Oval 95"/>
          <p:cNvSpPr/>
          <p:nvPr/>
        </p:nvSpPr>
        <p:spPr>
          <a:xfrm>
            <a:off x="2530564"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7" name="Connector 96"/>
          <p:cNvCxnSpPr/>
          <p:nvPr/>
        </p:nvCxnSpPr>
        <p:spPr>
          <a:xfrm flipH="1">
            <a:off x="2434732"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8" name="Oval 97"/>
          <p:cNvSpPr/>
          <p:nvPr/>
        </p:nvSpPr>
        <p:spPr>
          <a:xfrm>
            <a:off x="2421041"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9" name="Connector 98"/>
          <p:cNvCxnSpPr/>
          <p:nvPr/>
        </p:nvCxnSpPr>
        <p:spPr>
          <a:xfrm flipH="1">
            <a:off x="2392897"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2379207"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1" name="Connector 100"/>
          <p:cNvCxnSpPr/>
          <p:nvPr/>
        </p:nvCxnSpPr>
        <p:spPr>
          <a:xfrm flipH="1" flipV="1">
            <a:off x="2434732"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2421041"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3" name="Connector 102"/>
          <p:cNvCxnSpPr/>
          <p:nvPr/>
        </p:nvCxnSpPr>
        <p:spPr>
          <a:xfrm flipH="1" flipV="1">
            <a:off x="2544255"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4" name="Oval 103"/>
          <p:cNvSpPr/>
          <p:nvPr/>
        </p:nvSpPr>
        <p:spPr>
          <a:xfrm>
            <a:off x="2530564"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5" name="Connector 104"/>
          <p:cNvCxnSpPr/>
          <p:nvPr/>
        </p:nvCxnSpPr>
        <p:spPr>
          <a:xfrm flipV="1">
            <a:off x="2626046"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2665943"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 name="Connector 106"/>
          <p:cNvCxnSpPr/>
          <p:nvPr/>
        </p:nvCxnSpPr>
        <p:spPr>
          <a:xfrm flipV="1">
            <a:off x="2648863"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8" name="Oval 107"/>
          <p:cNvSpPr/>
          <p:nvPr/>
        </p:nvSpPr>
        <p:spPr>
          <a:xfrm>
            <a:off x="2775466"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84563" y="4103850"/>
            <a:ext cx="54761" cy="5476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ectangle 109"/>
          <p:cNvSpPr/>
          <p:nvPr/>
        </p:nvSpPr>
        <p:spPr>
          <a:xfrm>
            <a:off x="11091878" y="4653985"/>
            <a:ext cx="463368" cy="16849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11112940"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Isosceles Triangle 111"/>
          <p:cNvSpPr/>
          <p:nvPr/>
        </p:nvSpPr>
        <p:spPr>
          <a:xfrm>
            <a:off x="11112940"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112"/>
          <p:cNvSpPr/>
          <p:nvPr/>
        </p:nvSpPr>
        <p:spPr>
          <a:xfrm>
            <a:off x="11281438" y="4417035"/>
            <a:ext cx="84248" cy="273808"/>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Isosceles Triangle 113"/>
          <p:cNvSpPr/>
          <p:nvPr/>
        </p:nvSpPr>
        <p:spPr>
          <a:xfrm>
            <a:off x="11281438" y="4343317"/>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Rectangle 114"/>
          <p:cNvSpPr/>
          <p:nvPr/>
        </p:nvSpPr>
        <p:spPr>
          <a:xfrm>
            <a:off x="11428873"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Isosceles Triangle 115"/>
          <p:cNvSpPr/>
          <p:nvPr/>
        </p:nvSpPr>
        <p:spPr>
          <a:xfrm>
            <a:off x="11428873"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16"/>
          <p:cNvSpPr/>
          <p:nvPr/>
        </p:nvSpPr>
        <p:spPr>
          <a:xfrm>
            <a:off x="11291969" y="4722437"/>
            <a:ext cx="63186" cy="100045"/>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5-Point Star 117"/>
          <p:cNvSpPr/>
          <p:nvPr/>
        </p:nvSpPr>
        <p:spPr>
          <a:xfrm>
            <a:off x="10776440" y="4979449"/>
            <a:ext cx="621177" cy="621177"/>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DEMO</a:t>
            </a:r>
          </a:p>
        </p:txBody>
      </p:sp>
      <p:sp>
        <p:nvSpPr>
          <p:cNvPr id="120" name="Rectangle 119"/>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実機</a:t>
            </a:r>
            <a:r>
              <a:rPr lang="ja-JP" altLang="en-US" sz="2700" b="1" i="0" dirty="0">
                <a:solidFill>
                  <a:srgbClr val="EEF4FF"/>
                </a:solidFill>
                <a:latin typeface="Meiryo UI" panose="020B0604030504040204" pitchFamily="50" charset="-128"/>
              </a:rPr>
              <a:t>説明</a:t>
            </a:r>
            <a:endParaRPr sz="2700" b="1" i="0" dirty="0">
              <a:solidFill>
                <a:srgbClr val="EEF4FF"/>
              </a:solidFill>
              <a:latin typeface="Meiryo UI" panose="020B0604030504040204" pitchFamily="50" charset="-128"/>
            </a:endParaRPr>
          </a:p>
        </p:txBody>
      </p:sp>
      <p:sp>
        <p:nvSpPr>
          <p:cNvPr id="150" name="TextBox 149"/>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51" name="TextBox 150"/>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08 / 14</a:t>
            </a:r>
          </a:p>
        </p:txBody>
      </p:sp>
      <p:sp>
        <p:nvSpPr>
          <p:cNvPr id="152" name="TextBox 151"/>
          <p:cNvSpPr txBox="1"/>
          <p:nvPr/>
        </p:nvSpPr>
        <p:spPr>
          <a:xfrm>
            <a:off x="822960" y="3246120"/>
            <a:ext cx="10515600" cy="548640"/>
          </a:xfrm>
          <a:prstGeom prst="rect">
            <a:avLst/>
          </a:prstGeom>
          <a:noFill/>
        </p:spPr>
        <p:txBody>
          <a:bodyPr wrap="square">
            <a:spAutoFit/>
          </a:bodyPr>
          <a:lstStyle/>
          <a:p>
            <a:pPr algn="ctr"/>
            <a:r>
              <a:rPr sz="2600" b="1">
                <a:solidFill>
                  <a:srgbClr val="EEF4FF"/>
                </a:solidFill>
                <a:latin typeface="Meiryo UI"/>
              </a:rPr>
              <a:t>この後、実際のサイトを操作しながらご紹介します</a:t>
            </a:r>
          </a:p>
        </p:txBody>
      </p:sp>
      <p:sp>
        <p:nvSpPr>
          <p:cNvPr id="153" name="TextBox 152"/>
          <p:cNvSpPr txBox="1"/>
          <p:nvPr/>
        </p:nvSpPr>
        <p:spPr>
          <a:xfrm>
            <a:off x="822960" y="3886200"/>
            <a:ext cx="10515600" cy="365760"/>
          </a:xfrm>
          <a:prstGeom prst="rect">
            <a:avLst/>
          </a:prstGeom>
          <a:noFill/>
        </p:spPr>
        <p:txBody>
          <a:bodyPr wrap="square">
            <a:spAutoFit/>
          </a:bodyPr>
          <a:lstStyle/>
          <a:p>
            <a:pPr algn="ctr"/>
            <a:r>
              <a:rPr sz="1600" b="0">
                <a:solidFill>
                  <a:srgbClr val="C3D2EA"/>
                </a:solidFill>
                <a:latin typeface="Georgia"/>
              </a:rPr>
              <a:t>lxirgil.github.io/kh_mem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2587752" y="-10579608"/>
            <a:ext cx="12746735" cy="12746735"/>
          </a:xfrm>
          <a:prstGeom prst="ellipse">
            <a:avLst/>
          </a:prstGeom>
          <a:solidFill>
            <a:srgbClr val="9AD5FF">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743200" y="-10424160"/>
            <a:ext cx="12435840" cy="12435840"/>
          </a:xfrm>
          <a:prstGeom prst="ellipse">
            <a:avLst/>
          </a:prstGeom>
          <a:noFill/>
          <a:ln w="330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484217" y="-8683142"/>
            <a:ext cx="8953804" cy="8953804"/>
          </a:xfrm>
          <a:prstGeom prst="ellipse">
            <a:avLst/>
          </a:prstGeom>
          <a:noFill/>
          <a:ln w="2540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100876" y="-7066483"/>
            <a:ext cx="5720486" cy="5720486"/>
          </a:xfrm>
          <a:prstGeom prst="ellipse">
            <a:avLst/>
          </a:prstGeom>
          <a:noFill/>
          <a:ln w="20320">
            <a:solidFill>
              <a:srgbClr val="9AD5FF">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1603640" y="-3111672"/>
            <a:ext cx="2757412" cy="1142158"/>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4174514" y="-2156052"/>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0055687" y="-1563719"/>
            <a:ext cx="1142158" cy="275741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1011307" y="1007154"/>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6724394" y="-1563719"/>
            <a:ext cx="1142158" cy="2757411"/>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6537857" y="1007154"/>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3561187" y="-3111672"/>
            <a:ext cx="2757412" cy="1142158"/>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3374649" y="-2156052"/>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3561187" y="-6442965"/>
            <a:ext cx="2757412" cy="1142158"/>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3374649" y="-6629502"/>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6724394" y="-9606172"/>
            <a:ext cx="1142158" cy="2757412"/>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6537857" y="-9792710"/>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0055687" y="-9606172"/>
            <a:ext cx="1142158" cy="2757412"/>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1011307" y="-9792710"/>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1603640" y="-6442965"/>
            <a:ext cx="2757412" cy="1142158"/>
          </a:xfrm>
          <a:prstGeom prst="line">
            <a:avLst/>
          </a:prstGeom>
          <a:ln w="20320">
            <a:solidFill>
              <a:srgbClr val="E6D5A3">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4174514" y="-6629502"/>
            <a:ext cx="373075" cy="373075"/>
          </a:xfrm>
          <a:prstGeom prst="diamond">
            <a:avLst/>
          </a:prstGeom>
          <a:solidFill>
            <a:srgbClr val="E6D5A3">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E6D5A3">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3184335" y="3881301"/>
            <a:ext cx="107953" cy="10795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5795919" y="2213023"/>
            <a:ext cx="54541" cy="54541"/>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8803285" y="1852366"/>
            <a:ext cx="83766" cy="83766"/>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iamond 35"/>
          <p:cNvSpPr/>
          <p:nvPr/>
        </p:nvSpPr>
        <p:spPr>
          <a:xfrm>
            <a:off x="10490019" y="2037588"/>
            <a:ext cx="65783" cy="65783"/>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Diamond 36"/>
          <p:cNvSpPr/>
          <p:nvPr/>
        </p:nvSpPr>
        <p:spPr>
          <a:xfrm>
            <a:off x="6982553" y="5968544"/>
            <a:ext cx="92735" cy="92735"/>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574096" y="788775"/>
            <a:ext cx="56020" cy="56020"/>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2154035" y="1977701"/>
            <a:ext cx="61281" cy="61281"/>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9925093" y="1762684"/>
            <a:ext cx="84958" cy="8495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3682544" y="2148601"/>
            <a:ext cx="95574" cy="95574"/>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Diamond 41"/>
          <p:cNvSpPr/>
          <p:nvPr/>
        </p:nvSpPr>
        <p:spPr>
          <a:xfrm>
            <a:off x="8560779" y="5765697"/>
            <a:ext cx="92341" cy="9234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044682" y="3792039"/>
            <a:ext cx="84709" cy="8470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10483811" y="5207759"/>
            <a:ext cx="108193" cy="10819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8008589" y="5216794"/>
            <a:ext cx="77528" cy="7752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0141617" y="3458607"/>
            <a:ext cx="67669" cy="6766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7233683" y="3788058"/>
            <a:ext cx="77408" cy="7740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625100" y="4515103"/>
            <a:ext cx="105666" cy="105666"/>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606820" y="2773354"/>
            <a:ext cx="93277" cy="9327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7293766" y="1894572"/>
            <a:ext cx="70387" cy="7038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8827241" y="3501187"/>
            <a:ext cx="524317" cy="190660"/>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8851074" y="3364149"/>
            <a:ext cx="95330" cy="178744"/>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a:off x="8851074" y="3280735"/>
            <a:ext cx="95330" cy="83414"/>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9041735" y="3233070"/>
            <a:ext cx="95330" cy="309823"/>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Isosceles Triangle 54"/>
          <p:cNvSpPr/>
          <p:nvPr/>
        </p:nvSpPr>
        <p:spPr>
          <a:xfrm>
            <a:off x="9041735" y="3149656"/>
            <a:ext cx="95330" cy="83414"/>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9208563" y="3364149"/>
            <a:ext cx="95330" cy="178744"/>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sosceles Triangle 56"/>
          <p:cNvSpPr/>
          <p:nvPr/>
        </p:nvSpPr>
        <p:spPr>
          <a:xfrm>
            <a:off x="9208563" y="3280735"/>
            <a:ext cx="95330" cy="83414"/>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9053651" y="3578643"/>
            <a:ext cx="71497" cy="113204"/>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5-Point Star 58"/>
          <p:cNvSpPr/>
          <p:nvPr/>
        </p:nvSpPr>
        <p:spPr>
          <a:xfrm>
            <a:off x="7402936" y="5323502"/>
            <a:ext cx="616467" cy="616467"/>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0" name="Connector 59"/>
          <p:cNvCxnSpPr/>
          <p:nvPr/>
        </p:nvCxnSpPr>
        <p:spPr>
          <a:xfrm>
            <a:off x="6979601" y="5313279"/>
            <a:ext cx="196316"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7160418" y="5297780"/>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2" name="Connector 61"/>
          <p:cNvCxnSpPr/>
          <p:nvPr/>
        </p:nvCxnSpPr>
        <p:spPr>
          <a:xfrm>
            <a:off x="6969735" y="5343645"/>
            <a:ext cx="158822" cy="11539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7113059" y="5443538"/>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4" name="Connector 63"/>
          <p:cNvCxnSpPr/>
          <p:nvPr/>
        </p:nvCxnSpPr>
        <p:spPr>
          <a:xfrm>
            <a:off x="6943903" y="5362413"/>
            <a:ext cx="60665" cy="186707"/>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6989070" y="5533622"/>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6" name="Connector 65"/>
          <p:cNvCxnSpPr/>
          <p:nvPr/>
        </p:nvCxnSpPr>
        <p:spPr>
          <a:xfrm flipH="1">
            <a:off x="6851310" y="5362413"/>
            <a:ext cx="60665" cy="186707"/>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6835811" y="5533622"/>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8" name="Connector 67"/>
          <p:cNvCxnSpPr/>
          <p:nvPr/>
        </p:nvCxnSpPr>
        <p:spPr>
          <a:xfrm flipH="1">
            <a:off x="6727321" y="5343645"/>
            <a:ext cx="158822" cy="11539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711822" y="5443538"/>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0" name="Connector 69"/>
          <p:cNvCxnSpPr/>
          <p:nvPr/>
        </p:nvCxnSpPr>
        <p:spPr>
          <a:xfrm flipH="1">
            <a:off x="6679961" y="5313279"/>
            <a:ext cx="196316"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6664462" y="5297780"/>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flipH="1" flipV="1">
            <a:off x="6727321" y="5167521"/>
            <a:ext cx="158822" cy="11539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6711822" y="5152023"/>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4" name="Connector 73"/>
          <p:cNvCxnSpPr/>
          <p:nvPr/>
        </p:nvCxnSpPr>
        <p:spPr>
          <a:xfrm flipH="1" flipV="1">
            <a:off x="6851310" y="5077438"/>
            <a:ext cx="60665" cy="186707"/>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6835811" y="5061939"/>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V="1">
            <a:off x="6943903" y="5077438"/>
            <a:ext cx="60665" cy="186707"/>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6989070" y="5061939"/>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8" name="Connector 77"/>
          <p:cNvCxnSpPr/>
          <p:nvPr/>
        </p:nvCxnSpPr>
        <p:spPr>
          <a:xfrm flipV="1">
            <a:off x="6969735" y="5167521"/>
            <a:ext cx="158822" cy="11539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7113059" y="5152023"/>
            <a:ext cx="30997" cy="30997"/>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6896942" y="5282282"/>
            <a:ext cx="61994" cy="61994"/>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5-Point Star 80"/>
          <p:cNvSpPr/>
          <p:nvPr/>
        </p:nvSpPr>
        <p:spPr>
          <a:xfrm>
            <a:off x="9722538" y="4675110"/>
            <a:ext cx="419723" cy="419723"/>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2" name="Connector 81"/>
          <p:cNvCxnSpPr/>
          <p:nvPr/>
        </p:nvCxnSpPr>
        <p:spPr>
          <a:xfrm>
            <a:off x="6496582" y="3206985"/>
            <a:ext cx="260414"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6736437" y="3186426"/>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a:off x="6483494" y="3247266"/>
            <a:ext cx="210680" cy="153068"/>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6673615" y="3379775"/>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a:off x="6449229" y="3272161"/>
            <a:ext cx="80472" cy="24766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6509142" y="3499271"/>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8" name="Connector 87"/>
          <p:cNvCxnSpPr/>
          <p:nvPr/>
        </p:nvCxnSpPr>
        <p:spPr>
          <a:xfrm flipH="1">
            <a:off x="6326403" y="3272161"/>
            <a:ext cx="80472" cy="24766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9" name="Oval 88"/>
          <p:cNvSpPr/>
          <p:nvPr/>
        </p:nvSpPr>
        <p:spPr>
          <a:xfrm>
            <a:off x="6305844" y="3499271"/>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0" name="Connector 89"/>
          <p:cNvCxnSpPr/>
          <p:nvPr/>
        </p:nvCxnSpPr>
        <p:spPr>
          <a:xfrm flipH="1">
            <a:off x="6161930" y="3247266"/>
            <a:ext cx="210680" cy="153068"/>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1" name="Oval 90"/>
          <p:cNvSpPr/>
          <p:nvPr/>
        </p:nvSpPr>
        <p:spPr>
          <a:xfrm>
            <a:off x="6141371" y="3379775"/>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2" name="Connector 91"/>
          <p:cNvCxnSpPr/>
          <p:nvPr/>
        </p:nvCxnSpPr>
        <p:spPr>
          <a:xfrm flipH="1">
            <a:off x="6099108" y="3206985"/>
            <a:ext cx="260414"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3" name="Oval 92"/>
          <p:cNvSpPr/>
          <p:nvPr/>
        </p:nvSpPr>
        <p:spPr>
          <a:xfrm>
            <a:off x="6078548" y="3186426"/>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4" name="Connector 93"/>
          <p:cNvCxnSpPr/>
          <p:nvPr/>
        </p:nvCxnSpPr>
        <p:spPr>
          <a:xfrm flipH="1" flipV="1">
            <a:off x="6161930" y="3013636"/>
            <a:ext cx="210680" cy="153068"/>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5" name="Oval 94"/>
          <p:cNvSpPr/>
          <p:nvPr/>
        </p:nvSpPr>
        <p:spPr>
          <a:xfrm>
            <a:off x="6141371" y="2993077"/>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6" name="Connector 95"/>
          <p:cNvCxnSpPr/>
          <p:nvPr/>
        </p:nvCxnSpPr>
        <p:spPr>
          <a:xfrm flipH="1" flipV="1">
            <a:off x="6326403" y="2894140"/>
            <a:ext cx="80472" cy="24766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7" name="Oval 96"/>
          <p:cNvSpPr/>
          <p:nvPr/>
        </p:nvSpPr>
        <p:spPr>
          <a:xfrm>
            <a:off x="6305844" y="2873581"/>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8" name="Connector 97"/>
          <p:cNvCxnSpPr/>
          <p:nvPr/>
        </p:nvCxnSpPr>
        <p:spPr>
          <a:xfrm flipV="1">
            <a:off x="6449229" y="2894140"/>
            <a:ext cx="80472" cy="24766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9" name="Oval 98"/>
          <p:cNvSpPr/>
          <p:nvPr/>
        </p:nvSpPr>
        <p:spPr>
          <a:xfrm>
            <a:off x="6509142" y="2873581"/>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0" name="Connector 99"/>
          <p:cNvCxnSpPr/>
          <p:nvPr/>
        </p:nvCxnSpPr>
        <p:spPr>
          <a:xfrm flipV="1">
            <a:off x="6483494" y="3013636"/>
            <a:ext cx="210680" cy="153068"/>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1" name="Oval 100"/>
          <p:cNvSpPr/>
          <p:nvPr/>
        </p:nvSpPr>
        <p:spPr>
          <a:xfrm>
            <a:off x="6673615" y="2993077"/>
            <a:ext cx="41118" cy="41118"/>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6386934" y="3165867"/>
            <a:ext cx="82236" cy="82236"/>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5-Point Star 102"/>
          <p:cNvSpPr/>
          <p:nvPr/>
        </p:nvSpPr>
        <p:spPr>
          <a:xfrm>
            <a:off x="5999951" y="4492635"/>
            <a:ext cx="387356" cy="387356"/>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ectangle 103"/>
          <p:cNvSpPr/>
          <p:nvPr/>
        </p:nvSpPr>
        <p:spPr>
          <a:xfrm rot="19800000">
            <a:off x="4705726" y="703593"/>
            <a:ext cx="30459" cy="203061"/>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5-Point Star 104"/>
          <p:cNvSpPr/>
          <p:nvPr/>
        </p:nvSpPr>
        <p:spPr>
          <a:xfrm>
            <a:off x="4648192" y="588525"/>
            <a:ext cx="155680" cy="155680"/>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4-Point Star 105"/>
          <p:cNvSpPr/>
          <p:nvPr/>
        </p:nvSpPr>
        <p:spPr>
          <a:xfrm>
            <a:off x="4604196" y="723899"/>
            <a:ext cx="54149" cy="54149"/>
          </a:xfrm>
          <a:prstGeom prst="star4">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4-Point Star 106"/>
          <p:cNvSpPr/>
          <p:nvPr/>
        </p:nvSpPr>
        <p:spPr>
          <a:xfrm>
            <a:off x="4577121" y="791586"/>
            <a:ext cx="37227" cy="37227"/>
          </a:xfrm>
          <a:prstGeom prst="star4">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TECHNOLOGY</a:t>
            </a:r>
          </a:p>
        </p:txBody>
      </p:sp>
      <p:sp>
        <p:nvSpPr>
          <p:cNvPr id="109" name="Rectangle 108"/>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使用技術の詳細</a:t>
            </a:r>
            <a:endParaRPr sz="2700" b="1" i="0" dirty="0">
              <a:solidFill>
                <a:srgbClr val="EEF4FF"/>
              </a:solidFill>
              <a:latin typeface="Meiryo UI" panose="020B0604030504040204" pitchFamily="50" charset="-128"/>
            </a:endParaRPr>
          </a:p>
        </p:txBody>
      </p:sp>
      <p:sp>
        <p:nvSpPr>
          <p:cNvPr id="111" name="Rounded Rectangle 110"/>
          <p:cNvSpPr/>
          <p:nvPr/>
        </p:nvSpPr>
        <p:spPr>
          <a:xfrm>
            <a:off x="822960" y="1874519"/>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ounded Rectangle 111"/>
          <p:cNvSpPr/>
          <p:nvPr/>
        </p:nvSpPr>
        <p:spPr>
          <a:xfrm>
            <a:off x="5181600" y="2171278"/>
            <a:ext cx="1828800" cy="594360"/>
          </a:xfrm>
          <a:prstGeom prst="roundRect">
            <a:avLst>
              <a:gd name="adj" fmla="val 15000"/>
            </a:avLst>
          </a:prstGeom>
          <a:solidFill>
            <a:srgbClr val="0A1630"/>
          </a:solidFill>
          <a:ln w="9525">
            <a:solidFill>
              <a:srgbClr val="B39A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5181600" y="2182625"/>
            <a:ext cx="1828800" cy="594360"/>
          </a:xfrm>
          <a:prstGeom prst="rect">
            <a:avLst/>
          </a:prstGeom>
          <a:noFill/>
        </p:spPr>
        <p:txBody>
          <a:bodyPr wrap="square" lIns="0" tIns="0" rIns="0" bIns="0" anchor="ctr">
            <a:spAutoFit/>
          </a:bodyPr>
          <a:lstStyle/>
          <a:p>
            <a:pPr algn="ctr">
              <a:lnSpc>
                <a:spcPct val="100000"/>
              </a:lnSpc>
              <a:spcAft>
                <a:spcPts val="0"/>
              </a:spcAft>
            </a:pPr>
            <a:r>
              <a:rPr sz="1500" b="1" i="0">
                <a:solidFill>
                  <a:srgbClr val="E6D5A3"/>
                </a:solidFill>
                <a:latin typeface="Georgia"/>
              </a:rPr>
              <a:t>HTML</a:t>
            </a:r>
          </a:p>
        </p:txBody>
      </p:sp>
      <p:sp>
        <p:nvSpPr>
          <p:cNvPr id="115" name="Rounded Rectangle 114"/>
          <p:cNvSpPr/>
          <p:nvPr/>
        </p:nvSpPr>
        <p:spPr>
          <a:xfrm>
            <a:off x="822960" y="3337559"/>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Rounded Rectangle 115"/>
          <p:cNvSpPr/>
          <p:nvPr/>
        </p:nvSpPr>
        <p:spPr>
          <a:xfrm>
            <a:off x="5181600" y="3563364"/>
            <a:ext cx="1828800" cy="594360"/>
          </a:xfrm>
          <a:prstGeom prst="roundRect">
            <a:avLst>
              <a:gd name="adj" fmla="val 15000"/>
            </a:avLst>
          </a:prstGeom>
          <a:solidFill>
            <a:srgbClr val="0A1630"/>
          </a:solidFill>
          <a:ln w="9525">
            <a:solidFill>
              <a:srgbClr val="B39A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5181600" y="3593593"/>
            <a:ext cx="1828800" cy="594360"/>
          </a:xfrm>
          <a:prstGeom prst="rect">
            <a:avLst/>
          </a:prstGeom>
          <a:noFill/>
        </p:spPr>
        <p:txBody>
          <a:bodyPr wrap="square" lIns="0" tIns="0" rIns="0" bIns="0" anchor="ctr">
            <a:spAutoFit/>
          </a:bodyPr>
          <a:lstStyle/>
          <a:p>
            <a:pPr algn="ctr">
              <a:lnSpc>
                <a:spcPct val="100000"/>
              </a:lnSpc>
              <a:spcAft>
                <a:spcPts val="0"/>
              </a:spcAft>
            </a:pPr>
            <a:r>
              <a:rPr sz="1500" b="1" i="0">
                <a:solidFill>
                  <a:srgbClr val="E6D5A3"/>
                </a:solidFill>
                <a:latin typeface="Georgia"/>
              </a:rPr>
              <a:t>CSS</a:t>
            </a:r>
          </a:p>
        </p:txBody>
      </p:sp>
      <p:sp>
        <p:nvSpPr>
          <p:cNvPr id="119" name="Rounded Rectangle 118"/>
          <p:cNvSpPr/>
          <p:nvPr/>
        </p:nvSpPr>
        <p:spPr>
          <a:xfrm>
            <a:off x="822960" y="4800599"/>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Rounded Rectangle 119"/>
          <p:cNvSpPr/>
          <p:nvPr/>
        </p:nvSpPr>
        <p:spPr>
          <a:xfrm>
            <a:off x="5175303" y="5036020"/>
            <a:ext cx="1828800" cy="594360"/>
          </a:xfrm>
          <a:prstGeom prst="roundRect">
            <a:avLst>
              <a:gd name="adj" fmla="val 15000"/>
            </a:avLst>
          </a:prstGeom>
          <a:solidFill>
            <a:srgbClr val="0A1630"/>
          </a:solidFill>
          <a:ln w="9525">
            <a:solidFill>
              <a:srgbClr val="B39A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5181600" y="5016098"/>
            <a:ext cx="1828800" cy="594360"/>
          </a:xfrm>
          <a:prstGeom prst="rect">
            <a:avLst/>
          </a:prstGeom>
          <a:noFill/>
        </p:spPr>
        <p:txBody>
          <a:bodyPr wrap="square" lIns="0" tIns="0" rIns="0" bIns="0" anchor="ctr">
            <a:spAutoFit/>
          </a:bodyPr>
          <a:lstStyle/>
          <a:p>
            <a:pPr algn="ctr">
              <a:lnSpc>
                <a:spcPct val="100000"/>
              </a:lnSpc>
              <a:spcAft>
                <a:spcPts val="0"/>
              </a:spcAft>
            </a:pPr>
            <a:r>
              <a:rPr sz="1500" b="1" i="0">
                <a:solidFill>
                  <a:srgbClr val="E6D5A3"/>
                </a:solidFill>
                <a:latin typeface="Georgia"/>
              </a:rPr>
              <a:t>JavaScript</a:t>
            </a:r>
          </a:p>
        </p:txBody>
      </p:sp>
      <p:sp>
        <p:nvSpPr>
          <p:cNvPr id="123" name="TextBox 122"/>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24" name="TextBox 123"/>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11 / 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000499" y="4503420"/>
            <a:ext cx="13121639" cy="13121639"/>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840480" y="4663440"/>
            <a:ext cx="12801600" cy="1280160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048256" y="6455664"/>
            <a:ext cx="9217152" cy="9217152"/>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84048" y="8119872"/>
            <a:ext cx="5888736" cy="5888736"/>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280561" y="12191000"/>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7927050" y="13174727"/>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3687080" y="13784481"/>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4670807" y="16430970"/>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257808" y="13784481"/>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65784" y="16430970"/>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2998434" y="12191000"/>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3190458" y="13174727"/>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2998434" y="8761728"/>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3190458" y="8569704"/>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257808" y="5505485"/>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65784" y="5313461"/>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3687080" y="5505485"/>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4670807" y="5313461"/>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5280561" y="8761728"/>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7927050" y="8569704"/>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901307" y="5317007"/>
            <a:ext cx="102075" cy="102075"/>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3517156" y="1520105"/>
            <a:ext cx="50899" cy="50899"/>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iamond 34"/>
          <p:cNvSpPr/>
          <p:nvPr/>
        </p:nvSpPr>
        <p:spPr>
          <a:xfrm>
            <a:off x="2692295" y="5551072"/>
            <a:ext cx="57924" cy="57924"/>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iamond 35"/>
          <p:cNvSpPr/>
          <p:nvPr/>
        </p:nvSpPr>
        <p:spPr>
          <a:xfrm>
            <a:off x="10723766" y="5938940"/>
            <a:ext cx="52258" cy="52258"/>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1395558" y="2712647"/>
            <a:ext cx="85893" cy="85893"/>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7616839" y="659013"/>
            <a:ext cx="91994" cy="91994"/>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5413393" y="2437816"/>
            <a:ext cx="91980" cy="9198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886210" y="1554891"/>
            <a:ext cx="94308" cy="94308"/>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1378172" y="6266116"/>
            <a:ext cx="76697" cy="76697"/>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245567" y="1003373"/>
            <a:ext cx="71706" cy="71706"/>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053711" y="3008009"/>
            <a:ext cx="85982" cy="85982"/>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44031" y="1437584"/>
            <a:ext cx="83975" cy="83975"/>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756855" y="5169437"/>
            <a:ext cx="96302" cy="96302"/>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68553" y="3574378"/>
            <a:ext cx="55366" cy="55366"/>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iamond 46"/>
          <p:cNvSpPr/>
          <p:nvPr/>
        </p:nvSpPr>
        <p:spPr>
          <a:xfrm>
            <a:off x="7256063" y="5780740"/>
            <a:ext cx="54442" cy="54442"/>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iamond 47"/>
          <p:cNvSpPr/>
          <p:nvPr/>
        </p:nvSpPr>
        <p:spPr>
          <a:xfrm>
            <a:off x="1252362" y="5998042"/>
            <a:ext cx="87014" cy="87014"/>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630975" y="3053606"/>
            <a:ext cx="71447" cy="71447"/>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550672" y="3290508"/>
            <a:ext cx="64431" cy="64431"/>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5-Point Star 50"/>
          <p:cNvSpPr/>
          <p:nvPr/>
        </p:nvSpPr>
        <p:spPr>
          <a:xfrm>
            <a:off x="10096589" y="1838965"/>
            <a:ext cx="627242" cy="627242"/>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rot="19800000">
            <a:off x="7925472" y="3414521"/>
            <a:ext cx="60561" cy="403741"/>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5-Point Star 52"/>
          <p:cNvSpPr/>
          <p:nvPr/>
        </p:nvSpPr>
        <p:spPr>
          <a:xfrm>
            <a:off x="7811078" y="3185734"/>
            <a:ext cx="309535" cy="309535"/>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4-Point Star 53"/>
          <p:cNvSpPr/>
          <p:nvPr/>
        </p:nvSpPr>
        <p:spPr>
          <a:xfrm>
            <a:off x="7723601" y="3454895"/>
            <a:ext cx="107664" cy="107664"/>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4-Point Star 54"/>
          <p:cNvSpPr/>
          <p:nvPr/>
        </p:nvSpPr>
        <p:spPr>
          <a:xfrm>
            <a:off x="7669769" y="3589475"/>
            <a:ext cx="74019" cy="74019"/>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5-Point Star 55"/>
          <p:cNvSpPr/>
          <p:nvPr/>
        </p:nvSpPr>
        <p:spPr>
          <a:xfrm>
            <a:off x="6908797" y="5631919"/>
            <a:ext cx="592876" cy="592876"/>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5-Point Star 56"/>
          <p:cNvSpPr/>
          <p:nvPr/>
        </p:nvSpPr>
        <p:spPr>
          <a:xfrm>
            <a:off x="8944736" y="4670998"/>
            <a:ext cx="543531" cy="543531"/>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rot="19800000">
            <a:off x="5477335" y="2225349"/>
            <a:ext cx="46116" cy="307443"/>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5-Point Star 58"/>
          <p:cNvSpPr/>
          <p:nvPr/>
        </p:nvSpPr>
        <p:spPr>
          <a:xfrm>
            <a:off x="5390226" y="2051131"/>
            <a:ext cx="235706" cy="235706"/>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4-Point Star 59"/>
          <p:cNvSpPr/>
          <p:nvPr/>
        </p:nvSpPr>
        <p:spPr>
          <a:xfrm>
            <a:off x="5323613" y="2256093"/>
            <a:ext cx="81984" cy="81984"/>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4-Point Star 60"/>
          <p:cNvSpPr/>
          <p:nvPr/>
        </p:nvSpPr>
        <p:spPr>
          <a:xfrm>
            <a:off x="5282621" y="2358574"/>
            <a:ext cx="56364" cy="56364"/>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8992092" y="5516819"/>
            <a:ext cx="455854" cy="16576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9012812" y="5397675"/>
            <a:ext cx="82882" cy="15540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Isosceles Triangle 63"/>
          <p:cNvSpPr/>
          <p:nvPr/>
        </p:nvSpPr>
        <p:spPr>
          <a:xfrm>
            <a:off x="9012812" y="5325153"/>
            <a:ext cx="82882" cy="7252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9178578" y="5283711"/>
            <a:ext cx="82882" cy="269368"/>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Isosceles Triangle 65"/>
          <p:cNvSpPr/>
          <p:nvPr/>
        </p:nvSpPr>
        <p:spPr>
          <a:xfrm>
            <a:off x="9178578" y="5211189"/>
            <a:ext cx="82882" cy="7252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9323622" y="5397675"/>
            <a:ext cx="82882" cy="15540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Isosceles Triangle 67"/>
          <p:cNvSpPr/>
          <p:nvPr/>
        </p:nvSpPr>
        <p:spPr>
          <a:xfrm>
            <a:off x="9323622" y="5325153"/>
            <a:ext cx="82882" cy="7252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9188938" y="5584161"/>
            <a:ext cx="62162" cy="98423"/>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0" name="Connector 69"/>
          <p:cNvCxnSpPr/>
          <p:nvPr/>
        </p:nvCxnSpPr>
        <p:spPr>
          <a:xfrm>
            <a:off x="9047303" y="2512216"/>
            <a:ext cx="207670"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9238578" y="2495821"/>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a:off x="9036866" y="254433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9188479" y="2650009"/>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4" name="Connector 73"/>
          <p:cNvCxnSpPr/>
          <p:nvPr/>
        </p:nvCxnSpPr>
        <p:spPr>
          <a:xfrm>
            <a:off x="9009541" y="2564191"/>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9057319" y="2745302"/>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H="1">
            <a:off x="8911592" y="2564191"/>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8895197" y="2745302"/>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8" name="Connector 77"/>
          <p:cNvCxnSpPr/>
          <p:nvPr/>
        </p:nvCxnSpPr>
        <p:spPr>
          <a:xfrm flipH="1">
            <a:off x="8780432" y="254433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8764037" y="2650009"/>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0" name="Connector 79"/>
          <p:cNvCxnSpPr/>
          <p:nvPr/>
        </p:nvCxnSpPr>
        <p:spPr>
          <a:xfrm flipH="1">
            <a:off x="8730333" y="2512216"/>
            <a:ext cx="207670"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8713939" y="2495821"/>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2" name="Connector 81"/>
          <p:cNvCxnSpPr/>
          <p:nvPr/>
        </p:nvCxnSpPr>
        <p:spPr>
          <a:xfrm flipH="1" flipV="1">
            <a:off x="8780432" y="235802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8764037" y="2341633"/>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flipH="1" flipV="1">
            <a:off x="8911592" y="2262735"/>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8895197" y="2246340"/>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flipV="1">
            <a:off x="9009541" y="2262735"/>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9057319" y="2246340"/>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8" name="Connector 87"/>
          <p:cNvCxnSpPr/>
          <p:nvPr/>
        </p:nvCxnSpPr>
        <p:spPr>
          <a:xfrm flipV="1">
            <a:off x="9036866" y="235802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9" name="Oval 88"/>
          <p:cNvSpPr/>
          <p:nvPr/>
        </p:nvSpPr>
        <p:spPr>
          <a:xfrm>
            <a:off x="9188479" y="2341633"/>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8959863" y="2479426"/>
            <a:ext cx="65579" cy="6557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KEY IDEAS</a:t>
            </a:r>
          </a:p>
        </p:txBody>
      </p:sp>
      <p:sp>
        <p:nvSpPr>
          <p:cNvPr id="92" name="Rectangle 91"/>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工夫点と差別化要素</a:t>
            </a:r>
            <a:endParaRPr sz="2700" b="1" i="0" dirty="0">
              <a:solidFill>
                <a:srgbClr val="EEF4FF"/>
              </a:solidFill>
              <a:latin typeface="Meiryo UI" panose="020B0604030504040204" pitchFamily="50" charset="-128"/>
            </a:endParaRPr>
          </a:p>
        </p:txBody>
      </p:sp>
      <p:sp>
        <p:nvSpPr>
          <p:cNvPr id="94" name="Chevron 93"/>
          <p:cNvSpPr/>
          <p:nvPr/>
        </p:nvSpPr>
        <p:spPr>
          <a:xfrm>
            <a:off x="838047" y="1783080"/>
            <a:ext cx="5166360" cy="548640"/>
          </a:xfrm>
          <a:prstGeom prst="chevron">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838047" y="1957372"/>
            <a:ext cx="5166360" cy="200055"/>
          </a:xfrm>
          <a:prstGeom prst="rect">
            <a:avLst/>
          </a:prstGeom>
          <a:noFill/>
        </p:spPr>
        <p:txBody>
          <a:bodyPr wrap="square" lIns="0" tIns="0" rIns="0" bIns="0" anchor="ctr">
            <a:spAutoFit/>
          </a:bodyPr>
          <a:lstStyle/>
          <a:p>
            <a:pPr algn="ctr">
              <a:lnSpc>
                <a:spcPct val="100000"/>
              </a:lnSpc>
              <a:spcAft>
                <a:spcPts val="0"/>
              </a:spcAft>
            </a:pPr>
            <a:r>
              <a:rPr sz="1300" b="1" i="0" dirty="0" err="1">
                <a:solidFill>
                  <a:srgbClr val="EEF4FF"/>
                </a:solidFill>
                <a:latin typeface="Meiryo UI" panose="020B0604030504040204" pitchFamily="50" charset="-128"/>
              </a:rPr>
              <a:t>体験設計の工夫</a:t>
            </a:r>
            <a:endParaRPr sz="1300" b="1" i="0" dirty="0">
              <a:solidFill>
                <a:srgbClr val="EEF4FF"/>
              </a:solidFill>
              <a:latin typeface="Meiryo UI" panose="020B0604030504040204" pitchFamily="50" charset="-128"/>
            </a:endParaRPr>
          </a:p>
        </p:txBody>
      </p:sp>
      <p:sp>
        <p:nvSpPr>
          <p:cNvPr id="96" name="Chevron 95"/>
          <p:cNvSpPr/>
          <p:nvPr/>
        </p:nvSpPr>
        <p:spPr>
          <a:xfrm>
            <a:off x="6187287" y="1783080"/>
            <a:ext cx="5166360" cy="548640"/>
          </a:xfrm>
          <a:prstGeom prst="chevron">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6187287" y="1957372"/>
            <a:ext cx="5166360" cy="200055"/>
          </a:xfrm>
          <a:prstGeom prst="rect">
            <a:avLst/>
          </a:prstGeom>
          <a:noFill/>
        </p:spPr>
        <p:txBody>
          <a:bodyPr wrap="square" lIns="0" tIns="0" rIns="0" bIns="0" anchor="ctr">
            <a:spAutoFit/>
          </a:bodyPr>
          <a:lstStyle/>
          <a:p>
            <a:pPr algn="ctr">
              <a:lnSpc>
                <a:spcPct val="100000"/>
              </a:lnSpc>
              <a:spcAft>
                <a:spcPts val="0"/>
              </a:spcAft>
            </a:pPr>
            <a:r>
              <a:rPr sz="1300" b="1" i="0" dirty="0" err="1">
                <a:solidFill>
                  <a:srgbClr val="EEF4FF"/>
                </a:solidFill>
                <a:latin typeface="Meiryo UI" panose="020B0604030504040204" pitchFamily="50" charset="-128"/>
              </a:rPr>
              <a:t>再利用性と拡張性</a:t>
            </a:r>
            <a:endParaRPr sz="1300" b="1" i="0" dirty="0">
              <a:solidFill>
                <a:srgbClr val="EEF4FF"/>
              </a:solidFill>
              <a:latin typeface="Meiryo UI" panose="020B0604030504040204" pitchFamily="50" charset="-128"/>
            </a:endParaRPr>
          </a:p>
        </p:txBody>
      </p:sp>
      <p:sp>
        <p:nvSpPr>
          <p:cNvPr id="98" name="Rounded Rectangle 97"/>
          <p:cNvSpPr/>
          <p:nvPr/>
        </p:nvSpPr>
        <p:spPr>
          <a:xfrm>
            <a:off x="838047" y="2560320"/>
            <a:ext cx="5166360" cy="196596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1112367" y="2788920"/>
            <a:ext cx="4617720" cy="1320490"/>
          </a:xfrm>
          <a:prstGeom prst="rect">
            <a:avLst/>
          </a:prstGeom>
          <a:noFill/>
        </p:spPr>
        <p:txBody>
          <a:bodyPr wrap="square" lIns="0" tIns="0" rIns="0" bIns="0" anchor="t">
            <a:spAutoFit/>
          </a:bodyPr>
          <a:lstStyle/>
          <a:p>
            <a:pPr algn="l">
              <a:lnSpc>
                <a:spcPct val="150000"/>
              </a:lnSpc>
              <a:spcAft>
                <a:spcPts val="0"/>
              </a:spcAft>
            </a:pPr>
            <a:r>
              <a:rPr sz="2000" b="0" i="0" dirty="0">
                <a:solidFill>
                  <a:srgbClr val="C3D2EA"/>
                </a:solidFill>
                <a:latin typeface="Meiryo UI" panose="020B0604030504040204" pitchFamily="50" charset="-128"/>
              </a:rPr>
              <a:t>「体験型サイト」で没入感を強化／記憶の欠片収集で自然な探索を誘導／音と光の反応でゲーム的な操作感を演出</a:t>
            </a:r>
          </a:p>
        </p:txBody>
      </p:sp>
      <p:sp>
        <p:nvSpPr>
          <p:cNvPr id="100" name="Rounded Rectangle 99"/>
          <p:cNvSpPr/>
          <p:nvPr/>
        </p:nvSpPr>
        <p:spPr>
          <a:xfrm>
            <a:off x="6187287" y="2560320"/>
            <a:ext cx="5166360" cy="196596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6461607" y="2788920"/>
            <a:ext cx="4617720" cy="858825"/>
          </a:xfrm>
          <a:prstGeom prst="rect">
            <a:avLst/>
          </a:prstGeom>
          <a:noFill/>
        </p:spPr>
        <p:txBody>
          <a:bodyPr wrap="square" lIns="0" tIns="0" rIns="0" bIns="0" anchor="t">
            <a:spAutoFit/>
          </a:bodyPr>
          <a:lstStyle/>
          <a:p>
            <a:pPr algn="l">
              <a:lnSpc>
                <a:spcPct val="150000"/>
              </a:lnSpc>
              <a:spcAft>
                <a:spcPts val="0"/>
              </a:spcAft>
            </a:pPr>
            <a:r>
              <a:rPr sz="2000" b="0" i="0" dirty="0">
                <a:solidFill>
                  <a:srgbClr val="C3D2EA"/>
                </a:solidFill>
                <a:latin typeface="Meiryo UI" panose="020B0604030504040204" pitchFamily="50" charset="-128"/>
              </a:rPr>
              <a:t>SECRET </a:t>
            </a:r>
            <a:r>
              <a:rPr sz="2000" b="0" i="0" dirty="0" err="1">
                <a:solidFill>
                  <a:srgbClr val="C3D2EA"/>
                </a:solidFill>
                <a:latin typeface="Meiryo UI" panose="020B0604030504040204" pitchFamily="50" charset="-128"/>
              </a:rPr>
              <a:t>MEMORYなど隠し要素で再訪を促進</a:t>
            </a:r>
            <a:endParaRPr sz="2000" b="0" i="0" dirty="0">
              <a:solidFill>
                <a:srgbClr val="C3D2EA"/>
              </a:solidFill>
              <a:latin typeface="Meiryo UI" panose="020B0604030504040204" pitchFamily="50" charset="-128"/>
            </a:endParaRPr>
          </a:p>
        </p:txBody>
      </p:sp>
      <p:sp>
        <p:nvSpPr>
          <p:cNvPr id="102" name="Rounded Rectangle 101"/>
          <p:cNvSpPr/>
          <p:nvPr/>
        </p:nvSpPr>
        <p:spPr>
          <a:xfrm>
            <a:off x="838047" y="4800600"/>
            <a:ext cx="10515600" cy="96012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3" name="TextBox 102"/>
          <p:cNvSpPr txBox="1"/>
          <p:nvPr/>
        </p:nvSpPr>
        <p:spPr>
          <a:xfrm>
            <a:off x="838047" y="4937760"/>
            <a:ext cx="10515600" cy="200055"/>
          </a:xfrm>
          <a:prstGeom prst="rect">
            <a:avLst/>
          </a:prstGeom>
          <a:noFill/>
        </p:spPr>
        <p:txBody>
          <a:bodyPr wrap="square" lIns="0" tIns="0" rIns="0" bIns="0" anchor="t">
            <a:spAutoFit/>
          </a:bodyPr>
          <a:lstStyle/>
          <a:p>
            <a:pPr algn="ctr">
              <a:lnSpc>
                <a:spcPct val="100000"/>
              </a:lnSpc>
              <a:spcAft>
                <a:spcPts val="0"/>
              </a:spcAft>
            </a:pPr>
            <a:r>
              <a:rPr sz="1300" b="1" i="0" dirty="0" err="1">
                <a:solidFill>
                  <a:srgbClr val="E6D5A3"/>
                </a:solidFill>
                <a:latin typeface="Meiryo UI" panose="020B0604030504040204" pitchFamily="50" charset="-128"/>
              </a:rPr>
              <a:t>企画実現の方向性</a:t>
            </a:r>
            <a:endParaRPr sz="1300" b="1" i="0" dirty="0">
              <a:solidFill>
                <a:srgbClr val="E6D5A3"/>
              </a:solidFill>
              <a:latin typeface="Meiryo UI" panose="020B0604030504040204" pitchFamily="50" charset="-128"/>
            </a:endParaRPr>
          </a:p>
        </p:txBody>
      </p:sp>
      <p:sp>
        <p:nvSpPr>
          <p:cNvPr id="104" name="TextBox 103"/>
          <p:cNvSpPr txBox="1"/>
          <p:nvPr/>
        </p:nvSpPr>
        <p:spPr>
          <a:xfrm>
            <a:off x="1386687" y="5276088"/>
            <a:ext cx="9418320" cy="350994"/>
          </a:xfrm>
          <a:prstGeom prst="rect">
            <a:avLst/>
          </a:prstGeom>
          <a:noFill/>
        </p:spPr>
        <p:txBody>
          <a:bodyPr wrap="square" lIns="0" tIns="0" rIns="0" bIns="0" anchor="t">
            <a:spAutoFit/>
          </a:bodyPr>
          <a:lstStyle/>
          <a:p>
            <a:pPr algn="ctr">
              <a:lnSpc>
                <a:spcPct val="130000"/>
              </a:lnSpc>
              <a:spcAft>
                <a:spcPts val="0"/>
              </a:spcAft>
            </a:pPr>
            <a:r>
              <a:rPr sz="2000" b="0" i="0" dirty="0">
                <a:solidFill>
                  <a:srgbClr val="C3D2EA"/>
                </a:solidFill>
                <a:latin typeface="Meiryo UI" panose="020B0604030504040204" pitchFamily="50" charset="-128"/>
              </a:rPr>
              <a:t>「体験型サイト」の工夫と「キングダムハーツらしさ」を融合し、ファンサイトを超える完成度を実現</a:t>
            </a:r>
          </a:p>
        </p:txBody>
      </p:sp>
      <p:sp>
        <p:nvSpPr>
          <p:cNvPr id="105" name="TextBox 104"/>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06" name="TextBox 105"/>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12 / 14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577840" y="3749040"/>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000499" y="4503420"/>
            <a:ext cx="13121639" cy="13121639"/>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840480" y="4663440"/>
            <a:ext cx="12801600" cy="1280160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048256" y="6455664"/>
            <a:ext cx="9217152" cy="9217152"/>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84048" y="8119872"/>
            <a:ext cx="5888736" cy="5888736"/>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280561" y="12191000"/>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7927050" y="13174727"/>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3687080" y="13784481"/>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4670807" y="16430970"/>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257808" y="13784481"/>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65784" y="16430970"/>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2998434" y="12191000"/>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3190458" y="13174727"/>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2998434" y="8761728"/>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3190458" y="8569704"/>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257808" y="5505485"/>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65784" y="5313461"/>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3687080" y="5505485"/>
            <a:ext cx="1175751" cy="2838513"/>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4670807" y="5313461"/>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5280561" y="8761728"/>
            <a:ext cx="2838513" cy="117575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7927050" y="8569704"/>
            <a:ext cx="384048" cy="384048"/>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901307" y="5317007"/>
            <a:ext cx="102075" cy="102075"/>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3517156" y="1520105"/>
            <a:ext cx="50899" cy="50899"/>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iamond 34"/>
          <p:cNvSpPr/>
          <p:nvPr/>
        </p:nvSpPr>
        <p:spPr>
          <a:xfrm>
            <a:off x="2692295" y="5551072"/>
            <a:ext cx="57924" cy="57924"/>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iamond 35"/>
          <p:cNvSpPr/>
          <p:nvPr/>
        </p:nvSpPr>
        <p:spPr>
          <a:xfrm>
            <a:off x="10723766" y="5938940"/>
            <a:ext cx="52258" cy="52258"/>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1395558" y="2712647"/>
            <a:ext cx="85893" cy="85893"/>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7616839" y="659013"/>
            <a:ext cx="91994" cy="91994"/>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5413393" y="2437816"/>
            <a:ext cx="91980" cy="91980"/>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886210" y="1554891"/>
            <a:ext cx="94308" cy="94308"/>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1378172" y="6266116"/>
            <a:ext cx="76697" cy="76697"/>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245567" y="1003373"/>
            <a:ext cx="71706" cy="71706"/>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053711" y="3008009"/>
            <a:ext cx="85982" cy="85982"/>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44031" y="1437584"/>
            <a:ext cx="83975" cy="83975"/>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756855" y="5169437"/>
            <a:ext cx="96302" cy="96302"/>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68553" y="3574378"/>
            <a:ext cx="55366" cy="55366"/>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iamond 46"/>
          <p:cNvSpPr/>
          <p:nvPr/>
        </p:nvSpPr>
        <p:spPr>
          <a:xfrm>
            <a:off x="7256063" y="5780740"/>
            <a:ext cx="54442" cy="54442"/>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iamond 47"/>
          <p:cNvSpPr/>
          <p:nvPr/>
        </p:nvSpPr>
        <p:spPr>
          <a:xfrm>
            <a:off x="1252362" y="5998042"/>
            <a:ext cx="87014" cy="87014"/>
          </a:xfrm>
          <a:prstGeom prst="diamond">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630975" y="3053606"/>
            <a:ext cx="71447" cy="71447"/>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550672" y="3290508"/>
            <a:ext cx="64431" cy="64431"/>
          </a:xfrm>
          <a:prstGeom prst="ellipse">
            <a:avLst/>
          </a:prstGeom>
          <a:solidFill>
            <a:srgbClr val="B39A6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5-Point Star 50"/>
          <p:cNvSpPr/>
          <p:nvPr/>
        </p:nvSpPr>
        <p:spPr>
          <a:xfrm>
            <a:off x="10096589" y="1838965"/>
            <a:ext cx="627242" cy="627242"/>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rot="19800000">
            <a:off x="7925472" y="3414521"/>
            <a:ext cx="60561" cy="403741"/>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5-Point Star 52"/>
          <p:cNvSpPr/>
          <p:nvPr/>
        </p:nvSpPr>
        <p:spPr>
          <a:xfrm>
            <a:off x="7811078" y="3185734"/>
            <a:ext cx="309535" cy="309535"/>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4-Point Star 53"/>
          <p:cNvSpPr/>
          <p:nvPr/>
        </p:nvSpPr>
        <p:spPr>
          <a:xfrm>
            <a:off x="7723601" y="3454895"/>
            <a:ext cx="107664" cy="107664"/>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4-Point Star 54"/>
          <p:cNvSpPr/>
          <p:nvPr/>
        </p:nvSpPr>
        <p:spPr>
          <a:xfrm>
            <a:off x="7669769" y="3589475"/>
            <a:ext cx="74019" cy="74019"/>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5-Point Star 55"/>
          <p:cNvSpPr/>
          <p:nvPr/>
        </p:nvSpPr>
        <p:spPr>
          <a:xfrm>
            <a:off x="6908797" y="5631919"/>
            <a:ext cx="592876" cy="592876"/>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5-Point Star 56"/>
          <p:cNvSpPr/>
          <p:nvPr/>
        </p:nvSpPr>
        <p:spPr>
          <a:xfrm>
            <a:off x="8944736" y="4670998"/>
            <a:ext cx="543531" cy="543531"/>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rot="19800000">
            <a:off x="5477335" y="2225349"/>
            <a:ext cx="46116" cy="307443"/>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5-Point Star 58"/>
          <p:cNvSpPr/>
          <p:nvPr/>
        </p:nvSpPr>
        <p:spPr>
          <a:xfrm>
            <a:off x="5390226" y="2051131"/>
            <a:ext cx="235706" cy="235706"/>
          </a:xfrm>
          <a:prstGeom prst="star5">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4-Point Star 59"/>
          <p:cNvSpPr/>
          <p:nvPr/>
        </p:nvSpPr>
        <p:spPr>
          <a:xfrm>
            <a:off x="5323613" y="2256093"/>
            <a:ext cx="81984" cy="81984"/>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4-Point Star 60"/>
          <p:cNvSpPr/>
          <p:nvPr/>
        </p:nvSpPr>
        <p:spPr>
          <a:xfrm>
            <a:off x="5282621" y="2358574"/>
            <a:ext cx="56364" cy="56364"/>
          </a:xfrm>
          <a:prstGeom prst="star4">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8992092" y="5516819"/>
            <a:ext cx="455854" cy="16576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9012812" y="5397675"/>
            <a:ext cx="82882" cy="15540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Isosceles Triangle 63"/>
          <p:cNvSpPr/>
          <p:nvPr/>
        </p:nvSpPr>
        <p:spPr>
          <a:xfrm>
            <a:off x="9012812" y="5325153"/>
            <a:ext cx="82882" cy="7252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9178578" y="5283711"/>
            <a:ext cx="82882" cy="269368"/>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Isosceles Triangle 65"/>
          <p:cNvSpPr/>
          <p:nvPr/>
        </p:nvSpPr>
        <p:spPr>
          <a:xfrm>
            <a:off x="9178578" y="5211189"/>
            <a:ext cx="82882" cy="7252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9323622" y="5397675"/>
            <a:ext cx="82882" cy="155405"/>
          </a:xfrm>
          <a:prstGeom prst="rect">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Isosceles Triangle 67"/>
          <p:cNvSpPr/>
          <p:nvPr/>
        </p:nvSpPr>
        <p:spPr>
          <a:xfrm>
            <a:off x="9323622" y="5325153"/>
            <a:ext cx="82882" cy="72522"/>
          </a:xfrm>
          <a:prstGeom prst="triangl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9188938" y="5584161"/>
            <a:ext cx="62162" cy="98423"/>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0" name="Connector 69"/>
          <p:cNvCxnSpPr/>
          <p:nvPr/>
        </p:nvCxnSpPr>
        <p:spPr>
          <a:xfrm>
            <a:off x="9047303" y="2512216"/>
            <a:ext cx="207670"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9238578" y="2495821"/>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a:off x="9036866" y="254433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9188479" y="2650009"/>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4" name="Connector 73"/>
          <p:cNvCxnSpPr/>
          <p:nvPr/>
        </p:nvCxnSpPr>
        <p:spPr>
          <a:xfrm>
            <a:off x="9009541" y="2564191"/>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9057319" y="2745302"/>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H="1">
            <a:off x="8911592" y="2564191"/>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8895197" y="2745302"/>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8" name="Connector 77"/>
          <p:cNvCxnSpPr/>
          <p:nvPr/>
        </p:nvCxnSpPr>
        <p:spPr>
          <a:xfrm flipH="1">
            <a:off x="8780432" y="254433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8764037" y="2650009"/>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0" name="Connector 79"/>
          <p:cNvCxnSpPr/>
          <p:nvPr/>
        </p:nvCxnSpPr>
        <p:spPr>
          <a:xfrm flipH="1">
            <a:off x="8730333" y="2512216"/>
            <a:ext cx="207670" cy="0"/>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8713939" y="2495821"/>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2" name="Connector 81"/>
          <p:cNvCxnSpPr/>
          <p:nvPr/>
        </p:nvCxnSpPr>
        <p:spPr>
          <a:xfrm flipH="1" flipV="1">
            <a:off x="8780432" y="235802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8764037" y="2341633"/>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flipH="1" flipV="1">
            <a:off x="8911592" y="2262735"/>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8895197" y="2246340"/>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flipV="1">
            <a:off x="9009541" y="2262735"/>
            <a:ext cx="64173" cy="19750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9057319" y="2246340"/>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8" name="Connector 87"/>
          <p:cNvCxnSpPr/>
          <p:nvPr/>
        </p:nvCxnSpPr>
        <p:spPr>
          <a:xfrm flipV="1">
            <a:off x="9036866" y="2358028"/>
            <a:ext cx="168008" cy="122066"/>
          </a:xfrm>
          <a:prstGeom prst="line">
            <a:avLst/>
          </a:prstGeom>
          <a:ln w="20320">
            <a:solidFill>
              <a:srgbClr val="B39A63">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9" name="Oval 88"/>
          <p:cNvSpPr/>
          <p:nvPr/>
        </p:nvSpPr>
        <p:spPr>
          <a:xfrm>
            <a:off x="9188479" y="2341633"/>
            <a:ext cx="32789" cy="3278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8959863" y="2479426"/>
            <a:ext cx="65579" cy="65579"/>
          </a:xfrm>
          <a:prstGeom prst="ellipse">
            <a:avLst/>
          </a:prstGeom>
          <a:solidFill>
            <a:srgbClr val="B39A63">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FEEDBACK</a:t>
            </a:r>
          </a:p>
        </p:txBody>
      </p:sp>
      <p:sp>
        <p:nvSpPr>
          <p:cNvPr id="92" name="Rectangle 91"/>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利用者からのフィードバック</a:t>
            </a:r>
            <a:endParaRPr sz="2700" b="1" i="0" dirty="0">
              <a:solidFill>
                <a:srgbClr val="EEF4FF"/>
              </a:solidFill>
              <a:latin typeface="Meiryo UI" panose="020B0604030504040204" pitchFamily="50" charset="-128"/>
            </a:endParaRPr>
          </a:p>
        </p:txBody>
      </p:sp>
      <p:sp>
        <p:nvSpPr>
          <p:cNvPr id="94" name="Chevron 93"/>
          <p:cNvSpPr/>
          <p:nvPr/>
        </p:nvSpPr>
        <p:spPr>
          <a:xfrm>
            <a:off x="838047" y="1783080"/>
            <a:ext cx="5166360" cy="548640"/>
          </a:xfrm>
          <a:prstGeom prst="chevron">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838047" y="1957372"/>
            <a:ext cx="5166360" cy="200055"/>
          </a:xfrm>
          <a:prstGeom prst="rect">
            <a:avLst/>
          </a:prstGeom>
          <a:noFill/>
        </p:spPr>
        <p:txBody>
          <a:bodyPr wrap="square" lIns="0" tIns="0" rIns="0" bIns="0" anchor="ctr">
            <a:spAutoFit/>
          </a:bodyPr>
          <a:lstStyle/>
          <a:p>
            <a:pPr algn="ctr">
              <a:lnSpc>
                <a:spcPct val="100000"/>
              </a:lnSpc>
              <a:spcAft>
                <a:spcPts val="0"/>
              </a:spcAft>
            </a:pPr>
            <a:r>
              <a:rPr sz="1300" b="1" i="0" dirty="0" err="1">
                <a:solidFill>
                  <a:srgbClr val="EEF4FF"/>
                </a:solidFill>
                <a:latin typeface="Meiryo UI" panose="020B0604030504040204" pitchFamily="50" charset="-128"/>
              </a:rPr>
              <a:t>協力者A</a:t>
            </a:r>
            <a:endParaRPr sz="1300" b="1" i="0" dirty="0">
              <a:solidFill>
                <a:srgbClr val="EEF4FF"/>
              </a:solidFill>
              <a:latin typeface="Meiryo UI" panose="020B0604030504040204" pitchFamily="50" charset="-128"/>
            </a:endParaRPr>
          </a:p>
        </p:txBody>
      </p:sp>
      <p:sp>
        <p:nvSpPr>
          <p:cNvPr id="96" name="Chevron 95"/>
          <p:cNvSpPr/>
          <p:nvPr/>
        </p:nvSpPr>
        <p:spPr>
          <a:xfrm>
            <a:off x="6187287" y="1783080"/>
            <a:ext cx="5166360" cy="548640"/>
          </a:xfrm>
          <a:prstGeom prst="chevron">
            <a:avLst/>
          </a:prstGeom>
          <a:solidFill>
            <a:srgbClr val="14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6187287" y="1957372"/>
            <a:ext cx="5166360" cy="200055"/>
          </a:xfrm>
          <a:prstGeom prst="rect">
            <a:avLst/>
          </a:prstGeom>
          <a:noFill/>
        </p:spPr>
        <p:txBody>
          <a:bodyPr wrap="square" lIns="0" tIns="0" rIns="0" bIns="0" anchor="ctr">
            <a:spAutoFit/>
          </a:bodyPr>
          <a:lstStyle/>
          <a:p>
            <a:pPr algn="ctr">
              <a:lnSpc>
                <a:spcPct val="100000"/>
              </a:lnSpc>
              <a:spcAft>
                <a:spcPts val="0"/>
              </a:spcAft>
            </a:pPr>
            <a:r>
              <a:rPr sz="1300" b="1" i="0" dirty="0" err="1">
                <a:solidFill>
                  <a:srgbClr val="EEF4FF"/>
                </a:solidFill>
                <a:latin typeface="Meiryo UI" panose="020B0604030504040204" pitchFamily="50" charset="-128"/>
              </a:rPr>
              <a:t>協力者B</a:t>
            </a:r>
            <a:endParaRPr sz="1300" b="1" i="0" dirty="0">
              <a:solidFill>
                <a:srgbClr val="EEF4FF"/>
              </a:solidFill>
              <a:latin typeface="Meiryo UI" panose="020B0604030504040204" pitchFamily="50" charset="-128"/>
            </a:endParaRPr>
          </a:p>
        </p:txBody>
      </p:sp>
      <p:sp>
        <p:nvSpPr>
          <p:cNvPr id="98" name="Rounded Rectangle 97"/>
          <p:cNvSpPr/>
          <p:nvPr/>
        </p:nvSpPr>
        <p:spPr>
          <a:xfrm>
            <a:off x="838047" y="2560320"/>
            <a:ext cx="5166360" cy="196596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1112367" y="2788920"/>
            <a:ext cx="4617720" cy="680571"/>
          </a:xfrm>
          <a:prstGeom prst="rect">
            <a:avLst/>
          </a:prstGeom>
          <a:noFill/>
        </p:spPr>
        <p:txBody>
          <a:bodyPr wrap="square" lIns="0" tIns="0" rIns="0" bIns="0" anchor="t">
            <a:spAutoFit/>
          </a:bodyPr>
          <a:lstStyle/>
          <a:p>
            <a:pPr algn="l">
              <a:lnSpc>
                <a:spcPct val="150000"/>
              </a:lnSpc>
              <a:spcAft>
                <a:spcPts val="0"/>
              </a:spcAft>
            </a:pPr>
            <a:endParaRPr sz="1400" b="0" i="0" dirty="0">
              <a:solidFill>
                <a:srgbClr val="C3D2EA"/>
              </a:solidFill>
              <a:latin typeface="Meiryo UI" panose="020B0604030504040204" pitchFamily="50" charset="-128"/>
            </a:endParaRPr>
          </a:p>
          <a:p>
            <a:pPr algn="l">
              <a:lnSpc>
                <a:spcPct val="150000"/>
              </a:lnSpc>
              <a:spcAft>
                <a:spcPts val="0"/>
              </a:spcAft>
            </a:pPr>
            <a:r>
              <a:rPr lang="ja-JP" altLang="en-US" dirty="0">
                <a:solidFill>
                  <a:schemeClr val="bg1"/>
                </a:solidFill>
                <a:latin typeface="Meiryo UI" panose="020B0604030504040204" pitchFamily="50" charset="-128"/>
                <a:ea typeface="Meiryo UI" panose="020B0604030504040204" pitchFamily="50" charset="-128"/>
              </a:rPr>
              <a:t>簡潔にまとめられていてとても見やすい</a:t>
            </a:r>
            <a:endParaRPr b="0" i="0" dirty="0">
              <a:solidFill>
                <a:schemeClr val="bg1"/>
              </a:solidFill>
              <a:latin typeface="Meiryo UI" panose="020B0604030504040204" pitchFamily="50" charset="-128"/>
              <a:ea typeface="Meiryo UI" panose="020B0604030504040204" pitchFamily="50" charset="-128"/>
            </a:endParaRPr>
          </a:p>
        </p:txBody>
      </p:sp>
      <p:sp>
        <p:nvSpPr>
          <p:cNvPr id="100" name="Rounded Rectangle 99"/>
          <p:cNvSpPr/>
          <p:nvPr/>
        </p:nvSpPr>
        <p:spPr>
          <a:xfrm>
            <a:off x="6187287" y="2560320"/>
            <a:ext cx="5166360" cy="196596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6461607" y="2788920"/>
            <a:ext cx="4617720" cy="1154162"/>
          </a:xfrm>
          <a:prstGeom prst="rect">
            <a:avLst/>
          </a:prstGeom>
          <a:noFill/>
        </p:spPr>
        <p:txBody>
          <a:bodyPr wrap="square" lIns="0" tIns="0" rIns="0" bIns="0" anchor="t">
            <a:spAutoFit/>
          </a:bodyPr>
          <a:lstStyle/>
          <a:p>
            <a:pPr algn="l">
              <a:lnSpc>
                <a:spcPct val="150000"/>
              </a:lnSpc>
              <a:spcAft>
                <a:spcPts val="0"/>
              </a:spcAft>
            </a:pPr>
            <a:endParaRPr sz="1400" b="0" i="0" dirty="0">
              <a:solidFill>
                <a:srgbClr val="C3D2EA"/>
              </a:solidFill>
              <a:latin typeface="Meiryo UI" panose="020B0604030504040204" pitchFamily="50" charset="-128"/>
            </a:endParaRPr>
          </a:p>
          <a:p>
            <a:r>
              <a:rPr lang="ja-JP" altLang="ja-JP" dirty="0">
                <a:solidFill>
                  <a:schemeClr val="bg1"/>
                </a:solidFill>
                <a:latin typeface="Meiryo UI" panose="020B0604030504040204" pitchFamily="50" charset="-128"/>
                <a:ea typeface="Meiryo UI" panose="020B0604030504040204" pitchFamily="50" charset="-128"/>
              </a:rPr>
              <a:t>キングダムハーツはストーリーが長く複雑だが、このサイトならこれから見る人も見たことがある人も整理しやすい</a:t>
            </a:r>
            <a:endParaRPr b="0" i="0" dirty="0">
              <a:solidFill>
                <a:schemeClr val="bg1"/>
              </a:solidFill>
              <a:latin typeface="Meiryo UI" panose="020B0604030504040204" pitchFamily="50" charset="-128"/>
              <a:ea typeface="Meiryo UI" panose="020B0604030504040204" pitchFamily="50" charset="-128"/>
            </a:endParaRPr>
          </a:p>
        </p:txBody>
      </p:sp>
      <p:sp>
        <p:nvSpPr>
          <p:cNvPr id="105" name="TextBox 104"/>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06" name="TextBox 105"/>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13 / 14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3060D"/>
        </a:solidFill>
        <a:effectLst/>
      </p:bgPr>
    </p:bg>
    <p:spTree>
      <p:nvGrpSpPr>
        <p:cNvPr id="1" name=""/>
        <p:cNvGrpSpPr/>
        <p:nvPr/>
      </p:nvGrpSpPr>
      <p:grpSpPr>
        <a:xfrm>
          <a:off x="0" y="0"/>
          <a:ext cx="0" cy="0"/>
          <a:chOff x="0" y="0"/>
          <a:chExt cx="0" cy="0"/>
        </a:xfrm>
      </p:grpSpPr>
      <p:sp>
        <p:nvSpPr>
          <p:cNvPr id="2" name="Oval 1"/>
          <p:cNvSpPr/>
          <p:nvPr/>
        </p:nvSpPr>
        <p:spPr>
          <a:xfrm>
            <a:off x="5296211" y="3833425"/>
            <a:ext cx="8229600" cy="8229600"/>
          </a:xfrm>
          <a:prstGeom prst="ellipse">
            <a:avLst/>
          </a:prstGeom>
          <a:solidFill>
            <a:srgbClr val="143A6B">
              <a:alpha val="16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46120" y="-3063240"/>
            <a:ext cx="5029200" cy="5029200"/>
          </a:xfrm>
          <a:prstGeom prst="ellipse">
            <a:avLst/>
          </a:prstGeom>
          <a:solidFill>
            <a:srgbClr val="143A6B">
              <a:alpha val="12000"/>
            </a:srgbClr>
          </a:solidFill>
          <a:ln>
            <a:noFill/>
          </a:ln>
          <a:effectLst>
            <a:softEdge rad="1016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601200" y="-2286000"/>
            <a:ext cx="3840480" cy="3840480"/>
          </a:xfrm>
          <a:prstGeom prst="ellipse">
            <a:avLst/>
          </a:prstGeom>
          <a:solidFill>
            <a:srgbClr val="B39A63">
              <a:alpha val="9000"/>
            </a:srgbClr>
          </a:solidFill>
          <a:ln>
            <a:noFill/>
          </a:ln>
          <a:effectLst>
            <a:softEdge rad="889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319272" y="-10579608"/>
            <a:ext cx="12746735" cy="12746735"/>
          </a:xfrm>
          <a:prstGeom prst="ellipse">
            <a:avLst/>
          </a:prstGeom>
          <a:solidFill>
            <a:srgbClr val="E6D5A3">
              <a:alpha val="15000"/>
            </a:srgbClr>
          </a:solidFill>
          <a:ln>
            <a:noFill/>
          </a:ln>
          <a:effectLst>
            <a:softEdge rad="114300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474720" y="-10424160"/>
            <a:ext cx="12435840" cy="12435840"/>
          </a:xfrm>
          <a:prstGeom prst="ellipse">
            <a:avLst/>
          </a:prstGeom>
          <a:noFill/>
          <a:ln w="330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215737" y="-8683142"/>
            <a:ext cx="8953804" cy="8953804"/>
          </a:xfrm>
          <a:prstGeom prst="ellipse">
            <a:avLst/>
          </a:prstGeom>
          <a:noFill/>
          <a:ln w="2540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832396" y="-7066483"/>
            <a:ext cx="5720486" cy="5720486"/>
          </a:xfrm>
          <a:prstGeom prst="ellipse">
            <a:avLst/>
          </a:prstGeom>
          <a:noFill/>
          <a:ln w="20320">
            <a:solidFill>
              <a:srgbClr val="E6D5A3">
                <a:alpha val="40000"/>
              </a:srgbClr>
            </a:solid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2335160"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14906034"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10787207"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174282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flipH="1">
            <a:off x="7455914" y="-1563719"/>
            <a:ext cx="1142158" cy="2757411"/>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7269377" y="1007154"/>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4292707" y="-3111672"/>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6" name="Diamond 15"/>
          <p:cNvSpPr/>
          <p:nvPr/>
        </p:nvSpPr>
        <p:spPr>
          <a:xfrm>
            <a:off x="4106169" y="-215605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flipV="1">
            <a:off x="4292707"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4106169"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H="1" flipV="1">
            <a:off x="7455914"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0" name="Diamond 19"/>
          <p:cNvSpPr/>
          <p:nvPr/>
        </p:nvSpPr>
        <p:spPr>
          <a:xfrm>
            <a:off x="726937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10787207" y="-9606172"/>
            <a:ext cx="1142158" cy="2757412"/>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11742827" y="-9792710"/>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12335160" y="-6442965"/>
            <a:ext cx="2757412" cy="1142158"/>
          </a:xfrm>
          <a:prstGeom prst="line">
            <a:avLst/>
          </a:prstGeom>
          <a:ln w="20320">
            <a:solidFill>
              <a:srgbClr val="9AD5FF">
                <a:alpha val="40000"/>
              </a:srgbClr>
            </a:solidFill>
          </a:ln>
          <a:effectLst>
            <a:softEdge rad="15240"/>
          </a:effectLst>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4906034" y="-6629502"/>
            <a:ext cx="373075" cy="373075"/>
          </a:xfrm>
          <a:prstGeom prst="diamond">
            <a:avLst/>
          </a:prstGeom>
          <a:solidFill>
            <a:srgbClr val="9AD5FF">
              <a:alpha val="40000"/>
            </a:srgbClr>
          </a:solidFill>
          <a:ln>
            <a:noFill/>
          </a:ln>
          <a:effectLst>
            <a:softEdge rad="15240"/>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01168"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1168"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1487607" y="201168"/>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990527" y="201168"/>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1168"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01168"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1487607" y="6656832"/>
            <a:ext cx="502920" cy="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1990527" y="6153912"/>
            <a:ext cx="0" cy="502920"/>
          </a:xfrm>
          <a:prstGeom prst="line">
            <a:avLst/>
          </a:prstGeom>
          <a:ln w="20320">
            <a:solidFill>
              <a:srgbClr val="9AD5FF">
                <a:alpha val="34000"/>
              </a:srgbClr>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887206" y="1513199"/>
            <a:ext cx="107503" cy="10750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iamond 33"/>
          <p:cNvSpPr/>
          <p:nvPr/>
        </p:nvSpPr>
        <p:spPr>
          <a:xfrm>
            <a:off x="5625734" y="4384779"/>
            <a:ext cx="59451" cy="5945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3649481" y="4562154"/>
            <a:ext cx="59313" cy="59313"/>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1235629" y="1504206"/>
            <a:ext cx="51407" cy="5140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512409" y="3209791"/>
            <a:ext cx="66588" cy="6658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Diamond 37"/>
          <p:cNvSpPr/>
          <p:nvPr/>
        </p:nvSpPr>
        <p:spPr>
          <a:xfrm>
            <a:off x="4925983" y="1595987"/>
            <a:ext cx="73253" cy="73253"/>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1683108" y="5364531"/>
            <a:ext cx="89254" cy="89254"/>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220800" y="2737812"/>
            <a:ext cx="69996" cy="69996"/>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933287" y="4418257"/>
            <a:ext cx="46137" cy="4613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377493" y="2436825"/>
            <a:ext cx="47119" cy="4711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iamond 42"/>
          <p:cNvSpPr/>
          <p:nvPr/>
        </p:nvSpPr>
        <p:spPr>
          <a:xfrm>
            <a:off x="561689" y="3777889"/>
            <a:ext cx="55536" cy="55536"/>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458078" y="722788"/>
            <a:ext cx="55369" cy="55369"/>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8515024" y="2542631"/>
            <a:ext cx="87478" cy="87478"/>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5972189" y="5686229"/>
            <a:ext cx="65645" cy="65645"/>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iamond 46"/>
          <p:cNvSpPr/>
          <p:nvPr/>
        </p:nvSpPr>
        <p:spPr>
          <a:xfrm>
            <a:off x="8103478" y="4507222"/>
            <a:ext cx="46100" cy="46100"/>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11177" y="2438364"/>
            <a:ext cx="106277" cy="106277"/>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735402" y="1048307"/>
            <a:ext cx="90892" cy="90892"/>
          </a:xfrm>
          <a:prstGeom prst="ellipse">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Diamond 49"/>
          <p:cNvSpPr/>
          <p:nvPr/>
        </p:nvSpPr>
        <p:spPr>
          <a:xfrm>
            <a:off x="9411011" y="5173646"/>
            <a:ext cx="54701" cy="54701"/>
          </a:xfrm>
          <a:prstGeom prst="diamond">
            <a:avLst/>
          </a:prstGeom>
          <a:solidFill>
            <a:srgbClr val="2A6BB5">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226050" y="4589618"/>
            <a:ext cx="334172" cy="12151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241240"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a:off x="1241240"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1362757" y="4418735"/>
            <a:ext cx="60758" cy="197465"/>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Isosceles Triangle 54"/>
          <p:cNvSpPr/>
          <p:nvPr/>
        </p:nvSpPr>
        <p:spPr>
          <a:xfrm>
            <a:off x="1362757" y="4365571"/>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469084" y="4502278"/>
            <a:ext cx="60758" cy="113922"/>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sosceles Triangle 56"/>
          <p:cNvSpPr/>
          <p:nvPr/>
        </p:nvSpPr>
        <p:spPr>
          <a:xfrm>
            <a:off x="1469084" y="4449114"/>
            <a:ext cx="60758" cy="53163"/>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1370352" y="4638984"/>
            <a:ext cx="45568" cy="72150"/>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0437299" y="6401557"/>
            <a:ext cx="554389" cy="2015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10462498"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sosceles Triangle 60"/>
          <p:cNvSpPr/>
          <p:nvPr/>
        </p:nvSpPr>
        <p:spPr>
          <a:xfrm>
            <a:off x="10462498"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0664094" y="6118062"/>
            <a:ext cx="100798" cy="327593"/>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Isosceles Triangle 62"/>
          <p:cNvSpPr/>
          <p:nvPr/>
        </p:nvSpPr>
        <p:spPr>
          <a:xfrm>
            <a:off x="10664094" y="6029864"/>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0840491" y="6256660"/>
            <a:ext cx="100798" cy="18899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Isosceles Triangle 64"/>
          <p:cNvSpPr/>
          <p:nvPr/>
        </p:nvSpPr>
        <p:spPr>
          <a:xfrm>
            <a:off x="10840491" y="6168461"/>
            <a:ext cx="100798" cy="88198"/>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ounded Rectangle 65"/>
          <p:cNvSpPr/>
          <p:nvPr/>
        </p:nvSpPr>
        <p:spPr>
          <a:xfrm>
            <a:off x="10676694" y="6483455"/>
            <a:ext cx="75598" cy="119697"/>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5-Point Star 66"/>
          <p:cNvSpPr/>
          <p:nvPr/>
        </p:nvSpPr>
        <p:spPr>
          <a:xfrm>
            <a:off x="3938405" y="2904924"/>
            <a:ext cx="591403" cy="591403"/>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8" name="Connector 67"/>
          <p:cNvCxnSpPr/>
          <p:nvPr/>
        </p:nvCxnSpPr>
        <p:spPr>
          <a:xfrm>
            <a:off x="2463218" y="2345972"/>
            <a:ext cx="141143"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593218"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0" name="Connector 69"/>
          <p:cNvCxnSpPr/>
          <p:nvPr/>
        </p:nvCxnSpPr>
        <p:spPr>
          <a:xfrm>
            <a:off x="2456124"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2559168"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a:off x="2437552"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470025"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4" name="Connector 73"/>
          <p:cNvCxnSpPr/>
          <p:nvPr/>
        </p:nvCxnSpPr>
        <p:spPr>
          <a:xfrm flipH="1">
            <a:off x="2370981" y="2381297"/>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2359838" y="250438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H="1">
            <a:off x="2281838" y="2367804"/>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270695" y="2439623"/>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8" name="Connector 77"/>
          <p:cNvCxnSpPr/>
          <p:nvPr/>
        </p:nvCxnSpPr>
        <p:spPr>
          <a:xfrm flipH="1">
            <a:off x="2247788" y="2345972"/>
            <a:ext cx="141144"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2236645" y="2334829"/>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0" name="Connector 79"/>
          <p:cNvCxnSpPr/>
          <p:nvPr/>
        </p:nvCxnSpPr>
        <p:spPr>
          <a:xfrm flipH="1" flipV="1">
            <a:off x="2281838"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2270695"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2" name="Connector 81"/>
          <p:cNvCxnSpPr/>
          <p:nvPr/>
        </p:nvCxnSpPr>
        <p:spPr>
          <a:xfrm flipH="1" flipV="1">
            <a:off x="2370981"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2359838"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flipV="1">
            <a:off x="2437552" y="2176411"/>
            <a:ext cx="43616" cy="13423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2470025" y="2165268"/>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flipV="1">
            <a:off x="2456124" y="2241177"/>
            <a:ext cx="114187" cy="82962"/>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2559168" y="2230034"/>
            <a:ext cx="22285" cy="22285"/>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403789" y="2323686"/>
            <a:ext cx="44571" cy="4457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9" name="Connector 88"/>
          <p:cNvCxnSpPr/>
          <p:nvPr/>
        </p:nvCxnSpPr>
        <p:spPr>
          <a:xfrm>
            <a:off x="2657579"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2817300"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1" name="Connector 90"/>
          <p:cNvCxnSpPr/>
          <p:nvPr/>
        </p:nvCxnSpPr>
        <p:spPr>
          <a:xfrm>
            <a:off x="2648863"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2775466"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 name="Connector 92"/>
          <p:cNvCxnSpPr/>
          <p:nvPr/>
        </p:nvCxnSpPr>
        <p:spPr>
          <a:xfrm>
            <a:off x="2626046"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2665943"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5" name="Connector 94"/>
          <p:cNvCxnSpPr/>
          <p:nvPr/>
        </p:nvCxnSpPr>
        <p:spPr>
          <a:xfrm flipH="1">
            <a:off x="2544255" y="4174632"/>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6" name="Oval 95"/>
          <p:cNvSpPr/>
          <p:nvPr/>
        </p:nvSpPr>
        <p:spPr>
          <a:xfrm>
            <a:off x="2530564" y="4325866"/>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7" name="Connector 96"/>
          <p:cNvCxnSpPr/>
          <p:nvPr/>
        </p:nvCxnSpPr>
        <p:spPr>
          <a:xfrm flipH="1">
            <a:off x="2434732" y="4158054"/>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98" name="Oval 97"/>
          <p:cNvSpPr/>
          <p:nvPr/>
        </p:nvSpPr>
        <p:spPr>
          <a:xfrm>
            <a:off x="2421041" y="4246293"/>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9" name="Connector 98"/>
          <p:cNvCxnSpPr/>
          <p:nvPr/>
        </p:nvCxnSpPr>
        <p:spPr>
          <a:xfrm flipH="1">
            <a:off x="2392897" y="4131231"/>
            <a:ext cx="173412" cy="0"/>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2379207" y="4117541"/>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1" name="Connector 100"/>
          <p:cNvCxnSpPr/>
          <p:nvPr/>
        </p:nvCxnSpPr>
        <p:spPr>
          <a:xfrm flipH="1" flipV="1">
            <a:off x="2434732"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2421041"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3" name="Connector 102"/>
          <p:cNvCxnSpPr/>
          <p:nvPr/>
        </p:nvCxnSpPr>
        <p:spPr>
          <a:xfrm flipH="1" flipV="1">
            <a:off x="2544255"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4" name="Oval 103"/>
          <p:cNvSpPr/>
          <p:nvPr/>
        </p:nvSpPr>
        <p:spPr>
          <a:xfrm>
            <a:off x="2530564"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5" name="Connector 104"/>
          <p:cNvCxnSpPr/>
          <p:nvPr/>
        </p:nvCxnSpPr>
        <p:spPr>
          <a:xfrm flipV="1">
            <a:off x="2626046" y="3922905"/>
            <a:ext cx="53587" cy="164925"/>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2665943" y="3909215"/>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 name="Connector 106"/>
          <p:cNvCxnSpPr/>
          <p:nvPr/>
        </p:nvCxnSpPr>
        <p:spPr>
          <a:xfrm flipV="1">
            <a:off x="2648863" y="4002479"/>
            <a:ext cx="140293" cy="101929"/>
          </a:xfrm>
          <a:prstGeom prst="line">
            <a:avLst/>
          </a:prstGeom>
          <a:ln w="20320">
            <a:solidFill>
              <a:srgbClr val="2A6BB5">
                <a:alpha val="24000"/>
              </a:srgbClr>
            </a:solidFill>
          </a:ln>
          <a:effectLst/>
        </p:spPr>
        <p:style>
          <a:lnRef idx="2">
            <a:schemeClr val="accent1"/>
          </a:lnRef>
          <a:fillRef idx="0">
            <a:schemeClr val="accent1"/>
          </a:fillRef>
          <a:effectRef idx="1">
            <a:schemeClr val="accent1"/>
          </a:effectRef>
          <a:fontRef idx="minor">
            <a:schemeClr val="tx1"/>
          </a:fontRef>
        </p:style>
      </p:cxnSp>
      <p:sp>
        <p:nvSpPr>
          <p:cNvPr id="108" name="Oval 107"/>
          <p:cNvSpPr/>
          <p:nvPr/>
        </p:nvSpPr>
        <p:spPr>
          <a:xfrm>
            <a:off x="2775466" y="3988788"/>
            <a:ext cx="27380" cy="27380"/>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84563" y="4103850"/>
            <a:ext cx="54761" cy="54761"/>
          </a:xfrm>
          <a:prstGeom prst="ellips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ectangle 109"/>
          <p:cNvSpPr/>
          <p:nvPr/>
        </p:nvSpPr>
        <p:spPr>
          <a:xfrm>
            <a:off x="11091878" y="4653985"/>
            <a:ext cx="463368" cy="168497"/>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11112940"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Isosceles Triangle 111"/>
          <p:cNvSpPr/>
          <p:nvPr/>
        </p:nvSpPr>
        <p:spPr>
          <a:xfrm>
            <a:off x="11112940"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112"/>
          <p:cNvSpPr/>
          <p:nvPr/>
        </p:nvSpPr>
        <p:spPr>
          <a:xfrm>
            <a:off x="11281438" y="4417035"/>
            <a:ext cx="84248" cy="273808"/>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Isosceles Triangle 113"/>
          <p:cNvSpPr/>
          <p:nvPr/>
        </p:nvSpPr>
        <p:spPr>
          <a:xfrm>
            <a:off x="11281438" y="4343317"/>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Rectangle 114"/>
          <p:cNvSpPr/>
          <p:nvPr/>
        </p:nvSpPr>
        <p:spPr>
          <a:xfrm>
            <a:off x="11428873" y="4532877"/>
            <a:ext cx="84248" cy="157966"/>
          </a:xfrm>
          <a:prstGeom prst="rect">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Isosceles Triangle 115"/>
          <p:cNvSpPr/>
          <p:nvPr/>
        </p:nvSpPr>
        <p:spPr>
          <a:xfrm>
            <a:off x="11428873" y="4459159"/>
            <a:ext cx="84248" cy="73717"/>
          </a:xfrm>
          <a:prstGeom prst="triangle">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16"/>
          <p:cNvSpPr/>
          <p:nvPr/>
        </p:nvSpPr>
        <p:spPr>
          <a:xfrm>
            <a:off x="11291969" y="4722437"/>
            <a:ext cx="63186" cy="100045"/>
          </a:xfrm>
          <a:prstGeom prst="roundRect">
            <a:avLst>
              <a:gd name="adj" fmla="val 6000"/>
            </a:avLst>
          </a:prstGeom>
          <a:solidFill>
            <a:srgbClr val="03060D">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5-Point Star 117"/>
          <p:cNvSpPr/>
          <p:nvPr/>
        </p:nvSpPr>
        <p:spPr>
          <a:xfrm>
            <a:off x="10776440" y="4979449"/>
            <a:ext cx="621177" cy="621177"/>
          </a:xfrm>
          <a:prstGeom prst="star5">
            <a:avLst/>
          </a:prstGeom>
          <a:solidFill>
            <a:srgbClr val="2A6BB5">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822960" y="502920"/>
            <a:ext cx="8229600" cy="365760"/>
          </a:xfrm>
          <a:prstGeom prst="rect">
            <a:avLst/>
          </a:prstGeom>
          <a:noFill/>
        </p:spPr>
        <p:txBody>
          <a:bodyPr wrap="square" lIns="0" tIns="0" rIns="0" bIns="0" anchor="t">
            <a:spAutoFit/>
          </a:bodyPr>
          <a:lstStyle/>
          <a:p>
            <a:pPr algn="l">
              <a:lnSpc>
                <a:spcPct val="100000"/>
              </a:lnSpc>
              <a:spcAft>
                <a:spcPts val="0"/>
              </a:spcAft>
            </a:pPr>
            <a:r>
              <a:rPr sz="1200" b="0" i="0" spc="300">
                <a:solidFill>
                  <a:srgbClr val="4DA6FF"/>
                </a:solidFill>
                <a:latin typeface="Georgia"/>
              </a:rPr>
              <a:t>FUTURE</a:t>
            </a:r>
          </a:p>
        </p:txBody>
      </p:sp>
      <p:sp>
        <p:nvSpPr>
          <p:cNvPr id="120" name="Rectangle 119"/>
          <p:cNvSpPr/>
          <p:nvPr/>
        </p:nvSpPr>
        <p:spPr>
          <a:xfrm>
            <a:off x="822960" y="914400"/>
            <a:ext cx="41148" cy="502920"/>
          </a:xfrm>
          <a:prstGeom prst="rect">
            <a:avLst/>
          </a:prstGeom>
          <a:solidFill>
            <a:srgbClr val="E6D5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960120" y="868680"/>
            <a:ext cx="9601200" cy="415498"/>
          </a:xfrm>
          <a:prstGeom prst="rect">
            <a:avLst/>
          </a:prstGeom>
          <a:noFill/>
        </p:spPr>
        <p:txBody>
          <a:bodyPr wrap="square" lIns="0" tIns="0" rIns="0" bIns="0" anchor="t">
            <a:spAutoFit/>
          </a:bodyPr>
          <a:lstStyle/>
          <a:p>
            <a:pPr algn="l">
              <a:lnSpc>
                <a:spcPct val="100000"/>
              </a:lnSpc>
              <a:spcAft>
                <a:spcPts val="0"/>
              </a:spcAft>
            </a:pPr>
            <a:r>
              <a:rPr sz="2700" b="1" i="0" dirty="0" err="1">
                <a:solidFill>
                  <a:srgbClr val="EEF4FF"/>
                </a:solidFill>
                <a:latin typeface="Meiryo UI" panose="020B0604030504040204" pitchFamily="50" charset="-128"/>
              </a:rPr>
              <a:t>今後の展望</a:t>
            </a:r>
            <a:endParaRPr sz="2700" b="1" i="0" dirty="0">
              <a:solidFill>
                <a:srgbClr val="EEF4FF"/>
              </a:solidFill>
              <a:latin typeface="Meiryo UI" panose="020B0604030504040204" pitchFamily="50" charset="-128"/>
            </a:endParaRPr>
          </a:p>
        </p:txBody>
      </p:sp>
      <p:sp>
        <p:nvSpPr>
          <p:cNvPr id="122" name="Rounded Rectangle 121"/>
          <p:cNvSpPr/>
          <p:nvPr/>
        </p:nvSpPr>
        <p:spPr>
          <a:xfrm>
            <a:off x="822960" y="1783080"/>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1097280" y="2057400"/>
            <a:ext cx="685800" cy="685800"/>
          </a:xfrm>
          <a:prstGeom prst="ellipse">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Heart 123"/>
          <p:cNvSpPr/>
          <p:nvPr/>
        </p:nvSpPr>
        <p:spPr>
          <a:xfrm>
            <a:off x="1243584" y="2203704"/>
            <a:ext cx="393192" cy="393192"/>
          </a:xfrm>
          <a:prstGeom prst="heart">
            <a:avLst/>
          </a:prstGeom>
          <a:noFill/>
          <a:ln w="2032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1408724" y="2321661"/>
            <a:ext cx="62910" cy="62910"/>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Isosceles Triangle 125"/>
          <p:cNvSpPr/>
          <p:nvPr/>
        </p:nvSpPr>
        <p:spPr>
          <a:xfrm>
            <a:off x="1408724" y="2356262"/>
            <a:ext cx="62910" cy="86502"/>
          </a:xfrm>
          <a:prstGeom prst="triangl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2057400" y="1965960"/>
            <a:ext cx="8869680" cy="246221"/>
          </a:xfrm>
          <a:prstGeom prst="rect">
            <a:avLst/>
          </a:prstGeom>
          <a:noFill/>
        </p:spPr>
        <p:txBody>
          <a:bodyPr wrap="square" lIns="0" tIns="0" rIns="0" bIns="0" anchor="t">
            <a:spAutoFit/>
          </a:bodyPr>
          <a:lstStyle/>
          <a:p>
            <a:pPr algn="l">
              <a:lnSpc>
                <a:spcPct val="100000"/>
              </a:lnSpc>
              <a:spcAft>
                <a:spcPts val="0"/>
              </a:spcAft>
            </a:pPr>
            <a:r>
              <a:rPr sz="1600" b="1" i="0" dirty="0" err="1">
                <a:solidFill>
                  <a:srgbClr val="EEF4FF"/>
                </a:solidFill>
                <a:latin typeface="Meiryo UI" panose="020B0604030504040204" pitchFamily="50" charset="-128"/>
              </a:rPr>
              <a:t>コンテンツの拡充</a:t>
            </a:r>
            <a:endParaRPr sz="1600" b="1" i="0" dirty="0">
              <a:solidFill>
                <a:srgbClr val="EEF4FF"/>
              </a:solidFill>
              <a:latin typeface="Meiryo UI" panose="020B0604030504040204" pitchFamily="50" charset="-128"/>
            </a:endParaRPr>
          </a:p>
        </p:txBody>
      </p:sp>
      <p:sp>
        <p:nvSpPr>
          <p:cNvPr id="128" name="TextBox 127"/>
          <p:cNvSpPr txBox="1"/>
          <p:nvPr/>
        </p:nvSpPr>
        <p:spPr>
          <a:xfrm>
            <a:off x="2057400" y="2350008"/>
            <a:ext cx="8869680" cy="215444"/>
          </a:xfrm>
          <a:prstGeom prst="rect">
            <a:avLst/>
          </a:prstGeom>
          <a:noFill/>
        </p:spPr>
        <p:txBody>
          <a:bodyPr wrap="square" lIns="0" tIns="0" rIns="0" bIns="0" anchor="t">
            <a:spAutoFit/>
          </a:bodyPr>
          <a:lstStyle/>
          <a:p>
            <a:pPr algn="l">
              <a:lnSpc>
                <a:spcPct val="100000"/>
              </a:lnSpc>
              <a:spcAft>
                <a:spcPts val="0"/>
              </a:spcAft>
            </a:pPr>
            <a:r>
              <a:rPr sz="1400" b="0" i="0" dirty="0" err="1">
                <a:solidFill>
                  <a:srgbClr val="C3D2EA"/>
                </a:solidFill>
                <a:latin typeface="Meiryo UI" panose="020B0604030504040204" pitchFamily="50" charset="-128"/>
              </a:rPr>
              <a:t>著作権に配慮しながら、実写ビジュアルやBGM音源をさらに充実させる</a:t>
            </a:r>
          </a:p>
        </p:txBody>
      </p:sp>
      <p:sp>
        <p:nvSpPr>
          <p:cNvPr id="129" name="Rounded Rectangle 128"/>
          <p:cNvSpPr/>
          <p:nvPr/>
        </p:nvSpPr>
        <p:spPr>
          <a:xfrm>
            <a:off x="822960" y="3246120"/>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097280" y="3520440"/>
            <a:ext cx="685800" cy="685800"/>
          </a:xfrm>
          <a:prstGeom prst="ellipse">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Rounded Rectangle 130"/>
          <p:cNvSpPr/>
          <p:nvPr/>
        </p:nvSpPr>
        <p:spPr>
          <a:xfrm>
            <a:off x="1243584" y="3666744"/>
            <a:ext cx="393192" cy="393192"/>
          </a:xfrm>
          <a:prstGeom prst="roundRect">
            <a:avLst>
              <a:gd name="adj" fmla="val 8000"/>
            </a:avLst>
          </a:prstGeom>
          <a:noFill/>
          <a:ln w="2032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Rounded Rectangle 131"/>
          <p:cNvSpPr/>
          <p:nvPr/>
        </p:nvSpPr>
        <p:spPr>
          <a:xfrm rot="2700000">
            <a:off x="1243584" y="3666744"/>
            <a:ext cx="393192" cy="393192"/>
          </a:xfrm>
          <a:prstGeom prst="roundRect">
            <a:avLst>
              <a:gd name="adj" fmla="val 8000"/>
            </a:avLst>
          </a:prstGeom>
          <a:noFill/>
          <a:ln w="2032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1416588" y="3839748"/>
            <a:ext cx="47183" cy="47183"/>
          </a:xfrm>
          <a:prstGeom prst="ellipse">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2057400" y="3429000"/>
            <a:ext cx="8869680" cy="246221"/>
          </a:xfrm>
          <a:prstGeom prst="rect">
            <a:avLst/>
          </a:prstGeom>
          <a:noFill/>
        </p:spPr>
        <p:txBody>
          <a:bodyPr wrap="square" lIns="0" tIns="0" rIns="0" bIns="0" anchor="t">
            <a:spAutoFit/>
          </a:bodyPr>
          <a:lstStyle/>
          <a:p>
            <a:pPr algn="l">
              <a:lnSpc>
                <a:spcPct val="100000"/>
              </a:lnSpc>
              <a:spcAft>
                <a:spcPts val="0"/>
              </a:spcAft>
            </a:pPr>
            <a:r>
              <a:rPr sz="1600" b="1" i="0" dirty="0" err="1">
                <a:solidFill>
                  <a:srgbClr val="EEF4FF"/>
                </a:solidFill>
                <a:latin typeface="Meiryo UI" panose="020B0604030504040204" pitchFamily="50" charset="-128"/>
              </a:rPr>
              <a:t>他コンテンツへの応用</a:t>
            </a:r>
            <a:endParaRPr sz="1600" b="1" i="0" dirty="0">
              <a:solidFill>
                <a:srgbClr val="EEF4FF"/>
              </a:solidFill>
              <a:latin typeface="Meiryo UI" panose="020B0604030504040204" pitchFamily="50" charset="-128"/>
            </a:endParaRPr>
          </a:p>
        </p:txBody>
      </p:sp>
      <p:sp>
        <p:nvSpPr>
          <p:cNvPr id="135" name="TextBox 134"/>
          <p:cNvSpPr txBox="1"/>
          <p:nvPr/>
        </p:nvSpPr>
        <p:spPr>
          <a:xfrm>
            <a:off x="2057400" y="3813048"/>
            <a:ext cx="8869680" cy="215444"/>
          </a:xfrm>
          <a:prstGeom prst="rect">
            <a:avLst/>
          </a:prstGeom>
          <a:noFill/>
        </p:spPr>
        <p:txBody>
          <a:bodyPr wrap="square" lIns="0" tIns="0" rIns="0" bIns="0" anchor="t">
            <a:spAutoFit/>
          </a:bodyPr>
          <a:lstStyle/>
          <a:p>
            <a:pPr algn="l">
              <a:lnSpc>
                <a:spcPct val="100000"/>
              </a:lnSpc>
              <a:spcAft>
                <a:spcPts val="0"/>
              </a:spcAft>
            </a:pPr>
            <a:r>
              <a:rPr sz="1400" b="0" i="0" dirty="0">
                <a:solidFill>
                  <a:srgbClr val="C3D2EA"/>
                </a:solidFill>
                <a:latin typeface="Meiryo UI" panose="020B0604030504040204" pitchFamily="50" charset="-128"/>
              </a:rPr>
              <a:t>「記憶を集めながら世界観を辿る」構成を、他作品にも展開できるモデルケースとして提示</a:t>
            </a:r>
          </a:p>
        </p:txBody>
      </p:sp>
      <p:sp>
        <p:nvSpPr>
          <p:cNvPr id="136" name="Rounded Rectangle 135"/>
          <p:cNvSpPr/>
          <p:nvPr/>
        </p:nvSpPr>
        <p:spPr>
          <a:xfrm>
            <a:off x="822960" y="4709160"/>
            <a:ext cx="10515600" cy="1234440"/>
          </a:xfrm>
          <a:prstGeom prst="roundRect">
            <a:avLst>
              <a:gd name="adj" fmla="val 5000"/>
            </a:avLst>
          </a:prstGeom>
          <a:solidFill>
            <a:srgbClr val="0D1730"/>
          </a:solidFill>
          <a:ln w="9525">
            <a:solidFill>
              <a:srgbClr val="143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1097280" y="4983480"/>
            <a:ext cx="685800" cy="685800"/>
          </a:xfrm>
          <a:prstGeom prst="ellipse">
            <a:avLst/>
          </a:prstGeom>
          <a:solidFill>
            <a:srgbClr val="0A1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2" name="Group 141"/>
          <p:cNvGrpSpPr/>
          <p:nvPr/>
        </p:nvGrpSpPr>
        <p:grpSpPr>
          <a:xfrm rot="19200000">
            <a:off x="1381201" y="5129784"/>
            <a:ext cx="145481" cy="326349"/>
            <a:chOff x="1381201" y="5129784"/>
            <a:chExt cx="145481" cy="326349"/>
          </a:xfrm>
        </p:grpSpPr>
        <p:sp>
          <p:nvSpPr>
            <p:cNvPr id="138" name="Oval 137"/>
            <p:cNvSpPr/>
            <p:nvPr/>
          </p:nvSpPr>
          <p:spPr>
            <a:xfrm>
              <a:off x="1381201" y="5129784"/>
              <a:ext cx="117957" cy="117957"/>
            </a:xfrm>
            <a:prstGeom prst="ellipse">
              <a:avLst/>
            </a:prstGeom>
            <a:noFill/>
            <a:ln w="1778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Rectangle 138"/>
            <p:cNvSpPr/>
            <p:nvPr/>
          </p:nvSpPr>
          <p:spPr>
            <a:xfrm>
              <a:off x="1422486" y="5212354"/>
              <a:ext cx="35387" cy="243779"/>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Rectangle 139"/>
            <p:cNvSpPr/>
            <p:nvPr/>
          </p:nvSpPr>
          <p:spPr>
            <a:xfrm>
              <a:off x="1440180" y="5330311"/>
              <a:ext cx="62910"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Rectangle 140"/>
            <p:cNvSpPr/>
            <p:nvPr/>
          </p:nvSpPr>
          <p:spPr>
            <a:xfrm>
              <a:off x="1440180" y="5393222"/>
              <a:ext cx="86502"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147" name="Group 146"/>
          <p:cNvGrpSpPr/>
          <p:nvPr/>
        </p:nvGrpSpPr>
        <p:grpSpPr>
          <a:xfrm rot="2400000">
            <a:off x="1381201" y="5129784"/>
            <a:ext cx="145481" cy="326349"/>
            <a:chOff x="1381201" y="5129784"/>
            <a:chExt cx="145481" cy="326349"/>
          </a:xfrm>
        </p:grpSpPr>
        <p:sp>
          <p:nvSpPr>
            <p:cNvPr id="143" name="Oval 142"/>
            <p:cNvSpPr/>
            <p:nvPr/>
          </p:nvSpPr>
          <p:spPr>
            <a:xfrm>
              <a:off x="1381201" y="5129784"/>
              <a:ext cx="117957" cy="117957"/>
            </a:xfrm>
            <a:prstGeom prst="ellipse">
              <a:avLst/>
            </a:prstGeom>
            <a:noFill/>
            <a:ln w="17780">
              <a:solidFill>
                <a:srgbClr val="9AD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143"/>
            <p:cNvSpPr/>
            <p:nvPr/>
          </p:nvSpPr>
          <p:spPr>
            <a:xfrm>
              <a:off x="1422486" y="5212354"/>
              <a:ext cx="35387" cy="243779"/>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Rectangle 144"/>
            <p:cNvSpPr/>
            <p:nvPr/>
          </p:nvSpPr>
          <p:spPr>
            <a:xfrm>
              <a:off x="1440180" y="5330311"/>
              <a:ext cx="62910"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Rectangle 145"/>
            <p:cNvSpPr/>
            <p:nvPr/>
          </p:nvSpPr>
          <p:spPr>
            <a:xfrm>
              <a:off x="1440180" y="5393222"/>
              <a:ext cx="86502" cy="31455"/>
            </a:xfrm>
            <a:prstGeom prst="rect">
              <a:avLst/>
            </a:prstGeom>
            <a:solidFill>
              <a:srgbClr val="9AD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48" name="TextBox 147"/>
          <p:cNvSpPr txBox="1"/>
          <p:nvPr/>
        </p:nvSpPr>
        <p:spPr>
          <a:xfrm>
            <a:off x="2057400" y="4892040"/>
            <a:ext cx="8869680" cy="246221"/>
          </a:xfrm>
          <a:prstGeom prst="rect">
            <a:avLst/>
          </a:prstGeom>
          <a:noFill/>
        </p:spPr>
        <p:txBody>
          <a:bodyPr wrap="square" lIns="0" tIns="0" rIns="0" bIns="0" anchor="t">
            <a:spAutoFit/>
          </a:bodyPr>
          <a:lstStyle/>
          <a:p>
            <a:pPr algn="l">
              <a:lnSpc>
                <a:spcPct val="100000"/>
              </a:lnSpc>
              <a:spcAft>
                <a:spcPts val="0"/>
              </a:spcAft>
            </a:pPr>
            <a:r>
              <a:rPr sz="1600" b="1" i="0" dirty="0" err="1">
                <a:solidFill>
                  <a:srgbClr val="EEF4FF"/>
                </a:solidFill>
                <a:latin typeface="Meiryo UI" panose="020B0604030504040204" pitchFamily="50" charset="-128"/>
              </a:rPr>
              <a:t>継続的な公開・改善</a:t>
            </a:r>
            <a:endParaRPr sz="1600" b="1" i="0" dirty="0">
              <a:solidFill>
                <a:srgbClr val="EEF4FF"/>
              </a:solidFill>
              <a:latin typeface="Meiryo UI" panose="020B0604030504040204" pitchFamily="50" charset="-128"/>
            </a:endParaRPr>
          </a:p>
        </p:txBody>
      </p:sp>
      <p:sp>
        <p:nvSpPr>
          <p:cNvPr id="149" name="TextBox 148"/>
          <p:cNvSpPr txBox="1"/>
          <p:nvPr/>
        </p:nvSpPr>
        <p:spPr>
          <a:xfrm>
            <a:off x="2057400" y="5276088"/>
            <a:ext cx="8869680" cy="215444"/>
          </a:xfrm>
          <a:prstGeom prst="rect">
            <a:avLst/>
          </a:prstGeom>
          <a:noFill/>
        </p:spPr>
        <p:txBody>
          <a:bodyPr wrap="square" lIns="0" tIns="0" rIns="0" bIns="0" anchor="t">
            <a:spAutoFit/>
          </a:bodyPr>
          <a:lstStyle/>
          <a:p>
            <a:pPr algn="l">
              <a:lnSpc>
                <a:spcPct val="100000"/>
              </a:lnSpc>
              <a:spcAft>
                <a:spcPts val="0"/>
              </a:spcAft>
            </a:pPr>
            <a:r>
              <a:rPr sz="1400" b="0" i="0" dirty="0" err="1">
                <a:solidFill>
                  <a:srgbClr val="C3D2EA"/>
                </a:solidFill>
                <a:latin typeface="Meiryo UI" panose="020B0604030504040204" pitchFamily="50" charset="-128"/>
              </a:rPr>
              <a:t>GitHub Pagesで公開中。アクセシビリティやレスポンシブ対応を今後も改善していく</a:t>
            </a:r>
          </a:p>
        </p:txBody>
      </p:sp>
      <p:sp>
        <p:nvSpPr>
          <p:cNvPr id="150" name="TextBox 149"/>
          <p:cNvSpPr txBox="1"/>
          <p:nvPr/>
        </p:nvSpPr>
        <p:spPr>
          <a:xfrm>
            <a:off x="822960" y="6446520"/>
            <a:ext cx="5486400" cy="274320"/>
          </a:xfrm>
          <a:prstGeom prst="rect">
            <a:avLst/>
          </a:prstGeom>
          <a:noFill/>
        </p:spPr>
        <p:txBody>
          <a:bodyPr wrap="square" lIns="0" tIns="0" rIns="0" bIns="0" anchor="t">
            <a:spAutoFit/>
          </a:bodyPr>
          <a:lstStyle/>
          <a:p>
            <a:pPr algn="l">
              <a:lnSpc>
                <a:spcPct val="100000"/>
              </a:lnSpc>
              <a:spcAft>
                <a:spcPts val="0"/>
              </a:spcAft>
            </a:pPr>
            <a:r>
              <a:rPr sz="800" b="0" i="0" spc="150">
                <a:solidFill>
                  <a:srgbClr val="7D8FAE"/>
                </a:solidFill>
                <a:latin typeface="Georgia"/>
              </a:rPr>
              <a:t>KINGDOM HEARTS — MEMORY</a:t>
            </a:r>
          </a:p>
        </p:txBody>
      </p:sp>
      <p:sp>
        <p:nvSpPr>
          <p:cNvPr id="151" name="TextBox 150"/>
          <p:cNvSpPr txBox="1"/>
          <p:nvPr/>
        </p:nvSpPr>
        <p:spPr>
          <a:xfrm>
            <a:off x="10241280" y="6446520"/>
            <a:ext cx="1097280" cy="274320"/>
          </a:xfrm>
          <a:prstGeom prst="rect">
            <a:avLst/>
          </a:prstGeom>
          <a:noFill/>
        </p:spPr>
        <p:txBody>
          <a:bodyPr wrap="square" lIns="0" tIns="0" rIns="0" bIns="0" anchor="t">
            <a:spAutoFit/>
          </a:bodyPr>
          <a:lstStyle/>
          <a:p>
            <a:pPr algn="r">
              <a:lnSpc>
                <a:spcPct val="100000"/>
              </a:lnSpc>
              <a:spcAft>
                <a:spcPts val="0"/>
              </a:spcAft>
            </a:pPr>
            <a:r>
              <a:rPr sz="800" b="0" i="0" spc="150">
                <a:solidFill>
                  <a:srgbClr val="B39A63"/>
                </a:solidFill>
                <a:latin typeface="Georgia"/>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1601</TotalTime>
  <Words>542</Words>
  <Application>Microsoft Office PowerPoint</Application>
  <PresentationFormat>ワイド画面</PresentationFormat>
  <Paragraphs>179</Paragraphs>
  <Slides>14</Slides>
  <Notes>3</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14</vt:i4>
      </vt:variant>
    </vt:vector>
  </HeadingPairs>
  <TitlesOfParts>
    <vt:vector size="20" baseType="lpstr">
      <vt:lpstr>Meiryo UI</vt:lpstr>
      <vt:lpstr>游ゴシック</vt:lpstr>
      <vt:lpstr>Arial</vt:lpstr>
      <vt:lpstr>Calibri</vt:lpstr>
      <vt:lpstr>Georgia</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佐藤 万宙(zeal23418190)</cp:lastModifiedBy>
  <cp:revision>10</cp:revision>
  <dcterms:created xsi:type="dcterms:W3CDTF">2013-01-27T09:14:16Z</dcterms:created>
  <dcterms:modified xsi:type="dcterms:W3CDTF">2026-09-24T01:35:40Z</dcterms:modified>
  <cp:category/>
</cp:coreProperties>
</file>