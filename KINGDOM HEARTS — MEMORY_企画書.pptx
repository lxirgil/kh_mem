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8" r:id="rId19"/>
    <p:sldId id="261" r:id="rId7"/>
    <p:sldId id="262" r:id="rId8"/>
    <p:sldId id="263" r:id="rId9"/>
    <p:sldId id="264" r:id="rId10"/>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8" d="100"/>
          <a:sy n="108" d="100"/>
        </p:scale>
        <p:origin x="67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2E8D6-3DE6-4A4C-AEE5-C6587B99CA73}" type="datetimeFigureOut">
              <a:rPr kumimoji="1" lang="ja-JP" altLang="en-US" smtClean="0"/>
              <a:t>2026/8/26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E36EB9-FCA6-4742-8E61-EFCE08F49E63}" type="slidenum">
              <a:rPr kumimoji="1" lang="ja-JP" altLang="en-US" smtClean="0"/>
              <a:t>‹#›</a:t>
            </a:fld>
            <a:endParaRPr kumimoji="1" lang="ja-JP" altLang="en-US"/>
          </a:p>
        </p:txBody>
      </p:sp>
    </p:spTree>
    <p:extLst>
      <p:ext uri="{BB962C8B-B14F-4D97-AF65-F5344CB8AC3E}">
        <p14:creationId xmlns:p14="http://schemas.microsoft.com/office/powerpoint/2010/main" val="144386221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0E36EB9-FCA6-4742-8E61-EFCE08F49E63}" type="slidenum">
              <a:rPr kumimoji="1" lang="ja-JP" altLang="en-US" smtClean="0"/>
              <a:t>1</a:t>
            </a:fld>
            <a:endParaRPr kumimoji="1" lang="ja-JP" altLang="en-US"/>
          </a:p>
        </p:txBody>
      </p:sp>
    </p:spTree>
    <p:extLst>
      <p:ext uri="{BB962C8B-B14F-4D97-AF65-F5344CB8AC3E}">
        <p14:creationId xmlns:p14="http://schemas.microsoft.com/office/powerpoint/2010/main" val="268021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0E36EB9-FCA6-4742-8E61-EFCE08F49E63}" type="slidenum">
              <a:rPr kumimoji="1" lang="ja-JP" altLang="en-US" smtClean="0"/>
              <a:t>4</a:t>
            </a:fld>
            <a:endParaRPr kumimoji="1" lang="ja-JP" altLang="en-US"/>
          </a:p>
        </p:txBody>
      </p:sp>
    </p:spTree>
    <p:extLst>
      <p:ext uri="{BB962C8B-B14F-4D97-AF65-F5344CB8AC3E}">
        <p14:creationId xmlns:p14="http://schemas.microsoft.com/office/powerpoint/2010/main" val="1179371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pic>
        <p:nvPicPr>
          <p:cNvPr id="26" name="図 25" descr="キングダムハーツ キャラクター解説 ソラ編 :: Hearts &amp; Keys">
            <a:extLst>
              <a:ext uri="{FF2B5EF4-FFF2-40B4-BE49-F238E27FC236}">
                <a16:creationId xmlns:a16="http://schemas.microsoft.com/office/drawing/2014/main" id="{556C8E54-B1B9-05D4-AB0C-CA2A4CEE3E66}"/>
              </a:ext>
            </a:extLst>
          </p:cNvPr>
          <p:cNvPicPr>
            <a:picLocks noChangeAspect="1"/>
          </p:cNvPicPr>
          <p:nvPr/>
        </p:nvPicPr>
        <p:blipFill>
          <a:blip r:embed="rId3"/>
          <a:stretch>
            <a:fillRect/>
          </a:stretch>
        </p:blipFill>
        <p:spPr>
          <a:xfrm>
            <a:off x="0" y="0"/>
            <a:ext cx="12187738" cy="685560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005840"/>
            <a:ext cx="3840480" cy="3840480"/>
          </a:xfrm>
          <a:prstGeom prst="roundRect">
            <a:avLst>
              <a:gd name="adj" fmla="val 8000"/>
            </a:avLst>
          </a:prstGeom>
          <a:noFill/>
          <a:ln w="20320">
            <a:solidFill>
              <a:srgbClr val="2A6BB5">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rot="2700000">
            <a:off x="-822960" y="-1005840"/>
            <a:ext cx="3840480" cy="3840480"/>
          </a:xfrm>
          <a:prstGeom prst="roundRect">
            <a:avLst>
              <a:gd name="adj" fmla="val 8000"/>
            </a:avLst>
          </a:prstGeom>
          <a:noFill/>
          <a:ln w="20320">
            <a:solidFill>
              <a:srgbClr val="2A6BB5">
                <a:alpha val="2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6851" y="683971"/>
            <a:ext cx="460857" cy="460857"/>
          </a:xfrm>
          <a:prstGeom prst="ellipse">
            <a:avLst/>
          </a:prstGeom>
          <a:solidFill>
            <a:srgbClr val="2A6BB5">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1737360"/>
            <a:ext cx="7315200" cy="365760"/>
          </a:xfrm>
          <a:prstGeom prst="rect">
            <a:avLst/>
          </a:prstGeom>
          <a:noFill/>
        </p:spPr>
        <p:txBody>
          <a:bodyPr wrap="square" lIns="0" tIns="0" rIns="0" bIns="0" anchor="t">
            <a:spAutoFit/>
          </a:bodyPr>
          <a:lstStyle/>
          <a:p>
            <a:pPr algn="l">
              <a:lnSpc>
                <a:spcPct val="100000"/>
              </a:lnSpc>
              <a:spcAft>
                <a:spcPts val="0"/>
              </a:spcAft>
            </a:pPr>
            <a:r>
              <a:rPr sz="1300" b="0" i="0" spc="400">
                <a:solidFill>
                  <a:srgbClr val="E6D5A3"/>
                </a:solidFill>
                <a:latin typeface="Georgia"/>
              </a:rPr>
              <a:t>WEB SITE PLANNING PROPOSAL</a:t>
            </a:r>
          </a:p>
        </p:txBody>
      </p:sp>
      <p:sp>
        <p:nvSpPr>
          <p:cNvPr id="19" name="TextBox 18"/>
          <p:cNvSpPr txBox="1"/>
          <p:nvPr/>
        </p:nvSpPr>
        <p:spPr>
          <a:xfrm>
            <a:off x="868680" y="2148840"/>
            <a:ext cx="10058400" cy="2011680"/>
          </a:xfrm>
          <a:prstGeom prst="rect">
            <a:avLst/>
          </a:prstGeom>
          <a:noFill/>
        </p:spPr>
        <p:txBody>
          <a:bodyPr wrap="square" lIns="0" tIns="0" rIns="0" bIns="0" anchor="t">
            <a:spAutoFit/>
          </a:bodyPr>
          <a:lstStyle/>
          <a:p>
            <a:pPr algn="l">
              <a:lnSpc>
                <a:spcPct val="115000"/>
              </a:lnSpc>
              <a:spcAft>
                <a:spcPts val="0"/>
              </a:spcAft>
            </a:pPr>
            <a:r>
              <a:rPr sz="4600" b="1" i="0" spc="50">
                <a:solidFill>
                  <a:srgbClr val="EEF4FF"/>
                </a:solidFill>
                <a:latin typeface="Georgia"/>
              </a:rPr>
              <a:t>KINGDOM HEARTS</a:t>
            </a:r>
          </a:p>
          <a:p>
            <a:pPr algn="l">
              <a:lnSpc>
                <a:spcPct val="115000"/>
              </a:lnSpc>
              <a:spcAft>
                <a:spcPts val="0"/>
              </a:spcAft>
            </a:pPr>
            <a:r>
              <a:rPr sz="4600" b="1" i="0">
                <a:solidFill>
                  <a:srgbClr val="E6D5A3"/>
                </a:solidFill>
                <a:latin typeface="Georgia"/>
              </a:rPr>
              <a:t>— </a:t>
            </a:r>
            <a:r>
              <a:rPr sz="4600" b="1" i="0" spc="50">
                <a:solidFill>
                  <a:srgbClr val="EEF4FF"/>
                </a:solidFill>
                <a:latin typeface="Georgia"/>
              </a:rPr>
              <a:t>MEMORY</a:t>
            </a:r>
          </a:p>
        </p:txBody>
      </p:sp>
      <p:sp>
        <p:nvSpPr>
          <p:cNvPr id="20" name="TextBox 19"/>
          <p:cNvSpPr txBox="1"/>
          <p:nvPr/>
        </p:nvSpPr>
        <p:spPr>
          <a:xfrm>
            <a:off x="914400" y="3977639"/>
            <a:ext cx="7315200" cy="261610"/>
          </a:xfrm>
          <a:prstGeom prst="rect">
            <a:avLst/>
          </a:prstGeom>
          <a:noFill/>
        </p:spPr>
        <p:txBody>
          <a:bodyPr wrap="square" lIns="0" tIns="0" rIns="0" bIns="0" anchor="t">
            <a:spAutoFit/>
          </a:bodyPr>
          <a:lstStyle/>
          <a:p>
            <a:pPr algn="l">
              <a:lnSpc>
                <a:spcPct val="100000"/>
              </a:lnSpc>
              <a:spcAft>
                <a:spcPts val="0"/>
              </a:spcAft>
            </a:pPr>
            <a:r>
              <a:rPr sz="1700" b="0" i="0" spc="150" dirty="0" err="1">
                <a:solidFill>
                  <a:srgbClr val="9AD5FF"/>
                </a:solidFill>
                <a:highlight>
                  <a:srgbClr val="000000"/>
                </a:highlight>
                <a:latin typeface="Meiryo UI" panose="020B0604030504040204" pitchFamily="50" charset="-128"/>
              </a:rPr>
              <a:t>記憶を辿る、光と闇の旅</a:t>
            </a:r>
            <a:endParaRPr sz="1700" b="0" i="0" spc="150" dirty="0">
              <a:solidFill>
                <a:srgbClr val="9AD5FF"/>
              </a:solidFill>
              <a:highlight>
                <a:srgbClr val="000000"/>
              </a:highlight>
              <a:latin typeface="Meiryo UI" panose="020B0604030504040204" pitchFamily="50" charset="-128"/>
            </a:endParaRPr>
          </a:p>
        </p:txBody>
      </p:sp>
      <p:sp>
        <p:nvSpPr>
          <p:cNvPr id="21" name="Rectangle 20"/>
          <p:cNvSpPr/>
          <p:nvPr/>
        </p:nvSpPr>
        <p:spPr>
          <a:xfrm>
            <a:off x="914400" y="4526280"/>
            <a:ext cx="1280160" cy="1524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48840" y="6458065"/>
            <a:ext cx="5394960" cy="184666"/>
          </a:xfrm>
          <a:prstGeom prst="rect">
            <a:avLst/>
          </a:prstGeom>
          <a:noFill/>
        </p:spPr>
        <p:txBody>
          <a:bodyPr wrap="square" lIns="0" tIns="0" rIns="0" bIns="0" anchor="t">
            <a:spAutoFit/>
          </a:bodyPr>
          <a:lstStyle/>
          <a:p>
            <a:pPr algn="r">
              <a:lnSpc>
                <a:spcPct val="100000"/>
              </a:lnSpc>
              <a:spcAft>
                <a:spcPts val="0"/>
              </a:spcAft>
            </a:pPr>
            <a:r>
              <a:rPr sz="1200" b="0" i="0" spc="50" dirty="0">
                <a:solidFill>
                  <a:srgbClr val="7D8FAE"/>
                </a:solidFill>
                <a:latin typeface="Meiryo UI" panose="020B0604030504040204" pitchFamily="50" charset="-128"/>
              </a:rPr>
              <a:t>高度情報工学科4年　23418190　佐藤万宙</a:t>
            </a:r>
          </a:p>
        </p:txBody>
      </p:sp>
      <p:pic>
        <p:nvPicPr>
          <p:cNvPr id="24" name="図 23">
            <a:extLst>
              <a:ext uri="{FF2B5EF4-FFF2-40B4-BE49-F238E27FC236}">
                <a16:creationId xmlns:a16="http://schemas.microsoft.com/office/drawing/2014/main" id="{2FD6F9C3-82AC-F134-C347-1631B98C1711}"/>
              </a:ext>
            </a:extLst>
          </p:cNvPr>
          <p:cNvPicPr>
            <a:picLocks noChangeAspect="1"/>
          </p:cNvPicPr>
          <p:nvPr/>
        </p:nvPicPr>
        <p:blipFill>
          <a:blip r:embed="rId4"/>
          <a:stretch>
            <a:fillRect/>
          </a:stretch>
        </p:blipFill>
        <p:spPr>
          <a:xfrm>
            <a:off x="8034366" y="1304636"/>
            <a:ext cx="3133667" cy="3429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319272" y="-10579608"/>
            <a:ext cx="12746735" cy="12746735"/>
          </a:xfrm>
          <a:prstGeom prst="ellipse">
            <a:avLst/>
          </a:prstGeom>
          <a:solidFill>
            <a:srgbClr val="E6D5A3">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474720" y="-10424160"/>
            <a:ext cx="12435840" cy="12435840"/>
          </a:xfrm>
          <a:prstGeom prst="ellipse">
            <a:avLst/>
          </a:prstGeom>
          <a:noFill/>
          <a:ln w="330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215737" y="-8683142"/>
            <a:ext cx="8953804" cy="8953804"/>
          </a:xfrm>
          <a:prstGeom prst="ellipse">
            <a:avLst/>
          </a:prstGeom>
          <a:noFill/>
          <a:ln w="2540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832396" y="-7066483"/>
            <a:ext cx="5720486" cy="5720486"/>
          </a:xfrm>
          <a:prstGeom prst="ellipse">
            <a:avLst/>
          </a:prstGeom>
          <a:noFill/>
          <a:ln w="203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2335160" y="-3111672"/>
            <a:ext cx="2757412" cy="1142158"/>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14906034" y="-2156052"/>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10787207" y="-1563719"/>
            <a:ext cx="1142158" cy="2757411"/>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11742827" y="1007154"/>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7455914" y="-1563719"/>
            <a:ext cx="1142158" cy="2757411"/>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7269377" y="1007154"/>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4292707" y="-3111672"/>
            <a:ext cx="2757412" cy="1142158"/>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4106169" y="-2156052"/>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4292707" y="-6442965"/>
            <a:ext cx="2757412" cy="1142158"/>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4106169" y="-6629502"/>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7455914" y="-9606172"/>
            <a:ext cx="1142158" cy="275741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7269377" y="-9792710"/>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0787207" y="-9606172"/>
            <a:ext cx="1142158" cy="275741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11742827" y="-9792710"/>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12335160" y="-6442965"/>
            <a:ext cx="2757412" cy="1142158"/>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4906034" y="-6629502"/>
            <a:ext cx="373075" cy="373075"/>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6887206" y="1513199"/>
            <a:ext cx="107503" cy="107503"/>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iamond 33"/>
          <p:cNvSpPr/>
          <p:nvPr/>
        </p:nvSpPr>
        <p:spPr>
          <a:xfrm>
            <a:off x="5625734" y="4384779"/>
            <a:ext cx="59451" cy="59451"/>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649481" y="4562154"/>
            <a:ext cx="59313" cy="59313"/>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235629" y="1504206"/>
            <a:ext cx="51407" cy="51407"/>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512409" y="3209791"/>
            <a:ext cx="66588" cy="66588"/>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Diamond 37"/>
          <p:cNvSpPr/>
          <p:nvPr/>
        </p:nvSpPr>
        <p:spPr>
          <a:xfrm>
            <a:off x="4925983" y="1595987"/>
            <a:ext cx="73253" cy="73253"/>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683108" y="5364531"/>
            <a:ext cx="89254" cy="89254"/>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220800" y="2737812"/>
            <a:ext cx="69996" cy="69996"/>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933287" y="4418257"/>
            <a:ext cx="46137" cy="46137"/>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377493" y="2436825"/>
            <a:ext cx="47119" cy="4711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iamond 42"/>
          <p:cNvSpPr/>
          <p:nvPr/>
        </p:nvSpPr>
        <p:spPr>
          <a:xfrm>
            <a:off x="561689" y="3777889"/>
            <a:ext cx="55536" cy="55536"/>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458078" y="722788"/>
            <a:ext cx="55369" cy="5536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515024" y="2542631"/>
            <a:ext cx="87478" cy="87478"/>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972189" y="5686229"/>
            <a:ext cx="65645" cy="65645"/>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iamond 46"/>
          <p:cNvSpPr/>
          <p:nvPr/>
        </p:nvSpPr>
        <p:spPr>
          <a:xfrm>
            <a:off x="8103478" y="4507222"/>
            <a:ext cx="46100" cy="46100"/>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11177" y="2438364"/>
            <a:ext cx="106277" cy="106277"/>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735402" y="1048307"/>
            <a:ext cx="90892" cy="90892"/>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Diamond 49"/>
          <p:cNvSpPr/>
          <p:nvPr/>
        </p:nvSpPr>
        <p:spPr>
          <a:xfrm>
            <a:off x="9411011" y="5173646"/>
            <a:ext cx="54701" cy="54701"/>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226050" y="4589618"/>
            <a:ext cx="334172" cy="121517"/>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241240" y="4502278"/>
            <a:ext cx="60758" cy="113922"/>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a:off x="1241240" y="4449114"/>
            <a:ext cx="60758" cy="53163"/>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362757" y="4418735"/>
            <a:ext cx="60758" cy="197465"/>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Isosceles Triangle 54"/>
          <p:cNvSpPr/>
          <p:nvPr/>
        </p:nvSpPr>
        <p:spPr>
          <a:xfrm>
            <a:off x="1362757" y="4365571"/>
            <a:ext cx="60758" cy="53163"/>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469084" y="4502278"/>
            <a:ext cx="60758" cy="113922"/>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Isosceles Triangle 56"/>
          <p:cNvSpPr/>
          <p:nvPr/>
        </p:nvSpPr>
        <p:spPr>
          <a:xfrm>
            <a:off x="1469084" y="4449114"/>
            <a:ext cx="60758" cy="53163"/>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1370352" y="4638984"/>
            <a:ext cx="45568" cy="72150"/>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0437299" y="6401557"/>
            <a:ext cx="554389" cy="201596"/>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0462498" y="6256660"/>
            <a:ext cx="100798" cy="188996"/>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Isosceles Triangle 60"/>
          <p:cNvSpPr/>
          <p:nvPr/>
        </p:nvSpPr>
        <p:spPr>
          <a:xfrm>
            <a:off x="10462498" y="6168461"/>
            <a:ext cx="100798" cy="88198"/>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0664094" y="6118062"/>
            <a:ext cx="100798" cy="327593"/>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Isosceles Triangle 62"/>
          <p:cNvSpPr/>
          <p:nvPr/>
        </p:nvSpPr>
        <p:spPr>
          <a:xfrm>
            <a:off x="10664094" y="6029864"/>
            <a:ext cx="100798" cy="88198"/>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10840491" y="6256660"/>
            <a:ext cx="100798" cy="188996"/>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Isosceles Triangle 64"/>
          <p:cNvSpPr/>
          <p:nvPr/>
        </p:nvSpPr>
        <p:spPr>
          <a:xfrm>
            <a:off x="10840491" y="6168461"/>
            <a:ext cx="100798" cy="88198"/>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10676694" y="6483455"/>
            <a:ext cx="75598" cy="119697"/>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5-Point Star 66"/>
          <p:cNvSpPr/>
          <p:nvPr/>
        </p:nvSpPr>
        <p:spPr>
          <a:xfrm>
            <a:off x="3938405" y="2904924"/>
            <a:ext cx="591403" cy="591403"/>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Connector 67"/>
          <p:cNvCxnSpPr/>
          <p:nvPr/>
        </p:nvCxnSpPr>
        <p:spPr>
          <a:xfrm>
            <a:off x="2463218" y="2345972"/>
            <a:ext cx="141143"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2593218" y="2334829"/>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Connector 69"/>
          <p:cNvCxnSpPr/>
          <p:nvPr/>
        </p:nvCxnSpPr>
        <p:spPr>
          <a:xfrm>
            <a:off x="2456124" y="2367804"/>
            <a:ext cx="114187" cy="8296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2559168" y="2439623"/>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a:off x="2437552" y="2381297"/>
            <a:ext cx="43616" cy="13423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2470025" y="2504389"/>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flipH="1">
            <a:off x="2370981" y="2381297"/>
            <a:ext cx="43616" cy="13423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2359838" y="2504389"/>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flipH="1">
            <a:off x="2281838" y="2367804"/>
            <a:ext cx="114187" cy="8296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2270695" y="2439623"/>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Connector 77"/>
          <p:cNvCxnSpPr/>
          <p:nvPr/>
        </p:nvCxnSpPr>
        <p:spPr>
          <a:xfrm flipH="1">
            <a:off x="2247788" y="2345972"/>
            <a:ext cx="141144"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236645" y="2334829"/>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p:nvPr/>
        </p:nvCxnSpPr>
        <p:spPr>
          <a:xfrm flipH="1" flipV="1">
            <a:off x="2281838" y="2241177"/>
            <a:ext cx="114187" cy="8296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2270695" y="2230034"/>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flipH="1" flipV="1">
            <a:off x="2370981" y="2176411"/>
            <a:ext cx="43616" cy="13423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2359838" y="2165268"/>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4" name="Connector 83"/>
          <p:cNvCxnSpPr/>
          <p:nvPr/>
        </p:nvCxnSpPr>
        <p:spPr>
          <a:xfrm flipV="1">
            <a:off x="2437552" y="2176411"/>
            <a:ext cx="43616" cy="13423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2470025" y="2165268"/>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flipV="1">
            <a:off x="2456124" y="2241177"/>
            <a:ext cx="114187" cy="8296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2559168" y="2230034"/>
            <a:ext cx="22285" cy="22285"/>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403789" y="2323686"/>
            <a:ext cx="44571" cy="4457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9" name="Connector 88"/>
          <p:cNvCxnSpPr/>
          <p:nvPr/>
        </p:nvCxnSpPr>
        <p:spPr>
          <a:xfrm>
            <a:off x="2657579" y="4131231"/>
            <a:ext cx="173412"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2817300" y="4117541"/>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1" name="Connector 90"/>
          <p:cNvCxnSpPr/>
          <p:nvPr/>
        </p:nvCxnSpPr>
        <p:spPr>
          <a:xfrm>
            <a:off x="2648863" y="4158054"/>
            <a:ext cx="140293" cy="10192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2775466" y="4246293"/>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3" name="Connector 92"/>
          <p:cNvCxnSpPr/>
          <p:nvPr/>
        </p:nvCxnSpPr>
        <p:spPr>
          <a:xfrm>
            <a:off x="2626046" y="4174632"/>
            <a:ext cx="53587" cy="16492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2665943" y="4325866"/>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5" name="Connector 94"/>
          <p:cNvCxnSpPr/>
          <p:nvPr/>
        </p:nvCxnSpPr>
        <p:spPr>
          <a:xfrm flipH="1">
            <a:off x="2544255" y="4174632"/>
            <a:ext cx="53587" cy="16492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6" name="Oval 95"/>
          <p:cNvSpPr/>
          <p:nvPr/>
        </p:nvSpPr>
        <p:spPr>
          <a:xfrm>
            <a:off x="2530564" y="4325866"/>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7" name="Connector 96"/>
          <p:cNvCxnSpPr/>
          <p:nvPr/>
        </p:nvCxnSpPr>
        <p:spPr>
          <a:xfrm flipH="1">
            <a:off x="2434732" y="4158054"/>
            <a:ext cx="140293" cy="10192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2421041" y="4246293"/>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9" name="Connector 98"/>
          <p:cNvCxnSpPr/>
          <p:nvPr/>
        </p:nvCxnSpPr>
        <p:spPr>
          <a:xfrm flipH="1">
            <a:off x="2392897" y="4131231"/>
            <a:ext cx="173412"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2379207" y="4117541"/>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flipH="1" flipV="1">
            <a:off x="2434732" y="4002479"/>
            <a:ext cx="140293" cy="10192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2" name="Oval 101"/>
          <p:cNvSpPr/>
          <p:nvPr/>
        </p:nvSpPr>
        <p:spPr>
          <a:xfrm>
            <a:off x="2421041" y="3988788"/>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3" name="Connector 102"/>
          <p:cNvCxnSpPr/>
          <p:nvPr/>
        </p:nvCxnSpPr>
        <p:spPr>
          <a:xfrm flipH="1" flipV="1">
            <a:off x="2544255" y="3922905"/>
            <a:ext cx="53587" cy="16492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2530564" y="3909215"/>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5" name="Connector 104"/>
          <p:cNvCxnSpPr/>
          <p:nvPr/>
        </p:nvCxnSpPr>
        <p:spPr>
          <a:xfrm flipV="1">
            <a:off x="2626046" y="3922905"/>
            <a:ext cx="53587" cy="16492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2665943" y="3909215"/>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7" name="Connector 106"/>
          <p:cNvCxnSpPr/>
          <p:nvPr/>
        </p:nvCxnSpPr>
        <p:spPr>
          <a:xfrm flipV="1">
            <a:off x="2648863" y="4002479"/>
            <a:ext cx="140293" cy="10192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8" name="Oval 107"/>
          <p:cNvSpPr/>
          <p:nvPr/>
        </p:nvSpPr>
        <p:spPr>
          <a:xfrm>
            <a:off x="2775466" y="3988788"/>
            <a:ext cx="27380" cy="27380"/>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2584563" y="4103850"/>
            <a:ext cx="54761" cy="5476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11091878" y="4653985"/>
            <a:ext cx="463368" cy="168497"/>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11112940" y="4532877"/>
            <a:ext cx="84248" cy="157966"/>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Isosceles Triangle 111"/>
          <p:cNvSpPr/>
          <p:nvPr/>
        </p:nvSpPr>
        <p:spPr>
          <a:xfrm>
            <a:off x="11112940" y="4459159"/>
            <a:ext cx="84248" cy="73717"/>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11281438" y="4417035"/>
            <a:ext cx="84248" cy="273808"/>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Isosceles Triangle 113"/>
          <p:cNvSpPr/>
          <p:nvPr/>
        </p:nvSpPr>
        <p:spPr>
          <a:xfrm>
            <a:off x="11281438" y="4343317"/>
            <a:ext cx="84248" cy="73717"/>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p:cNvSpPr/>
          <p:nvPr/>
        </p:nvSpPr>
        <p:spPr>
          <a:xfrm>
            <a:off x="11428873" y="4532877"/>
            <a:ext cx="84248" cy="157966"/>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Isosceles Triangle 115"/>
          <p:cNvSpPr/>
          <p:nvPr/>
        </p:nvSpPr>
        <p:spPr>
          <a:xfrm>
            <a:off x="11428873" y="4459159"/>
            <a:ext cx="84248" cy="73717"/>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ounded Rectangle 116"/>
          <p:cNvSpPr/>
          <p:nvPr/>
        </p:nvSpPr>
        <p:spPr>
          <a:xfrm>
            <a:off x="11291969" y="4722437"/>
            <a:ext cx="63186" cy="100045"/>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5-Point Star 117"/>
          <p:cNvSpPr/>
          <p:nvPr/>
        </p:nvSpPr>
        <p:spPr>
          <a:xfrm>
            <a:off x="10776440" y="4979449"/>
            <a:ext cx="621177" cy="621177"/>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OVERVIEW</a:t>
            </a:r>
          </a:p>
        </p:txBody>
      </p:sp>
      <p:sp>
        <p:nvSpPr>
          <p:cNvPr id="120" name="Rectangle 119"/>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サイト概要</a:t>
            </a:r>
            <a:endParaRPr sz="2700" b="1" i="0" dirty="0">
              <a:solidFill>
                <a:srgbClr val="EEF4FF"/>
              </a:solidFill>
              <a:latin typeface="Meiryo UI" panose="020B0604030504040204" pitchFamily="50" charset="-128"/>
            </a:endParaRPr>
          </a:p>
        </p:txBody>
      </p:sp>
      <p:sp>
        <p:nvSpPr>
          <p:cNvPr id="122" name="Rounded Rectangle 121"/>
          <p:cNvSpPr/>
          <p:nvPr/>
        </p:nvSpPr>
        <p:spPr>
          <a:xfrm>
            <a:off x="822960" y="1783080"/>
            <a:ext cx="1051560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097280" y="2057400"/>
            <a:ext cx="685800" cy="685800"/>
          </a:xfrm>
          <a:prstGeom prst="ellipse">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Heart 123"/>
          <p:cNvSpPr/>
          <p:nvPr/>
        </p:nvSpPr>
        <p:spPr>
          <a:xfrm>
            <a:off x="1243584" y="2203704"/>
            <a:ext cx="393192" cy="393192"/>
          </a:xfrm>
          <a:prstGeom prst="heart">
            <a:avLst/>
          </a:prstGeom>
          <a:noFill/>
          <a:ln w="20320">
            <a:solidFill>
              <a:srgbClr val="9AD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408724" y="2321661"/>
            <a:ext cx="62910" cy="62910"/>
          </a:xfrm>
          <a:prstGeom prst="ellips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Isosceles Triangle 125"/>
          <p:cNvSpPr/>
          <p:nvPr/>
        </p:nvSpPr>
        <p:spPr>
          <a:xfrm>
            <a:off x="1408724" y="2356262"/>
            <a:ext cx="62910" cy="86502"/>
          </a:xfrm>
          <a:prstGeom prst="triangl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2057400" y="1965960"/>
            <a:ext cx="8869680" cy="246221"/>
          </a:xfrm>
          <a:prstGeom prst="rect">
            <a:avLst/>
          </a:prstGeom>
          <a:noFill/>
        </p:spPr>
        <p:txBody>
          <a:bodyPr wrap="square" lIns="0" tIns="0" rIns="0" bIns="0" anchor="t">
            <a:spAutoFit/>
          </a:bodyPr>
          <a:lstStyle/>
          <a:p>
            <a:pPr algn="l">
              <a:lnSpc>
                <a:spcPct val="100000"/>
              </a:lnSpc>
              <a:spcAft>
                <a:spcPts val="0"/>
              </a:spcAft>
            </a:pPr>
            <a:r>
              <a:rPr sz="1600" b="1" i="0" dirty="0" err="1">
                <a:solidFill>
                  <a:srgbClr val="EEF4FF"/>
                </a:solidFill>
                <a:latin typeface="Meiryo UI" panose="020B0604030504040204" pitchFamily="50" charset="-128"/>
              </a:rPr>
              <a:t>企画の核心</a:t>
            </a:r>
            <a:endParaRPr sz="1600" b="1" i="0" dirty="0">
              <a:solidFill>
                <a:srgbClr val="EEF4FF"/>
              </a:solidFill>
              <a:latin typeface="Meiryo UI" panose="020B0604030504040204" pitchFamily="50" charset="-128"/>
            </a:endParaRPr>
          </a:p>
        </p:txBody>
      </p:sp>
      <p:sp>
        <p:nvSpPr>
          <p:cNvPr id="128" name="TextBox 127"/>
          <p:cNvSpPr txBox="1"/>
          <p:nvPr/>
        </p:nvSpPr>
        <p:spPr>
          <a:xfrm>
            <a:off x="2057400" y="2350008"/>
            <a:ext cx="8869680" cy="215444"/>
          </a:xfrm>
          <a:prstGeom prst="rect">
            <a:avLst/>
          </a:prstGeom>
          <a:noFill/>
        </p:spPr>
        <p:txBody>
          <a:bodyPr wrap="square" lIns="0" tIns="0" rIns="0" bIns="0" anchor="t">
            <a:spAutoFit/>
          </a:bodyPr>
          <a:lstStyle/>
          <a:p>
            <a:pPr algn="l">
              <a:lnSpc>
                <a:spcPct val="100000"/>
              </a:lnSpc>
              <a:spcAft>
                <a:spcPts val="0"/>
              </a:spcAft>
            </a:pPr>
            <a:r>
              <a:rPr sz="1400" b="0" i="0" dirty="0" err="1">
                <a:solidFill>
                  <a:srgbClr val="C3D2EA"/>
                </a:solidFill>
                <a:latin typeface="Meiryo UI" panose="020B0604030504040204" pitchFamily="50" charset="-128"/>
              </a:rPr>
              <a:t>記憶を集める体験型Webサイト。ページを巡りながら「記憶の欠片」を収集し、隠された記録を解放していく</a:t>
            </a:r>
            <a:r>
              <a:rPr sz="1400" b="0" i="0" dirty="0">
                <a:solidFill>
                  <a:srgbClr val="C3D2EA"/>
                </a:solidFill>
                <a:latin typeface="Meiryo UI" panose="020B0604030504040204" pitchFamily="50" charset="-128"/>
              </a:rPr>
              <a:t>。</a:t>
            </a:r>
          </a:p>
        </p:txBody>
      </p:sp>
      <p:sp>
        <p:nvSpPr>
          <p:cNvPr id="129" name="Rounded Rectangle 128"/>
          <p:cNvSpPr/>
          <p:nvPr/>
        </p:nvSpPr>
        <p:spPr>
          <a:xfrm>
            <a:off x="822960" y="3246120"/>
            <a:ext cx="1051560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097280" y="3520440"/>
            <a:ext cx="685800" cy="685800"/>
          </a:xfrm>
          <a:prstGeom prst="ellipse">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ounded Rectangle 130"/>
          <p:cNvSpPr/>
          <p:nvPr/>
        </p:nvSpPr>
        <p:spPr>
          <a:xfrm>
            <a:off x="1243584" y="3666744"/>
            <a:ext cx="393192" cy="393192"/>
          </a:xfrm>
          <a:prstGeom prst="roundRect">
            <a:avLst>
              <a:gd name="adj" fmla="val 8000"/>
            </a:avLst>
          </a:prstGeom>
          <a:noFill/>
          <a:ln w="20320">
            <a:solidFill>
              <a:srgbClr val="9AD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Rounded Rectangle 131"/>
          <p:cNvSpPr/>
          <p:nvPr/>
        </p:nvSpPr>
        <p:spPr>
          <a:xfrm rot="2700000">
            <a:off x="1243584" y="3666744"/>
            <a:ext cx="393192" cy="393192"/>
          </a:xfrm>
          <a:prstGeom prst="roundRect">
            <a:avLst>
              <a:gd name="adj" fmla="val 8000"/>
            </a:avLst>
          </a:prstGeom>
          <a:noFill/>
          <a:ln w="20320">
            <a:solidFill>
              <a:srgbClr val="9AD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416588" y="3839748"/>
            <a:ext cx="47183" cy="47183"/>
          </a:xfrm>
          <a:prstGeom prst="ellips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2057400" y="3429000"/>
            <a:ext cx="8869680" cy="246221"/>
          </a:xfrm>
          <a:prstGeom prst="rect">
            <a:avLst/>
          </a:prstGeom>
          <a:noFill/>
        </p:spPr>
        <p:txBody>
          <a:bodyPr wrap="square" lIns="0" tIns="0" rIns="0" bIns="0" anchor="t">
            <a:spAutoFit/>
          </a:bodyPr>
          <a:lstStyle/>
          <a:p>
            <a:pPr algn="l">
              <a:lnSpc>
                <a:spcPct val="100000"/>
              </a:lnSpc>
              <a:spcAft>
                <a:spcPts val="0"/>
              </a:spcAft>
            </a:pPr>
            <a:r>
              <a:rPr sz="1600" b="1" i="0" dirty="0" err="1">
                <a:solidFill>
                  <a:srgbClr val="EEF4FF"/>
                </a:solidFill>
                <a:latin typeface="Meiryo UI" panose="020B0604030504040204" pitchFamily="50" charset="-128"/>
              </a:rPr>
              <a:t>世界観のテーマ</a:t>
            </a:r>
            <a:endParaRPr sz="1600" b="1" i="0" dirty="0">
              <a:solidFill>
                <a:srgbClr val="EEF4FF"/>
              </a:solidFill>
              <a:latin typeface="Meiryo UI" panose="020B0604030504040204" pitchFamily="50" charset="-128"/>
            </a:endParaRPr>
          </a:p>
        </p:txBody>
      </p:sp>
      <p:sp>
        <p:nvSpPr>
          <p:cNvPr id="135" name="TextBox 134"/>
          <p:cNvSpPr txBox="1"/>
          <p:nvPr/>
        </p:nvSpPr>
        <p:spPr>
          <a:xfrm>
            <a:off x="2057400" y="3813048"/>
            <a:ext cx="8869680" cy="215444"/>
          </a:xfrm>
          <a:prstGeom prst="rect">
            <a:avLst/>
          </a:prstGeom>
          <a:noFill/>
        </p:spPr>
        <p:txBody>
          <a:bodyPr wrap="square" lIns="0" tIns="0" rIns="0" bIns="0" anchor="t">
            <a:spAutoFit/>
          </a:bodyPr>
          <a:lstStyle/>
          <a:p>
            <a:pPr algn="l">
              <a:lnSpc>
                <a:spcPct val="100000"/>
              </a:lnSpc>
              <a:spcAft>
                <a:spcPts val="0"/>
              </a:spcAft>
            </a:pPr>
            <a:r>
              <a:rPr sz="1400" b="0" i="0" dirty="0">
                <a:solidFill>
                  <a:srgbClr val="C3D2EA"/>
                </a:solidFill>
                <a:latin typeface="Meiryo UI" panose="020B0604030504040204" pitchFamily="50" charset="-128"/>
              </a:rPr>
              <a:t>「心」「記憶」「光」「闇」を幻想的に表現。公式サイトの再現ではなく、キングダムハーツの世界観から着想を得たオリジナル企画として制作。</a:t>
            </a:r>
          </a:p>
        </p:txBody>
      </p:sp>
      <p:sp>
        <p:nvSpPr>
          <p:cNvPr id="136" name="Rounded Rectangle 135"/>
          <p:cNvSpPr/>
          <p:nvPr/>
        </p:nvSpPr>
        <p:spPr>
          <a:xfrm>
            <a:off x="822960" y="4709160"/>
            <a:ext cx="1051560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097280" y="4983480"/>
            <a:ext cx="685800" cy="685800"/>
          </a:xfrm>
          <a:prstGeom prst="ellipse">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2" name="Group 141"/>
          <p:cNvGrpSpPr/>
          <p:nvPr/>
        </p:nvGrpSpPr>
        <p:grpSpPr>
          <a:xfrm rot="19200000">
            <a:off x="1381201" y="5129784"/>
            <a:ext cx="145481" cy="326349"/>
            <a:chOff x="1381201" y="5129784"/>
            <a:chExt cx="145481" cy="326349"/>
          </a:xfrm>
        </p:grpSpPr>
        <p:sp>
          <p:nvSpPr>
            <p:cNvPr id="138" name="Oval 137"/>
            <p:cNvSpPr/>
            <p:nvPr/>
          </p:nvSpPr>
          <p:spPr>
            <a:xfrm>
              <a:off x="1381201" y="5129784"/>
              <a:ext cx="117957" cy="117957"/>
            </a:xfrm>
            <a:prstGeom prst="ellipse">
              <a:avLst/>
            </a:prstGeom>
            <a:noFill/>
            <a:ln w="17780">
              <a:solidFill>
                <a:srgbClr val="9AD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ectangle 138"/>
            <p:cNvSpPr/>
            <p:nvPr/>
          </p:nvSpPr>
          <p:spPr>
            <a:xfrm>
              <a:off x="1422486" y="5212354"/>
              <a:ext cx="35387" cy="243779"/>
            </a:xfrm>
            <a:prstGeom prst="rect">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1440180" y="5330311"/>
              <a:ext cx="62910" cy="31455"/>
            </a:xfrm>
            <a:prstGeom prst="rect">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ectangle 140"/>
            <p:cNvSpPr/>
            <p:nvPr/>
          </p:nvSpPr>
          <p:spPr>
            <a:xfrm>
              <a:off x="1440180" y="5393222"/>
              <a:ext cx="86502" cy="31455"/>
            </a:xfrm>
            <a:prstGeom prst="rect">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p:cNvGrpSpPr/>
          <p:nvPr/>
        </p:nvGrpSpPr>
        <p:grpSpPr>
          <a:xfrm rot="2400000">
            <a:off x="1381201" y="5129784"/>
            <a:ext cx="145481" cy="326349"/>
            <a:chOff x="1381201" y="5129784"/>
            <a:chExt cx="145481" cy="326349"/>
          </a:xfrm>
        </p:grpSpPr>
        <p:sp>
          <p:nvSpPr>
            <p:cNvPr id="143" name="Oval 142"/>
            <p:cNvSpPr/>
            <p:nvPr/>
          </p:nvSpPr>
          <p:spPr>
            <a:xfrm>
              <a:off x="1381201" y="5129784"/>
              <a:ext cx="117957" cy="117957"/>
            </a:xfrm>
            <a:prstGeom prst="ellipse">
              <a:avLst/>
            </a:prstGeom>
            <a:noFill/>
            <a:ln w="17780">
              <a:solidFill>
                <a:srgbClr val="9AD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1422486" y="5212354"/>
              <a:ext cx="35387" cy="243779"/>
            </a:xfrm>
            <a:prstGeom prst="rect">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Rectangle 144"/>
            <p:cNvSpPr/>
            <p:nvPr/>
          </p:nvSpPr>
          <p:spPr>
            <a:xfrm>
              <a:off x="1440180" y="5330311"/>
              <a:ext cx="62910" cy="31455"/>
            </a:xfrm>
            <a:prstGeom prst="rect">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1440180" y="5393222"/>
              <a:ext cx="86502" cy="31455"/>
            </a:xfrm>
            <a:prstGeom prst="rect">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48" name="TextBox 147"/>
          <p:cNvSpPr txBox="1"/>
          <p:nvPr/>
        </p:nvSpPr>
        <p:spPr>
          <a:xfrm>
            <a:off x="2057400" y="4892040"/>
            <a:ext cx="8869680" cy="246221"/>
          </a:xfrm>
          <a:prstGeom prst="rect">
            <a:avLst/>
          </a:prstGeom>
          <a:noFill/>
        </p:spPr>
        <p:txBody>
          <a:bodyPr wrap="square" lIns="0" tIns="0" rIns="0" bIns="0" anchor="t">
            <a:spAutoFit/>
          </a:bodyPr>
          <a:lstStyle/>
          <a:p>
            <a:pPr algn="l">
              <a:lnSpc>
                <a:spcPct val="100000"/>
              </a:lnSpc>
              <a:spcAft>
                <a:spcPts val="0"/>
              </a:spcAft>
            </a:pPr>
            <a:r>
              <a:rPr sz="1600" b="1" i="0" dirty="0" err="1">
                <a:solidFill>
                  <a:srgbClr val="EEF4FF"/>
                </a:solidFill>
                <a:latin typeface="Meiryo UI" panose="020B0604030504040204" pitchFamily="50" charset="-128"/>
              </a:rPr>
              <a:t>技術的な実現</a:t>
            </a:r>
            <a:endParaRPr sz="1600" b="1" i="0" dirty="0">
              <a:solidFill>
                <a:srgbClr val="EEF4FF"/>
              </a:solidFill>
              <a:latin typeface="Meiryo UI" panose="020B0604030504040204" pitchFamily="50" charset="-128"/>
            </a:endParaRPr>
          </a:p>
        </p:txBody>
      </p:sp>
      <p:sp>
        <p:nvSpPr>
          <p:cNvPr id="149" name="TextBox 148"/>
          <p:cNvSpPr txBox="1"/>
          <p:nvPr/>
        </p:nvSpPr>
        <p:spPr>
          <a:xfrm>
            <a:off x="2057400" y="5276088"/>
            <a:ext cx="8869680" cy="215444"/>
          </a:xfrm>
          <a:prstGeom prst="rect">
            <a:avLst/>
          </a:prstGeom>
          <a:noFill/>
        </p:spPr>
        <p:txBody>
          <a:bodyPr wrap="square" lIns="0" tIns="0" rIns="0" bIns="0" anchor="t">
            <a:spAutoFit/>
          </a:bodyPr>
          <a:lstStyle/>
          <a:p>
            <a:pPr algn="l">
              <a:lnSpc>
                <a:spcPct val="100000"/>
              </a:lnSpc>
              <a:spcAft>
                <a:spcPts val="0"/>
              </a:spcAft>
            </a:pPr>
            <a:r>
              <a:rPr sz="1400" b="0" i="0" dirty="0" err="1">
                <a:solidFill>
                  <a:srgbClr val="C3D2EA"/>
                </a:solidFill>
                <a:latin typeface="Meiryo UI" panose="020B0604030504040204" pitchFamily="50" charset="-128"/>
              </a:rPr>
              <a:t>HTML・CSS・JavaScriptのみで、画像や音源ファイルに頼らずゲームのような体験を再現する</a:t>
            </a:r>
            <a:r>
              <a:rPr sz="1400" b="0" i="0" dirty="0">
                <a:solidFill>
                  <a:srgbClr val="C3D2EA"/>
                </a:solidFill>
                <a:latin typeface="Meiryo UI" panose="020B0604030504040204" pitchFamily="50" charset="-128"/>
              </a:rPr>
              <a:t>。</a:t>
            </a:r>
          </a:p>
        </p:txBody>
      </p:sp>
      <p:sp>
        <p:nvSpPr>
          <p:cNvPr id="150" name="TextBox 149"/>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51" name="TextBox 150"/>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02 /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183379" y="4503420"/>
            <a:ext cx="13121639" cy="13121639"/>
          </a:xfrm>
          <a:prstGeom prst="ellipse">
            <a:avLst/>
          </a:prstGeom>
          <a:solidFill>
            <a:srgbClr val="9AD5FF">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023360" y="4663440"/>
            <a:ext cx="12801600" cy="12801600"/>
          </a:xfrm>
          <a:prstGeom prst="ellipse">
            <a:avLst/>
          </a:prstGeom>
          <a:noFill/>
          <a:ln w="330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31136" y="6455664"/>
            <a:ext cx="9217152" cy="9217152"/>
          </a:xfrm>
          <a:prstGeom prst="ellipse">
            <a:avLst/>
          </a:prstGeom>
          <a:noFill/>
          <a:ln w="2540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6928" y="8119872"/>
            <a:ext cx="5888736" cy="5888736"/>
          </a:xfrm>
          <a:prstGeom prst="ellipse">
            <a:avLst/>
          </a:prstGeom>
          <a:noFill/>
          <a:ln w="203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5097681" y="12191000"/>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7744170" y="13174727"/>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3504200" y="13784481"/>
            <a:ext cx="1175751" cy="2838513"/>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4487927" y="16430970"/>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74928" y="13784481"/>
            <a:ext cx="1175751" cy="2838513"/>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117095" y="16430970"/>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3181314" y="12191000"/>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3373338" y="13174727"/>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3181314" y="8761728"/>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3373338" y="8569704"/>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74928" y="5505485"/>
            <a:ext cx="1175751" cy="2838513"/>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117095" y="5313461"/>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3504200" y="5505485"/>
            <a:ext cx="1175751" cy="2838513"/>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4487927" y="5313461"/>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5097681" y="8761728"/>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7744170" y="8569704"/>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2096601" y="4093739"/>
            <a:ext cx="56581" cy="56581"/>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182404" y="2674675"/>
            <a:ext cx="85244" cy="85244"/>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35421" y="3567798"/>
            <a:ext cx="85383" cy="85383"/>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iamond 35"/>
          <p:cNvSpPr/>
          <p:nvPr/>
        </p:nvSpPr>
        <p:spPr>
          <a:xfrm>
            <a:off x="10187780" y="4824909"/>
            <a:ext cx="69858" cy="69858"/>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873968" y="5283724"/>
            <a:ext cx="89871" cy="89871"/>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344627" y="3389657"/>
            <a:ext cx="59931" cy="59931"/>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2065410" y="4125206"/>
            <a:ext cx="86055" cy="86055"/>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183868" y="883695"/>
            <a:ext cx="67033" cy="67033"/>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099010" y="4900255"/>
            <a:ext cx="73310" cy="7331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498819" y="1343211"/>
            <a:ext cx="58992" cy="58992"/>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443137" y="2971803"/>
            <a:ext cx="81440" cy="8144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855623" y="5765365"/>
            <a:ext cx="98530" cy="9853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5658874" y="6125180"/>
            <a:ext cx="74340" cy="7434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066271" y="4506856"/>
            <a:ext cx="70730" cy="7073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098977" y="5925730"/>
            <a:ext cx="85602" cy="85602"/>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233920" y="3552655"/>
            <a:ext cx="71223" cy="71223"/>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0902642" y="1373898"/>
            <a:ext cx="50355" cy="50355"/>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223960" y="2675490"/>
            <a:ext cx="62024" cy="62024"/>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2293464" y="4678848"/>
            <a:ext cx="435304" cy="158292"/>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313251" y="4565075"/>
            <a:ext cx="79146" cy="148399"/>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a:off x="2313251" y="4495822"/>
            <a:ext cx="79146" cy="6925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471543" y="4456249"/>
            <a:ext cx="79146" cy="257225"/>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Isosceles Triangle 54"/>
          <p:cNvSpPr/>
          <p:nvPr/>
        </p:nvSpPr>
        <p:spPr>
          <a:xfrm>
            <a:off x="2471543" y="4386996"/>
            <a:ext cx="79146" cy="6925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610049" y="4565075"/>
            <a:ext cx="79146" cy="148399"/>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Isosceles Triangle 56"/>
          <p:cNvSpPr/>
          <p:nvPr/>
        </p:nvSpPr>
        <p:spPr>
          <a:xfrm>
            <a:off x="2610049" y="4495822"/>
            <a:ext cx="79146" cy="6925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2481437" y="4743154"/>
            <a:ext cx="59359" cy="93986"/>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rot="19800000">
            <a:off x="2787539" y="1331237"/>
            <a:ext cx="40271" cy="268477"/>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5-Point Star 59"/>
          <p:cNvSpPr/>
          <p:nvPr/>
        </p:nvSpPr>
        <p:spPr>
          <a:xfrm>
            <a:off x="2711470" y="1179100"/>
            <a:ext cx="205832" cy="205832"/>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4-Point Star 60"/>
          <p:cNvSpPr/>
          <p:nvPr/>
        </p:nvSpPr>
        <p:spPr>
          <a:xfrm>
            <a:off x="2653300" y="1358084"/>
            <a:ext cx="71593" cy="71593"/>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4-Point Star 61"/>
          <p:cNvSpPr/>
          <p:nvPr/>
        </p:nvSpPr>
        <p:spPr>
          <a:xfrm>
            <a:off x="2617503" y="1447577"/>
            <a:ext cx="49220" cy="49220"/>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rot="19800000">
            <a:off x="2281864" y="6432741"/>
            <a:ext cx="44316" cy="295446"/>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5-Point Star 63"/>
          <p:cNvSpPr/>
          <p:nvPr/>
        </p:nvSpPr>
        <p:spPr>
          <a:xfrm>
            <a:off x="2198154" y="6265322"/>
            <a:ext cx="226509" cy="226509"/>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4-Point Star 64"/>
          <p:cNvSpPr/>
          <p:nvPr/>
        </p:nvSpPr>
        <p:spPr>
          <a:xfrm>
            <a:off x="2134141" y="6462286"/>
            <a:ext cx="78785" cy="78785"/>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4-Point Star 65"/>
          <p:cNvSpPr/>
          <p:nvPr/>
        </p:nvSpPr>
        <p:spPr>
          <a:xfrm>
            <a:off x="2094748" y="6560768"/>
            <a:ext cx="54165" cy="54165"/>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5-Point Star 66"/>
          <p:cNvSpPr/>
          <p:nvPr/>
        </p:nvSpPr>
        <p:spPr>
          <a:xfrm>
            <a:off x="10398230" y="1108303"/>
            <a:ext cx="401462" cy="401462"/>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519955" y="3734002"/>
            <a:ext cx="541817" cy="197024"/>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544583" y="3592390"/>
            <a:ext cx="98512" cy="184710"/>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Isosceles Triangle 69"/>
          <p:cNvSpPr/>
          <p:nvPr/>
        </p:nvSpPr>
        <p:spPr>
          <a:xfrm>
            <a:off x="544583" y="3506192"/>
            <a:ext cx="98512" cy="86198"/>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741607" y="3456936"/>
            <a:ext cx="98512" cy="320165"/>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Isosceles Triangle 71"/>
          <p:cNvSpPr/>
          <p:nvPr/>
        </p:nvSpPr>
        <p:spPr>
          <a:xfrm>
            <a:off x="741607" y="3370737"/>
            <a:ext cx="98512" cy="86198"/>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914004" y="3592390"/>
            <a:ext cx="98512" cy="184710"/>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Isosceles Triangle 73"/>
          <p:cNvSpPr/>
          <p:nvPr/>
        </p:nvSpPr>
        <p:spPr>
          <a:xfrm>
            <a:off x="914004" y="3506192"/>
            <a:ext cx="98512" cy="86198"/>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753921" y="3814043"/>
            <a:ext cx="73884" cy="116983"/>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5-Point Star 75"/>
          <p:cNvSpPr/>
          <p:nvPr/>
        </p:nvSpPr>
        <p:spPr>
          <a:xfrm>
            <a:off x="2881357" y="2385802"/>
            <a:ext cx="389026" cy="389026"/>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5-Point Star 76"/>
          <p:cNvSpPr/>
          <p:nvPr/>
        </p:nvSpPr>
        <p:spPr>
          <a:xfrm>
            <a:off x="10085885" y="5482115"/>
            <a:ext cx="685585" cy="685585"/>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dirty="0">
                <a:solidFill>
                  <a:srgbClr val="4DA6FF"/>
                </a:solidFill>
                <a:latin typeface="Georgia"/>
              </a:rPr>
              <a:t>TARGET &amp; PURPOSE</a:t>
            </a:r>
          </a:p>
        </p:txBody>
      </p:sp>
      <p:sp>
        <p:nvSpPr>
          <p:cNvPr id="79" name="Rectangle 78"/>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ターゲットとサイトの目的</a:t>
            </a:r>
            <a:endParaRPr sz="2700" b="1" i="0" dirty="0">
              <a:solidFill>
                <a:srgbClr val="EEF4FF"/>
              </a:solidFill>
              <a:latin typeface="Meiryo UI" panose="020B0604030504040204" pitchFamily="50" charset="-128"/>
            </a:endParaRPr>
          </a:p>
        </p:txBody>
      </p:sp>
      <p:sp>
        <p:nvSpPr>
          <p:cNvPr id="82" name="TextBox 81"/>
          <p:cNvSpPr txBox="1"/>
          <p:nvPr/>
        </p:nvSpPr>
        <p:spPr>
          <a:xfrm>
            <a:off x="822960" y="1938528"/>
            <a:ext cx="3657600" cy="261610"/>
          </a:xfrm>
          <a:prstGeom prst="rect">
            <a:avLst/>
          </a:prstGeom>
          <a:noFill/>
        </p:spPr>
        <p:txBody>
          <a:bodyPr wrap="square" lIns="0" tIns="0" rIns="0" bIns="0" anchor="t">
            <a:spAutoFit/>
          </a:bodyPr>
          <a:lstStyle/>
          <a:p>
            <a:pPr algn="l">
              <a:lnSpc>
                <a:spcPct val="100000"/>
              </a:lnSpc>
              <a:spcAft>
                <a:spcPts val="0"/>
              </a:spcAft>
            </a:pPr>
            <a:r>
              <a:rPr sz="1700" b="1" i="0" dirty="0" err="1">
                <a:solidFill>
                  <a:srgbClr val="EEF4FF"/>
                </a:solidFill>
                <a:latin typeface="Meiryo UI" panose="020B0604030504040204" pitchFamily="50" charset="-128"/>
              </a:rPr>
              <a:t>ターゲット</a:t>
            </a:r>
            <a:endParaRPr sz="1700" b="1" i="0" dirty="0">
              <a:solidFill>
                <a:srgbClr val="EEF4FF"/>
              </a:solidFill>
              <a:latin typeface="Meiryo UI" panose="020B0604030504040204" pitchFamily="50" charset="-128"/>
            </a:endParaRPr>
          </a:p>
        </p:txBody>
      </p:sp>
      <p:sp>
        <p:nvSpPr>
          <p:cNvPr id="83" name="Rounded Rectangle 82"/>
          <p:cNvSpPr/>
          <p:nvPr/>
        </p:nvSpPr>
        <p:spPr>
          <a:xfrm>
            <a:off x="822960" y="2423160"/>
            <a:ext cx="4251960" cy="141732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051560" y="2587752"/>
            <a:ext cx="3840480" cy="176972"/>
          </a:xfrm>
          <a:prstGeom prst="rect">
            <a:avLst/>
          </a:prstGeom>
          <a:noFill/>
        </p:spPr>
        <p:txBody>
          <a:bodyPr wrap="square" lIns="0" tIns="0" rIns="0" bIns="0" anchor="t">
            <a:spAutoFit/>
          </a:bodyPr>
          <a:lstStyle/>
          <a:p>
            <a:pPr algn="l">
              <a:lnSpc>
                <a:spcPct val="100000"/>
              </a:lnSpc>
              <a:spcAft>
                <a:spcPts val="0"/>
              </a:spcAft>
            </a:pPr>
            <a:r>
              <a:rPr sz="1150" b="1" i="0" spc="50" dirty="0" err="1">
                <a:solidFill>
                  <a:srgbClr val="9AD5FF"/>
                </a:solidFill>
                <a:latin typeface="Meiryo UI" panose="020B0604030504040204" pitchFamily="50" charset="-128"/>
              </a:rPr>
              <a:t>主ターゲット</a:t>
            </a:r>
            <a:endParaRPr sz="1150" b="1" i="0" spc="50" dirty="0">
              <a:solidFill>
                <a:srgbClr val="9AD5FF"/>
              </a:solidFill>
              <a:latin typeface="Meiryo UI" panose="020B0604030504040204" pitchFamily="50" charset="-128"/>
            </a:endParaRPr>
          </a:p>
        </p:txBody>
      </p:sp>
      <p:sp>
        <p:nvSpPr>
          <p:cNvPr id="85" name="TextBox 84"/>
          <p:cNvSpPr txBox="1"/>
          <p:nvPr/>
        </p:nvSpPr>
        <p:spPr>
          <a:xfrm>
            <a:off x="1051560" y="2898648"/>
            <a:ext cx="3840480" cy="210570"/>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C3D2EA"/>
                </a:solidFill>
                <a:latin typeface="Meiryo UI" panose="020B0604030504040204" pitchFamily="50" charset="-128"/>
              </a:rPr>
              <a:t>キングダムハーツシリーズが好きなゲームユーザ</a:t>
            </a:r>
            <a:r>
              <a:rPr sz="1200" b="0" i="0" dirty="0">
                <a:solidFill>
                  <a:srgbClr val="C3D2EA"/>
                </a:solidFill>
                <a:latin typeface="Meiryo UI" panose="020B0604030504040204" pitchFamily="50" charset="-128"/>
              </a:rPr>
              <a:t>ー</a:t>
            </a:r>
          </a:p>
        </p:txBody>
      </p:sp>
      <p:sp>
        <p:nvSpPr>
          <p:cNvPr id="86" name="Rounded Rectangle 85"/>
          <p:cNvSpPr/>
          <p:nvPr/>
        </p:nvSpPr>
        <p:spPr>
          <a:xfrm>
            <a:off x="822960" y="4023360"/>
            <a:ext cx="4251960" cy="141732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51560" y="4187952"/>
            <a:ext cx="3840480" cy="176972"/>
          </a:xfrm>
          <a:prstGeom prst="rect">
            <a:avLst/>
          </a:prstGeom>
          <a:noFill/>
        </p:spPr>
        <p:txBody>
          <a:bodyPr wrap="square" lIns="0" tIns="0" rIns="0" bIns="0" anchor="t">
            <a:spAutoFit/>
          </a:bodyPr>
          <a:lstStyle/>
          <a:p>
            <a:pPr algn="l">
              <a:lnSpc>
                <a:spcPct val="100000"/>
              </a:lnSpc>
              <a:spcAft>
                <a:spcPts val="0"/>
              </a:spcAft>
            </a:pPr>
            <a:r>
              <a:rPr sz="1150" b="1" i="0" spc="50" dirty="0" err="1">
                <a:solidFill>
                  <a:srgbClr val="9AD5FF"/>
                </a:solidFill>
                <a:latin typeface="Meiryo UI" panose="020B0604030504040204" pitchFamily="50" charset="-128"/>
              </a:rPr>
              <a:t>サブターゲット</a:t>
            </a:r>
            <a:endParaRPr sz="1150" b="1" i="0" spc="50" dirty="0">
              <a:solidFill>
                <a:srgbClr val="9AD5FF"/>
              </a:solidFill>
              <a:latin typeface="Meiryo UI" panose="020B0604030504040204" pitchFamily="50" charset="-128"/>
            </a:endParaRPr>
          </a:p>
        </p:txBody>
      </p:sp>
      <p:sp>
        <p:nvSpPr>
          <p:cNvPr id="88" name="TextBox 87"/>
          <p:cNvSpPr txBox="1"/>
          <p:nvPr/>
        </p:nvSpPr>
        <p:spPr>
          <a:xfrm>
            <a:off x="1051560" y="4498848"/>
            <a:ext cx="3840480"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C3D2EA"/>
                </a:solidFill>
                <a:latin typeface="Meiryo UI" panose="020B0604030504040204" pitchFamily="50" charset="-128"/>
              </a:rPr>
              <a:t>シリーズを最近知った人、過去の作品を振り返りたい人、幻想的なWebデザインに興味がある人</a:t>
            </a:r>
            <a:endParaRPr sz="1200" b="0" i="0" dirty="0">
              <a:solidFill>
                <a:srgbClr val="C3D2EA"/>
              </a:solidFill>
              <a:latin typeface="Meiryo UI" panose="020B0604030504040204" pitchFamily="50" charset="-128"/>
            </a:endParaRPr>
          </a:p>
        </p:txBody>
      </p:sp>
      <p:cxnSp>
        <p:nvCxnSpPr>
          <p:cNvPr id="89" name="Connector 88"/>
          <p:cNvCxnSpPr/>
          <p:nvPr/>
        </p:nvCxnSpPr>
        <p:spPr>
          <a:xfrm>
            <a:off x="5349240" y="1691640"/>
            <a:ext cx="0" cy="4343400"/>
          </a:xfrm>
          <a:prstGeom prst="line">
            <a:avLst/>
          </a:prstGeom>
          <a:ln w="12700">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5623560" y="1938528"/>
            <a:ext cx="3657600" cy="261610"/>
          </a:xfrm>
          <a:prstGeom prst="rect">
            <a:avLst/>
          </a:prstGeom>
          <a:noFill/>
        </p:spPr>
        <p:txBody>
          <a:bodyPr wrap="square" lIns="0" tIns="0" rIns="0" bIns="0" anchor="t">
            <a:spAutoFit/>
          </a:bodyPr>
          <a:lstStyle/>
          <a:p>
            <a:pPr algn="l">
              <a:lnSpc>
                <a:spcPct val="100000"/>
              </a:lnSpc>
              <a:spcAft>
                <a:spcPts val="0"/>
              </a:spcAft>
            </a:pPr>
            <a:r>
              <a:rPr sz="1700" b="1" i="0" dirty="0" err="1">
                <a:solidFill>
                  <a:srgbClr val="EEF4FF"/>
                </a:solidFill>
                <a:latin typeface="Meiryo UI" panose="020B0604030504040204" pitchFamily="50" charset="-128"/>
              </a:rPr>
              <a:t>目的の柱</a:t>
            </a:r>
            <a:endParaRPr sz="1700" b="1" i="0" dirty="0">
              <a:solidFill>
                <a:srgbClr val="EEF4FF"/>
              </a:solidFill>
              <a:latin typeface="Meiryo UI" panose="020B0604030504040204" pitchFamily="50" charset="-128"/>
            </a:endParaRPr>
          </a:p>
        </p:txBody>
      </p:sp>
      <p:sp>
        <p:nvSpPr>
          <p:cNvPr id="92" name="Rounded Rectangle 91"/>
          <p:cNvSpPr/>
          <p:nvPr/>
        </p:nvSpPr>
        <p:spPr>
          <a:xfrm>
            <a:off x="5623560" y="2423160"/>
            <a:ext cx="2697480" cy="16002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5806440" y="2560320"/>
            <a:ext cx="548640" cy="457200"/>
          </a:xfrm>
          <a:prstGeom prst="rect">
            <a:avLst/>
          </a:prstGeom>
          <a:noFill/>
        </p:spPr>
        <p:txBody>
          <a:bodyPr wrap="square" lIns="0" tIns="0" rIns="0" bIns="0" anchor="t">
            <a:spAutoFit/>
          </a:bodyPr>
          <a:lstStyle/>
          <a:p>
            <a:pPr algn="l">
              <a:lnSpc>
                <a:spcPct val="100000"/>
              </a:lnSpc>
              <a:spcAft>
                <a:spcPts val="0"/>
              </a:spcAft>
            </a:pPr>
            <a:r>
              <a:rPr sz="2000" b="1" i="0">
                <a:solidFill>
                  <a:srgbClr val="E6D5A3"/>
                </a:solidFill>
                <a:latin typeface="Georgia"/>
              </a:rPr>
              <a:t>①</a:t>
            </a:r>
          </a:p>
        </p:txBody>
      </p:sp>
      <p:sp>
        <p:nvSpPr>
          <p:cNvPr id="94" name="TextBox 93"/>
          <p:cNvSpPr txBox="1"/>
          <p:nvPr/>
        </p:nvSpPr>
        <p:spPr>
          <a:xfrm>
            <a:off x="5806440" y="3017520"/>
            <a:ext cx="2331720" cy="434478"/>
          </a:xfrm>
          <a:prstGeom prst="rect">
            <a:avLst/>
          </a:prstGeom>
          <a:noFill/>
        </p:spPr>
        <p:txBody>
          <a:bodyPr wrap="square" lIns="0" tIns="0" rIns="0" bIns="0" anchor="t">
            <a:spAutoFit/>
          </a:bodyPr>
          <a:lstStyle/>
          <a:p>
            <a:pPr algn="l">
              <a:lnSpc>
                <a:spcPct val="125000"/>
              </a:lnSpc>
              <a:spcAft>
                <a:spcPts val="0"/>
              </a:spcAft>
            </a:pPr>
            <a:r>
              <a:rPr sz="1200" b="0" i="0" dirty="0" err="1">
                <a:solidFill>
                  <a:srgbClr val="C3D2EA"/>
                </a:solidFill>
                <a:latin typeface="Meiryo UI" panose="020B0604030504040204" pitchFamily="50" charset="-128"/>
              </a:rPr>
              <a:t>キングダムハーツの長い歴史を、楽しみながら振り返ってもらう</a:t>
            </a:r>
            <a:endParaRPr sz="1200" b="0" i="0" dirty="0">
              <a:solidFill>
                <a:srgbClr val="C3D2EA"/>
              </a:solidFill>
              <a:latin typeface="Meiryo UI" panose="020B0604030504040204" pitchFamily="50" charset="-128"/>
            </a:endParaRPr>
          </a:p>
        </p:txBody>
      </p:sp>
      <p:sp>
        <p:nvSpPr>
          <p:cNvPr id="95" name="Rounded Rectangle 94"/>
          <p:cNvSpPr/>
          <p:nvPr/>
        </p:nvSpPr>
        <p:spPr>
          <a:xfrm>
            <a:off x="8503920" y="2423160"/>
            <a:ext cx="2697480" cy="16002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8686800" y="2560320"/>
            <a:ext cx="548640" cy="457200"/>
          </a:xfrm>
          <a:prstGeom prst="rect">
            <a:avLst/>
          </a:prstGeom>
          <a:noFill/>
        </p:spPr>
        <p:txBody>
          <a:bodyPr wrap="square" lIns="0" tIns="0" rIns="0" bIns="0" anchor="t">
            <a:spAutoFit/>
          </a:bodyPr>
          <a:lstStyle/>
          <a:p>
            <a:pPr algn="l">
              <a:lnSpc>
                <a:spcPct val="100000"/>
              </a:lnSpc>
              <a:spcAft>
                <a:spcPts val="0"/>
              </a:spcAft>
            </a:pPr>
            <a:r>
              <a:rPr sz="2000" b="1" i="0">
                <a:solidFill>
                  <a:srgbClr val="E6D5A3"/>
                </a:solidFill>
                <a:latin typeface="Georgia"/>
              </a:rPr>
              <a:t>②</a:t>
            </a:r>
          </a:p>
        </p:txBody>
      </p:sp>
      <p:sp>
        <p:nvSpPr>
          <p:cNvPr id="97" name="TextBox 96"/>
          <p:cNvSpPr txBox="1"/>
          <p:nvPr/>
        </p:nvSpPr>
        <p:spPr>
          <a:xfrm>
            <a:off x="8686800" y="3017520"/>
            <a:ext cx="2331720" cy="434478"/>
          </a:xfrm>
          <a:prstGeom prst="rect">
            <a:avLst/>
          </a:prstGeom>
          <a:noFill/>
        </p:spPr>
        <p:txBody>
          <a:bodyPr wrap="square" lIns="0" tIns="0" rIns="0" bIns="0" anchor="t">
            <a:spAutoFit/>
          </a:bodyPr>
          <a:lstStyle/>
          <a:p>
            <a:pPr algn="l">
              <a:lnSpc>
                <a:spcPct val="125000"/>
              </a:lnSpc>
              <a:spcAft>
                <a:spcPts val="0"/>
              </a:spcAft>
            </a:pPr>
            <a:r>
              <a:rPr sz="1200" b="0" i="0" dirty="0" err="1">
                <a:solidFill>
                  <a:srgbClr val="C3D2EA"/>
                </a:solidFill>
                <a:latin typeface="Meiryo UI" panose="020B0604030504040204" pitchFamily="50" charset="-128"/>
              </a:rPr>
              <a:t>ユーザー自身が探索して見つけていく体験を提供する</a:t>
            </a:r>
            <a:endParaRPr sz="1200" b="0" i="0" dirty="0">
              <a:solidFill>
                <a:srgbClr val="C3D2EA"/>
              </a:solidFill>
              <a:latin typeface="Meiryo UI" panose="020B0604030504040204" pitchFamily="50" charset="-128"/>
            </a:endParaRPr>
          </a:p>
        </p:txBody>
      </p:sp>
      <p:sp>
        <p:nvSpPr>
          <p:cNvPr id="98" name="Rounded Rectangle 97"/>
          <p:cNvSpPr/>
          <p:nvPr/>
        </p:nvSpPr>
        <p:spPr>
          <a:xfrm>
            <a:off x="5623560" y="4206240"/>
            <a:ext cx="2697480" cy="16002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5806440" y="4343400"/>
            <a:ext cx="548640" cy="457200"/>
          </a:xfrm>
          <a:prstGeom prst="rect">
            <a:avLst/>
          </a:prstGeom>
          <a:noFill/>
        </p:spPr>
        <p:txBody>
          <a:bodyPr wrap="square" lIns="0" tIns="0" rIns="0" bIns="0" anchor="t">
            <a:spAutoFit/>
          </a:bodyPr>
          <a:lstStyle/>
          <a:p>
            <a:pPr algn="l">
              <a:lnSpc>
                <a:spcPct val="100000"/>
              </a:lnSpc>
              <a:spcAft>
                <a:spcPts val="0"/>
              </a:spcAft>
            </a:pPr>
            <a:r>
              <a:rPr sz="2000" b="1" i="0">
                <a:solidFill>
                  <a:srgbClr val="E6D5A3"/>
                </a:solidFill>
                <a:latin typeface="Georgia"/>
              </a:rPr>
              <a:t>③</a:t>
            </a:r>
          </a:p>
        </p:txBody>
      </p:sp>
      <p:sp>
        <p:nvSpPr>
          <p:cNvPr id="100" name="TextBox 99"/>
          <p:cNvSpPr txBox="1"/>
          <p:nvPr/>
        </p:nvSpPr>
        <p:spPr>
          <a:xfrm>
            <a:off x="5806440" y="4800600"/>
            <a:ext cx="2331720" cy="434478"/>
          </a:xfrm>
          <a:prstGeom prst="rect">
            <a:avLst/>
          </a:prstGeom>
          <a:noFill/>
        </p:spPr>
        <p:txBody>
          <a:bodyPr wrap="square" lIns="0" tIns="0" rIns="0" bIns="0" anchor="t">
            <a:spAutoFit/>
          </a:bodyPr>
          <a:lstStyle/>
          <a:p>
            <a:pPr algn="l">
              <a:lnSpc>
                <a:spcPct val="125000"/>
              </a:lnSpc>
              <a:spcAft>
                <a:spcPts val="0"/>
              </a:spcAft>
            </a:pPr>
            <a:r>
              <a:rPr sz="1200" b="0" i="0" dirty="0" err="1">
                <a:solidFill>
                  <a:srgbClr val="C3D2EA"/>
                </a:solidFill>
                <a:latin typeface="Meiryo UI" panose="020B0604030504040204" pitchFamily="50" charset="-128"/>
              </a:rPr>
              <a:t>Web技術でゲーム作品をインタラクティブなコンテンツとして表現する</a:t>
            </a:r>
            <a:endParaRPr sz="1200" b="0" i="0" dirty="0">
              <a:solidFill>
                <a:srgbClr val="C3D2EA"/>
              </a:solidFill>
              <a:latin typeface="Meiryo UI" panose="020B0604030504040204" pitchFamily="50" charset="-128"/>
            </a:endParaRPr>
          </a:p>
        </p:txBody>
      </p:sp>
      <p:sp>
        <p:nvSpPr>
          <p:cNvPr id="101" name="Rounded Rectangle 100"/>
          <p:cNvSpPr/>
          <p:nvPr/>
        </p:nvSpPr>
        <p:spPr>
          <a:xfrm>
            <a:off x="8503920" y="4206240"/>
            <a:ext cx="2697480" cy="16002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8686800" y="4343400"/>
            <a:ext cx="548640" cy="457200"/>
          </a:xfrm>
          <a:prstGeom prst="rect">
            <a:avLst/>
          </a:prstGeom>
          <a:noFill/>
        </p:spPr>
        <p:txBody>
          <a:bodyPr wrap="square" lIns="0" tIns="0" rIns="0" bIns="0" anchor="t">
            <a:spAutoFit/>
          </a:bodyPr>
          <a:lstStyle/>
          <a:p>
            <a:pPr algn="l">
              <a:lnSpc>
                <a:spcPct val="100000"/>
              </a:lnSpc>
              <a:spcAft>
                <a:spcPts val="0"/>
              </a:spcAft>
            </a:pPr>
            <a:r>
              <a:rPr sz="2000" b="1" i="0">
                <a:solidFill>
                  <a:srgbClr val="E6D5A3"/>
                </a:solidFill>
                <a:latin typeface="Georgia"/>
              </a:rPr>
              <a:t>④</a:t>
            </a:r>
          </a:p>
        </p:txBody>
      </p:sp>
      <p:sp>
        <p:nvSpPr>
          <p:cNvPr id="103" name="TextBox 102"/>
          <p:cNvSpPr txBox="1"/>
          <p:nvPr/>
        </p:nvSpPr>
        <p:spPr>
          <a:xfrm>
            <a:off x="8686800" y="4800600"/>
            <a:ext cx="2331720" cy="434478"/>
          </a:xfrm>
          <a:prstGeom prst="rect">
            <a:avLst/>
          </a:prstGeom>
          <a:noFill/>
        </p:spPr>
        <p:txBody>
          <a:bodyPr wrap="square" lIns="0" tIns="0" rIns="0" bIns="0" anchor="t">
            <a:spAutoFit/>
          </a:bodyPr>
          <a:lstStyle/>
          <a:p>
            <a:pPr algn="l">
              <a:lnSpc>
                <a:spcPct val="125000"/>
              </a:lnSpc>
              <a:spcAft>
                <a:spcPts val="0"/>
              </a:spcAft>
            </a:pPr>
            <a:r>
              <a:rPr sz="1200" b="0" i="0" dirty="0" err="1">
                <a:solidFill>
                  <a:srgbClr val="C3D2EA"/>
                </a:solidFill>
                <a:latin typeface="Meiryo UI" panose="020B0604030504040204" pitchFamily="50" charset="-128"/>
              </a:rPr>
              <a:t>シリーズファン以外にも興味を持ってもらえる入口を作る</a:t>
            </a:r>
            <a:endParaRPr sz="1200" b="0" i="0" dirty="0">
              <a:solidFill>
                <a:srgbClr val="C3D2EA"/>
              </a:solidFill>
              <a:latin typeface="Meiryo UI" panose="020B0604030504040204" pitchFamily="50" charset="-128"/>
            </a:endParaRPr>
          </a:p>
        </p:txBody>
      </p:sp>
      <p:sp>
        <p:nvSpPr>
          <p:cNvPr id="104" name="TextBox 103"/>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05" name="TextBox 104"/>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03 /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pic>
        <p:nvPicPr>
          <p:cNvPr id="104" name="図 103" descr="キングダムハーツ キャラクター解説 ソラ編 :: Hearts &amp; Keys">
            <a:extLst>
              <a:ext uri="{FF2B5EF4-FFF2-40B4-BE49-F238E27FC236}">
                <a16:creationId xmlns:a16="http://schemas.microsoft.com/office/drawing/2014/main" id="{B2FEBB07-FE5F-EC79-EA2A-F4145DFB225F}"/>
              </a:ext>
            </a:extLst>
          </p:cNvPr>
          <p:cNvPicPr>
            <a:picLocks noChangeAspect="1"/>
          </p:cNvPicPr>
          <p:nvPr/>
        </p:nvPicPr>
        <p:blipFill>
          <a:blip r:embed="rId3"/>
          <a:stretch>
            <a:fillRect/>
          </a:stretch>
        </p:blipFill>
        <p:spPr>
          <a:xfrm>
            <a:off x="34844" y="-13615"/>
            <a:ext cx="12187738" cy="6855603"/>
          </a:xfrm>
          <a:prstGeom prst="rect">
            <a:avLst/>
          </a:prstGeom>
          <a:gradFill>
            <a:gsLst>
              <a:gs pos="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127000">
              <a:schemeClr val="accent1">
                <a:alpha val="0"/>
              </a:schemeClr>
            </a:glow>
            <a:outerShdw dist="50800" dir="5400000" algn="ctr" rotWithShape="0">
              <a:srgbClr val="000000"/>
            </a:outerShdw>
            <a:reflection stA="47000" endPos="47000" dir="5400000" sy="-100000" algn="bl" rotWithShape="0"/>
            <a:softEdge rad="1270000"/>
          </a:effectLst>
        </p:spPr>
      </p:pic>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613148" y="-10017252"/>
            <a:ext cx="11622023" cy="11622023"/>
          </a:xfrm>
          <a:prstGeom prst="ellipse">
            <a:avLst/>
          </a:prstGeom>
          <a:solidFill>
            <a:srgbClr val="9AD5FF">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754880" y="-9875520"/>
            <a:ext cx="11338560" cy="11338560"/>
          </a:xfrm>
          <a:prstGeom prst="ellipse">
            <a:avLst/>
          </a:prstGeom>
          <a:noFill/>
          <a:ln w="330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342278" y="-8288121"/>
            <a:ext cx="8163763" cy="8163763"/>
          </a:xfrm>
          <a:prstGeom prst="ellipse">
            <a:avLst/>
          </a:prstGeom>
          <a:noFill/>
          <a:ln w="2540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816291" y="-6814108"/>
            <a:ext cx="5215737" cy="5215737"/>
          </a:xfrm>
          <a:prstGeom prst="ellipse">
            <a:avLst/>
          </a:prstGeom>
          <a:noFill/>
          <a:ln w="203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2833516" y="-3208251"/>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15177549" y="-2336951"/>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11422148" y="-1796883"/>
            <a:ext cx="1041379" cy="2514110"/>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12293448" y="547149"/>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8384792" y="-1796883"/>
            <a:ext cx="1041379" cy="2514110"/>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8214714" y="547149"/>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5500692" y="-3208251"/>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5330613" y="-2336951"/>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5500692" y="-6245607"/>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5330613" y="-6415685"/>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8384792" y="-9129707"/>
            <a:ext cx="1041379" cy="2514111"/>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8214714" y="-9299786"/>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1422148" y="-9129707"/>
            <a:ext cx="1041379" cy="2514111"/>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12293448" y="-9299786"/>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12833516" y="-6245607"/>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5177549" y="-6415685"/>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1289645" y="3115542"/>
            <a:ext cx="91731" cy="91731"/>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iamond 33"/>
          <p:cNvSpPr/>
          <p:nvPr/>
        </p:nvSpPr>
        <p:spPr>
          <a:xfrm>
            <a:off x="2834923" y="798138"/>
            <a:ext cx="84300" cy="84300"/>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iamond 34"/>
          <p:cNvSpPr/>
          <p:nvPr/>
        </p:nvSpPr>
        <p:spPr>
          <a:xfrm>
            <a:off x="4686247" y="5770786"/>
            <a:ext cx="101544" cy="101544"/>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iamond 35"/>
          <p:cNvSpPr/>
          <p:nvPr/>
        </p:nvSpPr>
        <p:spPr>
          <a:xfrm>
            <a:off x="1367056" y="1683096"/>
            <a:ext cx="98724" cy="98724"/>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48677" y="977023"/>
            <a:ext cx="53889" cy="53889"/>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486732" y="2828486"/>
            <a:ext cx="92649" cy="92649"/>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049275" y="5136279"/>
            <a:ext cx="82365" cy="82365"/>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210888" y="2581468"/>
            <a:ext cx="82866" cy="82866"/>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iamond 40"/>
          <p:cNvSpPr/>
          <p:nvPr/>
        </p:nvSpPr>
        <p:spPr>
          <a:xfrm>
            <a:off x="7298661" y="3228295"/>
            <a:ext cx="61783" cy="61783"/>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844715" y="6362982"/>
            <a:ext cx="102468" cy="102468"/>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05413" y="4659943"/>
            <a:ext cx="64697" cy="64697"/>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Diamond 43"/>
          <p:cNvSpPr/>
          <p:nvPr/>
        </p:nvSpPr>
        <p:spPr>
          <a:xfrm>
            <a:off x="2067505" y="2894019"/>
            <a:ext cx="61895" cy="61895"/>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rot="19800000">
            <a:off x="9644652" y="5804223"/>
            <a:ext cx="55497" cy="369986"/>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5-Point Star 45"/>
          <p:cNvSpPr/>
          <p:nvPr/>
        </p:nvSpPr>
        <p:spPr>
          <a:xfrm>
            <a:off x="9539822" y="5594565"/>
            <a:ext cx="283656" cy="283656"/>
          </a:xfrm>
          <a:prstGeom prst="star5">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4-Point Star 46"/>
          <p:cNvSpPr/>
          <p:nvPr/>
        </p:nvSpPr>
        <p:spPr>
          <a:xfrm>
            <a:off x="9459659" y="5841222"/>
            <a:ext cx="98663" cy="98663"/>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4-Point Star 47"/>
          <p:cNvSpPr/>
          <p:nvPr/>
        </p:nvSpPr>
        <p:spPr>
          <a:xfrm>
            <a:off x="9410327" y="5964551"/>
            <a:ext cx="67830" cy="67830"/>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rot="19800000">
            <a:off x="9681052" y="1871205"/>
            <a:ext cx="44778" cy="298522"/>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5-Point Star 49"/>
          <p:cNvSpPr/>
          <p:nvPr/>
        </p:nvSpPr>
        <p:spPr>
          <a:xfrm>
            <a:off x="9596470" y="1702043"/>
            <a:ext cx="228867" cy="228867"/>
          </a:xfrm>
          <a:prstGeom prst="star5">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4-Point Star 50"/>
          <p:cNvSpPr/>
          <p:nvPr/>
        </p:nvSpPr>
        <p:spPr>
          <a:xfrm>
            <a:off x="9531791" y="1901057"/>
            <a:ext cx="79605" cy="79605"/>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4-Point Star 51"/>
          <p:cNvSpPr/>
          <p:nvPr/>
        </p:nvSpPr>
        <p:spPr>
          <a:xfrm>
            <a:off x="9491988" y="2000565"/>
            <a:ext cx="54729" cy="54729"/>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rot="19800000">
            <a:off x="5805857" y="943387"/>
            <a:ext cx="61666" cy="411112"/>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5-Point Star 53"/>
          <p:cNvSpPr/>
          <p:nvPr/>
        </p:nvSpPr>
        <p:spPr>
          <a:xfrm>
            <a:off x="5689375" y="710424"/>
            <a:ext cx="315186" cy="315186"/>
          </a:xfrm>
          <a:prstGeom prst="star5">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4-Point Star 54"/>
          <p:cNvSpPr/>
          <p:nvPr/>
        </p:nvSpPr>
        <p:spPr>
          <a:xfrm>
            <a:off x="5600301" y="984499"/>
            <a:ext cx="109630" cy="109630"/>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4-Point Star 55"/>
          <p:cNvSpPr/>
          <p:nvPr/>
        </p:nvSpPr>
        <p:spPr>
          <a:xfrm>
            <a:off x="5545486" y="1121536"/>
            <a:ext cx="75370" cy="75370"/>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506876" y="2080405"/>
            <a:ext cx="555329" cy="201937"/>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2118" y="1935262"/>
            <a:ext cx="100968" cy="189316"/>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Isosceles Triangle 58"/>
          <p:cNvSpPr/>
          <p:nvPr/>
        </p:nvSpPr>
        <p:spPr>
          <a:xfrm>
            <a:off x="7532118" y="1846915"/>
            <a:ext cx="100968" cy="88347"/>
          </a:xfrm>
          <a:prstGeom prst="triangle">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7734056" y="1796430"/>
            <a:ext cx="100968" cy="328149"/>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Isosceles Triangle 60"/>
          <p:cNvSpPr/>
          <p:nvPr/>
        </p:nvSpPr>
        <p:spPr>
          <a:xfrm>
            <a:off x="7734056" y="1708082"/>
            <a:ext cx="100968" cy="88347"/>
          </a:xfrm>
          <a:prstGeom prst="triangle">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910752" y="1935262"/>
            <a:ext cx="100968" cy="189316"/>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Isosceles Triangle 62"/>
          <p:cNvSpPr/>
          <p:nvPr/>
        </p:nvSpPr>
        <p:spPr>
          <a:xfrm>
            <a:off x="7910752" y="1846915"/>
            <a:ext cx="100968" cy="88347"/>
          </a:xfrm>
          <a:prstGeom prst="triangle">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7746677" y="2162443"/>
            <a:ext cx="75726" cy="119900"/>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SITE MAP</a:t>
            </a:r>
          </a:p>
        </p:txBody>
      </p:sp>
      <p:sp>
        <p:nvSpPr>
          <p:cNvPr id="66" name="Rectangle 65"/>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ページ構成図</a:t>
            </a:r>
            <a:endParaRPr sz="2700" b="1" i="0" dirty="0">
              <a:solidFill>
                <a:srgbClr val="EEF4FF"/>
              </a:solidFill>
              <a:latin typeface="Meiryo UI" panose="020B0604030504040204" pitchFamily="50" charset="-128"/>
            </a:endParaRPr>
          </a:p>
        </p:txBody>
      </p:sp>
      <p:sp>
        <p:nvSpPr>
          <p:cNvPr id="72" name="Oval 71"/>
          <p:cNvSpPr>
            <a:spLocks noGrp="1" noRot="1" noMove="1" noResize="1" noEditPoints="1" noAdjustHandles="1" noChangeArrowheads="1" noChangeShapeType="1"/>
          </p:cNvSpPr>
          <p:nvPr/>
        </p:nvSpPr>
        <p:spPr>
          <a:xfrm>
            <a:off x="4952390" y="2815391"/>
            <a:ext cx="1737360" cy="1737360"/>
          </a:xfrm>
          <a:prstGeom prst="ellipse">
            <a:avLst/>
          </a:prstGeom>
          <a:solidFill>
            <a:srgbClr val="0A1630"/>
          </a:solidFill>
          <a:ln w="15875">
            <a:solidFill>
              <a:srgbClr val="E6D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cxnSp>
        <p:nvCxnSpPr>
          <p:cNvPr id="120" name="Connector 119"/>
          <p:cNvCxnSpPr/>
          <p:nvPr/>
        </p:nvCxnSpPr>
        <p:spPr>
          <a:xfrm flipH="1" flipV="1">
            <a:off x="2985516" y="2125980"/>
            <a:ext cx="2835554" cy="1558091"/>
          </a:xfrm>
          <a:prstGeom prst="line">
            <a:avLst/>
          </a:prstGeom>
          <a:ln w="22225">
            <a:solidFill>
              <a:srgbClr val="2A6BB5"/>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5821070" y="2125980"/>
            <a:ext cx="273406" cy="1558091"/>
          </a:xfrm>
          <a:prstGeom prst="line">
            <a:avLst/>
          </a:prstGeom>
          <a:ln w="22225">
            <a:solidFill>
              <a:srgbClr val="2A6BB5"/>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5821070" y="2125980"/>
            <a:ext cx="3382366" cy="1558091"/>
          </a:xfrm>
          <a:prstGeom prst="line">
            <a:avLst/>
          </a:prstGeom>
          <a:ln w="22225">
            <a:solidFill>
              <a:srgbClr val="2A6BB5"/>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a:off x="2985516" y="3684071"/>
            <a:ext cx="2835554" cy="1642309"/>
          </a:xfrm>
          <a:prstGeom prst="line">
            <a:avLst/>
          </a:prstGeom>
          <a:ln w="22225">
            <a:solidFill>
              <a:srgbClr val="2A6BB5"/>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5821070" y="3684071"/>
            <a:ext cx="273406" cy="1642309"/>
          </a:xfrm>
          <a:prstGeom prst="line">
            <a:avLst/>
          </a:prstGeom>
          <a:ln w="22225">
            <a:solidFill>
              <a:srgbClr val="2A6BB5"/>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821070" y="3684071"/>
            <a:ext cx="3382366" cy="1642309"/>
          </a:xfrm>
          <a:prstGeom prst="line">
            <a:avLst/>
          </a:prstGeom>
          <a:ln w="22225">
            <a:solidFill>
              <a:srgbClr val="2A6BB5"/>
            </a:solidFill>
          </a:ln>
        </p:spPr>
        <p:style>
          <a:lnRef idx="2">
            <a:schemeClr val="accent1"/>
          </a:lnRef>
          <a:fillRef idx="0">
            <a:schemeClr val="accent1"/>
          </a:fillRef>
          <a:effectRef idx="1">
            <a:schemeClr val="accent1"/>
          </a:effectRef>
          <a:fontRef idx="minor">
            <a:schemeClr val="tx1"/>
          </a:fontRef>
        </p:style>
      </p:cxnSp>
      <p:sp>
        <p:nvSpPr>
          <p:cNvPr id="73" name="Heart 72"/>
          <p:cNvSpPr/>
          <p:nvPr/>
        </p:nvSpPr>
        <p:spPr>
          <a:xfrm>
            <a:off x="5558712" y="2971743"/>
            <a:ext cx="555955" cy="555955"/>
          </a:xfrm>
          <a:prstGeom prst="heart">
            <a:avLst/>
          </a:prstGeom>
          <a:noFill/>
          <a:ln w="19050">
            <a:solidFill>
              <a:srgbClr val="E6D5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91913" y="3167264"/>
            <a:ext cx="88952" cy="88952"/>
          </a:xfrm>
          <a:prstGeom prst="ellipse">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Isosceles Triangle 74"/>
          <p:cNvSpPr/>
          <p:nvPr/>
        </p:nvSpPr>
        <p:spPr>
          <a:xfrm>
            <a:off x="5801606" y="3228923"/>
            <a:ext cx="88952" cy="122310"/>
          </a:xfrm>
          <a:prstGeom prst="triangle">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977402" y="3566160"/>
            <a:ext cx="1737360" cy="274320"/>
          </a:xfrm>
          <a:prstGeom prst="rect">
            <a:avLst/>
          </a:prstGeom>
          <a:noFill/>
        </p:spPr>
        <p:txBody>
          <a:bodyPr wrap="square" lIns="0" tIns="0" rIns="0" bIns="0" anchor="t">
            <a:spAutoFit/>
          </a:bodyPr>
          <a:lstStyle/>
          <a:p>
            <a:pPr algn="ctr">
              <a:lnSpc>
                <a:spcPct val="100000"/>
              </a:lnSpc>
              <a:spcAft>
                <a:spcPts val="0"/>
              </a:spcAft>
            </a:pPr>
            <a:r>
              <a:rPr sz="1600" b="1" i="0" spc="100" dirty="0">
                <a:solidFill>
                  <a:srgbClr val="EEF4FF"/>
                </a:solidFill>
                <a:latin typeface="Georgia"/>
              </a:rPr>
              <a:t>TOP</a:t>
            </a:r>
          </a:p>
        </p:txBody>
      </p:sp>
      <p:sp>
        <p:nvSpPr>
          <p:cNvPr id="77" name="TextBox 76"/>
          <p:cNvSpPr txBox="1"/>
          <p:nvPr/>
        </p:nvSpPr>
        <p:spPr>
          <a:xfrm>
            <a:off x="5131640" y="3867912"/>
            <a:ext cx="1371600" cy="335156"/>
          </a:xfrm>
          <a:prstGeom prst="rect">
            <a:avLst/>
          </a:prstGeom>
          <a:noFill/>
        </p:spPr>
        <p:txBody>
          <a:bodyPr wrap="square" lIns="0" tIns="0" rIns="0" bIns="0" anchor="t">
            <a:spAutoFit/>
          </a:bodyPr>
          <a:lstStyle/>
          <a:p>
            <a:pPr algn="ctr">
              <a:lnSpc>
                <a:spcPct val="115000"/>
              </a:lnSpc>
              <a:spcAft>
                <a:spcPts val="0"/>
              </a:spcAft>
            </a:pPr>
            <a:r>
              <a:rPr sz="1000" b="0" i="0" dirty="0" err="1">
                <a:solidFill>
                  <a:srgbClr val="7D8FAE"/>
                </a:solidFill>
                <a:latin typeface="Meiryo UI" panose="020B0604030504040204" pitchFamily="50" charset="-128"/>
              </a:rPr>
              <a:t>サイトの世界観を体験する入口</a:t>
            </a:r>
            <a:endParaRPr sz="1000" b="0" i="0" dirty="0">
              <a:solidFill>
                <a:srgbClr val="7D8FAE"/>
              </a:solidFill>
              <a:latin typeface="Meiryo UI" panose="020B0604030504040204" pitchFamily="50" charset="-128"/>
            </a:endParaRPr>
          </a:p>
        </p:txBody>
      </p:sp>
      <p:sp>
        <p:nvSpPr>
          <p:cNvPr id="78" name="Rounded Rectangle 77"/>
          <p:cNvSpPr/>
          <p:nvPr/>
        </p:nvSpPr>
        <p:spPr>
          <a:xfrm>
            <a:off x="1659636" y="1508760"/>
            <a:ext cx="265176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481154" y="1345957"/>
            <a:ext cx="365760" cy="365760"/>
          </a:xfrm>
          <a:prstGeom prst="ellipse">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0" name="TextBox 79"/>
          <p:cNvSpPr txBox="1"/>
          <p:nvPr/>
        </p:nvSpPr>
        <p:spPr>
          <a:xfrm>
            <a:off x="1495474" y="1336294"/>
            <a:ext cx="365760" cy="365760"/>
          </a:xfrm>
          <a:prstGeom prst="rect">
            <a:avLst/>
          </a:prstGeom>
          <a:noFill/>
        </p:spPr>
        <p:txBody>
          <a:bodyPr wrap="square" lIns="0" tIns="0" rIns="0" bIns="0" anchor="ctr">
            <a:spAutoFit/>
          </a:bodyPr>
          <a:lstStyle/>
          <a:p>
            <a:pPr algn="ctr">
              <a:lnSpc>
                <a:spcPct val="100000"/>
              </a:lnSpc>
              <a:spcAft>
                <a:spcPts val="0"/>
              </a:spcAft>
            </a:pPr>
            <a:r>
              <a:rPr sz="1400" b="1" i="0" dirty="0">
                <a:solidFill>
                  <a:srgbClr val="EEF4FF"/>
                </a:solidFill>
                <a:latin typeface="Georgia"/>
              </a:rPr>
              <a:t>1</a:t>
            </a:r>
          </a:p>
        </p:txBody>
      </p:sp>
      <p:sp>
        <p:nvSpPr>
          <p:cNvPr id="81" name="TextBox 80"/>
          <p:cNvSpPr txBox="1"/>
          <p:nvPr/>
        </p:nvSpPr>
        <p:spPr>
          <a:xfrm>
            <a:off x="1783295" y="1618411"/>
            <a:ext cx="2286000" cy="274320"/>
          </a:xfrm>
          <a:prstGeom prst="rect">
            <a:avLst/>
          </a:prstGeom>
          <a:noFill/>
        </p:spPr>
        <p:txBody>
          <a:bodyPr wrap="square" lIns="0" tIns="0" rIns="0" bIns="0" anchor="t">
            <a:spAutoFit/>
          </a:bodyPr>
          <a:lstStyle/>
          <a:p>
            <a:pPr algn="l">
              <a:lnSpc>
                <a:spcPct val="100000"/>
              </a:lnSpc>
              <a:spcAft>
                <a:spcPts val="0"/>
              </a:spcAft>
            </a:pPr>
            <a:r>
              <a:rPr sz="1200" b="1" i="0" spc="50" dirty="0">
                <a:solidFill>
                  <a:srgbClr val="9AD5FF"/>
                </a:solidFill>
                <a:latin typeface="Georgia"/>
              </a:rPr>
              <a:t>MEMORY ALBUM</a:t>
            </a:r>
          </a:p>
        </p:txBody>
      </p:sp>
      <p:sp>
        <p:nvSpPr>
          <p:cNvPr id="82" name="TextBox 81"/>
          <p:cNvSpPr txBox="1"/>
          <p:nvPr/>
        </p:nvSpPr>
        <p:spPr>
          <a:xfrm>
            <a:off x="1846914" y="1910427"/>
            <a:ext cx="2286000" cy="186718"/>
          </a:xfrm>
          <a:prstGeom prst="rect">
            <a:avLst/>
          </a:prstGeom>
          <a:noFill/>
        </p:spPr>
        <p:txBody>
          <a:bodyPr wrap="square" lIns="0" tIns="0" rIns="0" bIns="0" anchor="t">
            <a:spAutoFit/>
          </a:bodyPr>
          <a:lstStyle/>
          <a:p>
            <a:pPr algn="l">
              <a:lnSpc>
                <a:spcPct val="125000"/>
              </a:lnSpc>
              <a:spcAft>
                <a:spcPts val="0"/>
              </a:spcAft>
            </a:pPr>
            <a:r>
              <a:rPr sz="950" b="0" i="0" dirty="0" err="1">
                <a:solidFill>
                  <a:srgbClr val="C3D2EA"/>
                </a:solidFill>
                <a:latin typeface="Meiryo UI" panose="020B0604030504040204" pitchFamily="50" charset="-128"/>
              </a:rPr>
              <a:t>作品・ワールド・キャラクターの記憶を年代順に閲覧</a:t>
            </a:r>
            <a:endParaRPr sz="1100" b="0" i="0" dirty="0">
              <a:solidFill>
                <a:srgbClr val="C3D2EA"/>
              </a:solidFill>
              <a:latin typeface="Meiryo UI" panose="020B0604030504040204" pitchFamily="50" charset="-128"/>
            </a:endParaRPr>
          </a:p>
        </p:txBody>
      </p:sp>
      <p:sp>
        <p:nvSpPr>
          <p:cNvPr id="83" name="Rounded Rectangle 82"/>
          <p:cNvSpPr/>
          <p:nvPr/>
        </p:nvSpPr>
        <p:spPr>
          <a:xfrm>
            <a:off x="4768596" y="1508760"/>
            <a:ext cx="265176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4594640" y="1409331"/>
            <a:ext cx="365760" cy="365760"/>
          </a:xfrm>
          <a:prstGeom prst="ellipse">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613113" y="1401666"/>
            <a:ext cx="365760" cy="365760"/>
          </a:xfrm>
          <a:prstGeom prst="rect">
            <a:avLst/>
          </a:prstGeom>
          <a:noFill/>
        </p:spPr>
        <p:txBody>
          <a:bodyPr wrap="square" lIns="0" tIns="0" rIns="0" bIns="0" anchor="ctr">
            <a:spAutoFit/>
          </a:bodyPr>
          <a:lstStyle/>
          <a:p>
            <a:pPr algn="ctr">
              <a:lnSpc>
                <a:spcPct val="100000"/>
              </a:lnSpc>
              <a:spcAft>
                <a:spcPts val="0"/>
              </a:spcAft>
            </a:pPr>
            <a:r>
              <a:rPr sz="1400" b="1" i="0" dirty="0">
                <a:solidFill>
                  <a:srgbClr val="EEF4FF"/>
                </a:solidFill>
                <a:latin typeface="Georgia"/>
              </a:rPr>
              <a:t>2</a:t>
            </a:r>
          </a:p>
        </p:txBody>
      </p:sp>
      <p:sp>
        <p:nvSpPr>
          <p:cNvPr id="86" name="TextBox 85"/>
          <p:cNvSpPr txBox="1"/>
          <p:nvPr/>
        </p:nvSpPr>
        <p:spPr>
          <a:xfrm>
            <a:off x="4943661" y="1620145"/>
            <a:ext cx="2286000" cy="274320"/>
          </a:xfrm>
          <a:prstGeom prst="rect">
            <a:avLst/>
          </a:prstGeom>
          <a:noFill/>
        </p:spPr>
        <p:txBody>
          <a:bodyPr wrap="square" lIns="0" tIns="0" rIns="0" bIns="0" anchor="t">
            <a:spAutoFit/>
          </a:bodyPr>
          <a:lstStyle/>
          <a:p>
            <a:pPr algn="l">
              <a:lnSpc>
                <a:spcPct val="100000"/>
              </a:lnSpc>
              <a:spcAft>
                <a:spcPts val="0"/>
              </a:spcAft>
            </a:pPr>
            <a:r>
              <a:rPr sz="1200" b="1" i="0" spc="50" dirty="0">
                <a:solidFill>
                  <a:srgbClr val="9AD5FF"/>
                </a:solidFill>
                <a:latin typeface="Georgia"/>
              </a:rPr>
              <a:t>TIMELINE</a:t>
            </a:r>
          </a:p>
        </p:txBody>
      </p:sp>
      <p:sp>
        <p:nvSpPr>
          <p:cNvPr id="87" name="TextBox 86"/>
          <p:cNvSpPr txBox="1"/>
          <p:nvPr/>
        </p:nvSpPr>
        <p:spPr>
          <a:xfrm>
            <a:off x="4951476" y="2004194"/>
            <a:ext cx="2286000" cy="372859"/>
          </a:xfrm>
          <a:prstGeom prst="rect">
            <a:avLst/>
          </a:prstGeom>
          <a:noFill/>
        </p:spPr>
        <p:txBody>
          <a:bodyPr wrap="square" lIns="0" tIns="0" rIns="0" bIns="0" anchor="t">
            <a:spAutoFit/>
          </a:bodyPr>
          <a:lstStyle/>
          <a:p>
            <a:pPr algn="l">
              <a:lnSpc>
                <a:spcPct val="125000"/>
              </a:lnSpc>
              <a:spcAft>
                <a:spcPts val="0"/>
              </a:spcAft>
            </a:pPr>
            <a:r>
              <a:rPr sz="950" b="0" i="0" dirty="0" err="1">
                <a:solidFill>
                  <a:srgbClr val="C3D2EA"/>
                </a:solidFill>
                <a:latin typeface="Meiryo UI" panose="020B0604030504040204" pitchFamily="50" charset="-128"/>
              </a:rPr>
              <a:t>発売日順・時系列順の2つの年表で全12作品を整理</a:t>
            </a:r>
            <a:endParaRPr sz="950" b="0" i="0" dirty="0">
              <a:solidFill>
                <a:srgbClr val="C3D2EA"/>
              </a:solidFill>
              <a:latin typeface="Meiryo UI" panose="020B0604030504040204" pitchFamily="50" charset="-128"/>
            </a:endParaRPr>
          </a:p>
        </p:txBody>
      </p:sp>
      <p:sp>
        <p:nvSpPr>
          <p:cNvPr id="88" name="Rounded Rectangle 87"/>
          <p:cNvSpPr/>
          <p:nvPr/>
        </p:nvSpPr>
        <p:spPr>
          <a:xfrm>
            <a:off x="7877556" y="1508760"/>
            <a:ext cx="265176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7715953" y="1381148"/>
            <a:ext cx="365760" cy="365760"/>
          </a:xfrm>
          <a:prstGeom prst="ellipse">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715953" y="1376740"/>
            <a:ext cx="365760" cy="365760"/>
          </a:xfrm>
          <a:prstGeom prst="rect">
            <a:avLst/>
          </a:prstGeom>
          <a:noFill/>
        </p:spPr>
        <p:txBody>
          <a:bodyPr wrap="square" lIns="0" tIns="0" rIns="0" bIns="0" anchor="ctr">
            <a:spAutoFit/>
          </a:bodyPr>
          <a:lstStyle/>
          <a:p>
            <a:pPr algn="ctr">
              <a:lnSpc>
                <a:spcPct val="100000"/>
              </a:lnSpc>
              <a:spcAft>
                <a:spcPts val="0"/>
              </a:spcAft>
            </a:pPr>
            <a:r>
              <a:rPr sz="1400" b="1" i="0">
                <a:solidFill>
                  <a:srgbClr val="EEF4FF"/>
                </a:solidFill>
                <a:latin typeface="Georgia"/>
              </a:rPr>
              <a:t>3</a:t>
            </a:r>
          </a:p>
        </p:txBody>
      </p:sp>
      <p:sp>
        <p:nvSpPr>
          <p:cNvPr id="91" name="TextBox 90"/>
          <p:cNvSpPr txBox="1"/>
          <p:nvPr/>
        </p:nvSpPr>
        <p:spPr>
          <a:xfrm>
            <a:off x="8037118" y="1629959"/>
            <a:ext cx="2286000" cy="274320"/>
          </a:xfrm>
          <a:prstGeom prst="rect">
            <a:avLst/>
          </a:prstGeom>
          <a:noFill/>
        </p:spPr>
        <p:txBody>
          <a:bodyPr wrap="square" lIns="0" tIns="0" rIns="0" bIns="0" anchor="t">
            <a:spAutoFit/>
          </a:bodyPr>
          <a:lstStyle/>
          <a:p>
            <a:pPr algn="l">
              <a:lnSpc>
                <a:spcPct val="100000"/>
              </a:lnSpc>
              <a:spcAft>
                <a:spcPts val="0"/>
              </a:spcAft>
            </a:pPr>
            <a:r>
              <a:rPr sz="1200" b="1" i="0" spc="50" dirty="0">
                <a:solidFill>
                  <a:srgbClr val="9AD5FF"/>
                </a:solidFill>
                <a:latin typeface="Georgia"/>
              </a:rPr>
              <a:t>MEMORY THEMES</a:t>
            </a:r>
          </a:p>
        </p:txBody>
      </p:sp>
      <p:sp>
        <p:nvSpPr>
          <p:cNvPr id="92" name="TextBox 91"/>
          <p:cNvSpPr txBox="1"/>
          <p:nvPr/>
        </p:nvSpPr>
        <p:spPr>
          <a:xfrm>
            <a:off x="8033340" y="1957220"/>
            <a:ext cx="2286000" cy="344005"/>
          </a:xfrm>
          <a:prstGeom prst="rect">
            <a:avLst/>
          </a:prstGeom>
          <a:noFill/>
        </p:spPr>
        <p:txBody>
          <a:bodyPr wrap="square" lIns="0" tIns="0" rIns="0" bIns="0" anchor="t">
            <a:spAutoFit/>
          </a:bodyPr>
          <a:lstStyle/>
          <a:p>
            <a:pPr algn="l">
              <a:lnSpc>
                <a:spcPct val="125000"/>
              </a:lnSpc>
              <a:spcAft>
                <a:spcPts val="0"/>
              </a:spcAft>
            </a:pPr>
            <a:r>
              <a:rPr sz="950" b="0" i="0" dirty="0">
                <a:solidFill>
                  <a:srgbClr val="C3D2EA"/>
                </a:solidFill>
                <a:latin typeface="Meiryo UI" panose="020B0604030504040204" pitchFamily="50" charset="-128"/>
              </a:rPr>
              <a:t>代表曲を場面の解説とともに紹介。試聴や配信リンクも</a:t>
            </a:r>
          </a:p>
        </p:txBody>
      </p:sp>
      <p:cxnSp>
        <p:nvCxnSpPr>
          <p:cNvPr id="93" name="Connector 92"/>
          <p:cNvCxnSpPr/>
          <p:nvPr/>
        </p:nvCxnSpPr>
        <p:spPr>
          <a:xfrm>
            <a:off x="822960" y="6355080"/>
            <a:ext cx="320040" cy="0"/>
          </a:xfrm>
          <a:prstGeom prst="line">
            <a:avLst/>
          </a:prstGeom>
          <a:ln w="25400">
            <a:solidFill>
              <a:srgbClr val="2A6BB5"/>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1234440" y="6217920"/>
            <a:ext cx="4114800" cy="138499"/>
          </a:xfrm>
          <a:prstGeom prst="rect">
            <a:avLst/>
          </a:prstGeom>
          <a:noFill/>
        </p:spPr>
        <p:txBody>
          <a:bodyPr wrap="square" lIns="0" tIns="0" rIns="0" bIns="0" anchor="t">
            <a:spAutoFit/>
          </a:bodyPr>
          <a:lstStyle/>
          <a:p>
            <a:pPr algn="l">
              <a:lnSpc>
                <a:spcPct val="100000"/>
              </a:lnSpc>
              <a:spcAft>
                <a:spcPts val="0"/>
              </a:spcAft>
            </a:pPr>
            <a:r>
              <a:rPr sz="900" b="0" i="0" dirty="0" err="1">
                <a:solidFill>
                  <a:srgbClr val="7D8FAE"/>
                </a:solidFill>
                <a:latin typeface="Meiryo UI" panose="020B0604030504040204" pitchFamily="50" charset="-128"/>
              </a:rPr>
              <a:t>常時アクセス可能なナビゲーション</a:t>
            </a:r>
            <a:endParaRPr sz="900" b="0" i="0" dirty="0">
              <a:solidFill>
                <a:srgbClr val="7D8FAE"/>
              </a:solidFill>
              <a:latin typeface="Meiryo UI" panose="020B0604030504040204" pitchFamily="50" charset="-128"/>
            </a:endParaRPr>
          </a:p>
        </p:txBody>
      </p:sp>
      <p:sp>
        <p:nvSpPr>
          <p:cNvPr id="105" name="Rounded Rectangle 77"/>
          <p:cNvSpPr/>
          <p:nvPr/>
        </p:nvSpPr>
        <p:spPr>
          <a:xfrm>
            <a:off x="1659636" y="4709160"/>
            <a:ext cx="265176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78"/>
          <p:cNvSpPr/>
          <p:nvPr/>
        </p:nvSpPr>
        <p:spPr>
          <a:xfrm>
            <a:off x="1481154" y="4546357"/>
            <a:ext cx="365760" cy="365760"/>
          </a:xfrm>
          <a:prstGeom prst="ellipse">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7" name="TextBox 79"/>
          <p:cNvSpPr txBox="1"/>
          <p:nvPr/>
        </p:nvSpPr>
        <p:spPr>
          <a:xfrm>
            <a:off x="1495474" y="4536694"/>
            <a:ext cx="365760" cy="365760"/>
          </a:xfrm>
          <a:prstGeom prst="rect">
            <a:avLst/>
          </a:prstGeom>
          <a:noFill/>
        </p:spPr>
        <p:txBody>
          <a:bodyPr wrap="square" lIns="0" tIns="0" rIns="0" bIns="0" anchor="ctr">
            <a:spAutoFit/>
          </a:bodyPr>
          <a:lstStyle/>
          <a:p>
            <a:pPr algn="ctr">
              <a:lnSpc>
                <a:spcPct val="100000"/>
              </a:lnSpc>
              <a:spcAft>
                <a:spcPts val="0"/>
              </a:spcAft>
            </a:pPr>
            <a:r>
              <a:rPr sz="1400" b="1" i="0" dirty="0">
                <a:solidFill>
                  <a:srgbClr val="EEF4FF"/>
                </a:solidFill>
                <a:latin typeface="Georgia"/>
              </a:rPr>
              <a:t>4</a:t>
            </a:r>
          </a:p>
        </p:txBody>
      </p:sp>
      <p:sp>
        <p:nvSpPr>
          <p:cNvPr id="108" name="TextBox 80"/>
          <p:cNvSpPr txBox="1"/>
          <p:nvPr/>
        </p:nvSpPr>
        <p:spPr>
          <a:xfrm>
            <a:off x="1783295" y="4818811"/>
            <a:ext cx="2286000" cy="274320"/>
          </a:xfrm>
          <a:prstGeom prst="rect">
            <a:avLst/>
          </a:prstGeom>
          <a:noFill/>
        </p:spPr>
        <p:txBody>
          <a:bodyPr wrap="square" lIns="0" tIns="0" rIns="0" bIns="0" anchor="t">
            <a:spAutoFit/>
          </a:bodyPr>
          <a:lstStyle/>
          <a:p>
            <a:pPr algn="l">
              <a:lnSpc>
                <a:spcPct val="100000"/>
              </a:lnSpc>
              <a:spcAft>
                <a:spcPts val="0"/>
              </a:spcAft>
            </a:pPr>
            <a:r>
              <a:rPr sz="1200" b="1" i="0" spc="50" dirty="0">
                <a:solidFill>
                  <a:srgbClr val="9AD5FF"/>
                </a:solidFill>
                <a:latin typeface="Georgia"/>
              </a:rPr>
              <a:t>MEMORY OF SUMMER</a:t>
            </a:r>
          </a:p>
        </p:txBody>
      </p:sp>
      <p:sp>
        <p:nvSpPr>
          <p:cNvPr id="109" name="TextBox 81"/>
          <p:cNvSpPr txBox="1"/>
          <p:nvPr/>
        </p:nvSpPr>
        <p:spPr>
          <a:xfrm>
            <a:off x="1846914" y="5110827"/>
            <a:ext cx="2286000" cy="186718"/>
          </a:xfrm>
          <a:prstGeom prst="rect">
            <a:avLst/>
          </a:prstGeom>
          <a:noFill/>
        </p:spPr>
        <p:txBody>
          <a:bodyPr wrap="square" lIns="0" tIns="0" rIns="0" bIns="0" anchor="t">
            <a:spAutoFit/>
          </a:bodyPr>
          <a:lstStyle/>
          <a:p>
            <a:pPr algn="l">
              <a:lnSpc>
                <a:spcPct val="125000"/>
              </a:lnSpc>
              <a:spcAft>
                <a:spcPts val="0"/>
              </a:spcAft>
            </a:pPr>
            <a:r>
              <a:rPr sz="950" b="0" i="0" dirty="0" err="1">
                <a:solidFill>
                  <a:srgbClr val="C3D2EA"/>
                </a:solidFill>
                <a:latin typeface="Meiryo UI" panose="020B0604030504040204" pitchFamily="50" charset="-128"/>
              </a:rPr>
              <a:t>『II FINAL MIX』特集。ロクサスの七日間から作品の魅力へ</a:t>
            </a:r>
            <a:endParaRPr sz="1100" b="0" i="0" dirty="0">
              <a:solidFill>
                <a:srgbClr val="C3D2EA"/>
              </a:solidFill>
              <a:latin typeface="Meiryo UI" panose="020B0604030504040204" pitchFamily="50" charset="-128"/>
            </a:endParaRPr>
          </a:p>
        </p:txBody>
      </p:sp>
      <p:sp>
        <p:nvSpPr>
          <p:cNvPr id="110" name="Rounded Rectangle 82"/>
          <p:cNvSpPr/>
          <p:nvPr/>
        </p:nvSpPr>
        <p:spPr>
          <a:xfrm>
            <a:off x="4768596" y="4709160"/>
            <a:ext cx="265176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83"/>
          <p:cNvSpPr/>
          <p:nvPr/>
        </p:nvSpPr>
        <p:spPr>
          <a:xfrm>
            <a:off x="4594640" y="4609731"/>
            <a:ext cx="365760" cy="365760"/>
          </a:xfrm>
          <a:prstGeom prst="ellipse">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84"/>
          <p:cNvSpPr txBox="1"/>
          <p:nvPr/>
        </p:nvSpPr>
        <p:spPr>
          <a:xfrm>
            <a:off x="4613113" y="4602066"/>
            <a:ext cx="365760" cy="365760"/>
          </a:xfrm>
          <a:prstGeom prst="rect">
            <a:avLst/>
          </a:prstGeom>
          <a:noFill/>
        </p:spPr>
        <p:txBody>
          <a:bodyPr wrap="square" lIns="0" tIns="0" rIns="0" bIns="0" anchor="ctr">
            <a:spAutoFit/>
          </a:bodyPr>
          <a:lstStyle/>
          <a:p>
            <a:pPr algn="ctr">
              <a:lnSpc>
                <a:spcPct val="100000"/>
              </a:lnSpc>
              <a:spcAft>
                <a:spcPts val="0"/>
              </a:spcAft>
            </a:pPr>
            <a:r>
              <a:rPr sz="1400" b="1" i="0" dirty="0">
                <a:solidFill>
                  <a:srgbClr val="EEF4FF"/>
                </a:solidFill>
                <a:latin typeface="Georgia"/>
              </a:rPr>
              <a:t>5</a:t>
            </a:r>
          </a:p>
        </p:txBody>
      </p:sp>
      <p:sp>
        <p:nvSpPr>
          <p:cNvPr id="113" name="TextBox 85"/>
          <p:cNvSpPr txBox="1"/>
          <p:nvPr/>
        </p:nvSpPr>
        <p:spPr>
          <a:xfrm>
            <a:off x="4943661" y="4820545"/>
            <a:ext cx="2286000" cy="274320"/>
          </a:xfrm>
          <a:prstGeom prst="rect">
            <a:avLst/>
          </a:prstGeom>
          <a:noFill/>
        </p:spPr>
        <p:txBody>
          <a:bodyPr wrap="square" lIns="0" tIns="0" rIns="0" bIns="0" anchor="t">
            <a:spAutoFit/>
          </a:bodyPr>
          <a:lstStyle/>
          <a:p>
            <a:pPr algn="l">
              <a:lnSpc>
                <a:spcPct val="100000"/>
              </a:lnSpc>
              <a:spcAft>
                <a:spcPts val="0"/>
              </a:spcAft>
            </a:pPr>
            <a:r>
              <a:rPr sz="1200" b="1" i="0" spc="50" dirty="0">
                <a:solidFill>
                  <a:srgbClr val="9AD5FF"/>
                </a:solidFill>
                <a:latin typeface="Georgia"/>
              </a:rPr>
              <a:t>MEMORY CROSSOVER</a:t>
            </a:r>
          </a:p>
        </p:txBody>
      </p:sp>
      <p:sp>
        <p:nvSpPr>
          <p:cNvPr id="114" name="TextBox 86"/>
          <p:cNvSpPr txBox="1"/>
          <p:nvPr/>
        </p:nvSpPr>
        <p:spPr>
          <a:xfrm>
            <a:off x="4951476" y="5204594"/>
            <a:ext cx="2286000" cy="372859"/>
          </a:xfrm>
          <a:prstGeom prst="rect">
            <a:avLst/>
          </a:prstGeom>
          <a:noFill/>
        </p:spPr>
        <p:txBody>
          <a:bodyPr wrap="square" lIns="0" tIns="0" rIns="0" bIns="0" anchor="t">
            <a:spAutoFit/>
          </a:bodyPr>
          <a:lstStyle/>
          <a:p>
            <a:pPr algn="l">
              <a:lnSpc>
                <a:spcPct val="125000"/>
              </a:lnSpc>
              <a:spcAft>
                <a:spcPts val="0"/>
              </a:spcAft>
            </a:pPr>
            <a:r>
              <a:rPr sz="950" b="0" i="0" dirty="0" err="1">
                <a:solidFill>
                  <a:srgbClr val="C3D2EA"/>
                </a:solidFill>
                <a:latin typeface="Meiryo UI" panose="020B0604030504040204" pitchFamily="50" charset="-128"/>
              </a:rPr>
              <a:t>FF・すばらしきこのせかい・ディズニー作品との縁を紹介</a:t>
            </a:r>
            <a:endParaRPr sz="950" b="0" i="0" dirty="0">
              <a:solidFill>
                <a:srgbClr val="C3D2EA"/>
              </a:solidFill>
              <a:latin typeface="Meiryo UI" panose="020B0604030504040204" pitchFamily="50" charset="-128"/>
            </a:endParaRPr>
          </a:p>
        </p:txBody>
      </p:sp>
      <p:sp>
        <p:nvSpPr>
          <p:cNvPr id="115" name="Rounded Rectangle 87"/>
          <p:cNvSpPr/>
          <p:nvPr/>
        </p:nvSpPr>
        <p:spPr>
          <a:xfrm>
            <a:off x="7877556" y="4709160"/>
            <a:ext cx="265176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88"/>
          <p:cNvSpPr/>
          <p:nvPr/>
        </p:nvSpPr>
        <p:spPr>
          <a:xfrm>
            <a:off x="7715953" y="4581548"/>
            <a:ext cx="365760" cy="365760"/>
          </a:xfrm>
          <a:prstGeom prst="ellipse">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89"/>
          <p:cNvSpPr txBox="1"/>
          <p:nvPr/>
        </p:nvSpPr>
        <p:spPr>
          <a:xfrm>
            <a:off x="7715953" y="4577140"/>
            <a:ext cx="365760" cy="365760"/>
          </a:xfrm>
          <a:prstGeom prst="rect">
            <a:avLst/>
          </a:prstGeom>
          <a:noFill/>
        </p:spPr>
        <p:txBody>
          <a:bodyPr wrap="square" lIns="0" tIns="0" rIns="0" bIns="0" anchor="ctr">
            <a:spAutoFit/>
          </a:bodyPr>
          <a:lstStyle/>
          <a:p>
            <a:pPr algn="ctr">
              <a:lnSpc>
                <a:spcPct val="100000"/>
              </a:lnSpc>
              <a:spcAft>
                <a:spcPts val="0"/>
              </a:spcAft>
            </a:pPr>
            <a:r>
              <a:rPr sz="1400" b="1" i="0">
                <a:solidFill>
                  <a:srgbClr val="EEF4FF"/>
                </a:solidFill>
                <a:latin typeface="Georgia"/>
              </a:rPr>
              <a:t>6</a:t>
            </a:r>
          </a:p>
        </p:txBody>
      </p:sp>
      <p:sp>
        <p:nvSpPr>
          <p:cNvPr id="118" name="TextBox 90"/>
          <p:cNvSpPr txBox="1"/>
          <p:nvPr/>
        </p:nvSpPr>
        <p:spPr>
          <a:xfrm>
            <a:off x="8037118" y="4830359"/>
            <a:ext cx="2286000" cy="274320"/>
          </a:xfrm>
          <a:prstGeom prst="rect">
            <a:avLst/>
          </a:prstGeom>
          <a:noFill/>
        </p:spPr>
        <p:txBody>
          <a:bodyPr wrap="square" lIns="0" tIns="0" rIns="0" bIns="0" anchor="t">
            <a:spAutoFit/>
          </a:bodyPr>
          <a:lstStyle/>
          <a:p>
            <a:pPr algn="l">
              <a:lnSpc>
                <a:spcPct val="100000"/>
              </a:lnSpc>
              <a:spcAft>
                <a:spcPts val="0"/>
              </a:spcAft>
            </a:pPr>
            <a:r>
              <a:rPr sz="1200" b="1" i="0" spc="50" dirty="0">
                <a:solidFill>
                  <a:srgbClr val="9AD5FF"/>
                </a:solidFill>
                <a:latin typeface="Georgia"/>
              </a:rPr>
              <a:t>SECRET MEMORY</a:t>
            </a:r>
          </a:p>
        </p:txBody>
      </p:sp>
      <p:sp>
        <p:nvSpPr>
          <p:cNvPr id="119" name="TextBox 91"/>
          <p:cNvSpPr txBox="1"/>
          <p:nvPr/>
        </p:nvSpPr>
        <p:spPr>
          <a:xfrm>
            <a:off x="8033340" y="5157620"/>
            <a:ext cx="2286000" cy="344005"/>
          </a:xfrm>
          <a:prstGeom prst="rect">
            <a:avLst/>
          </a:prstGeom>
          <a:noFill/>
        </p:spPr>
        <p:txBody>
          <a:bodyPr wrap="square" lIns="0" tIns="0" rIns="0" bIns="0" anchor="t">
            <a:spAutoFit/>
          </a:bodyPr>
          <a:lstStyle/>
          <a:p>
            <a:pPr algn="l">
              <a:lnSpc>
                <a:spcPct val="125000"/>
              </a:lnSpc>
              <a:spcAft>
                <a:spcPts val="0"/>
              </a:spcAft>
            </a:pPr>
            <a:r>
              <a:rPr sz="950" b="0" i="0" dirty="0">
                <a:solidFill>
                  <a:srgbClr val="C3D2EA"/>
                </a:solidFill>
                <a:latin typeface="Meiryo UI" panose="020B0604030504040204" pitchFamily="50" charset="-128"/>
              </a:rPr>
              <a:t>記憶の欠片を8個集めると解放される特別な記録</a:t>
            </a:r>
          </a:p>
        </p:txBody>
      </p:sp>
      <p:sp>
        <p:nvSpPr>
          <p:cNvPr id="126" name="TextBox 149"/>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27" name="TextBox 150"/>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04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sp>
        <p:nvSpPr>
          <p:cNvPr id="152" name="四角形: 角を丸くする 151">
            <a:extLst>
              <a:ext uri="{FF2B5EF4-FFF2-40B4-BE49-F238E27FC236}">
                <a16:creationId xmlns:a16="http://schemas.microsoft.com/office/drawing/2014/main" id="{8DE88A74-1B07-1EB6-D3FD-E7DEEA0AA0B7}"/>
              </a:ext>
            </a:extLst>
          </p:cNvPr>
          <p:cNvSpPr/>
          <p:nvPr/>
        </p:nvSpPr>
        <p:spPr>
          <a:xfrm>
            <a:off x="535105" y="1494786"/>
            <a:ext cx="5951370" cy="445877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677597" y="4312075"/>
            <a:ext cx="13496543" cy="13496543"/>
          </a:xfrm>
          <a:prstGeom prst="ellipse">
            <a:avLst/>
          </a:prstGeom>
          <a:solidFill>
            <a:srgbClr val="E6D5A3">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474720" y="4480560"/>
            <a:ext cx="13167360" cy="13167360"/>
          </a:xfrm>
          <a:prstGeom prst="ellipse">
            <a:avLst/>
          </a:prstGeom>
          <a:noFill/>
          <a:ln w="330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631289" y="6323990"/>
            <a:ext cx="9480499" cy="9480499"/>
          </a:xfrm>
          <a:prstGeom prst="ellipse">
            <a:avLst/>
          </a:prstGeom>
          <a:noFill/>
          <a:ln w="2540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467" y="8035747"/>
            <a:ext cx="6056985" cy="6056985"/>
          </a:xfrm>
          <a:prstGeom prst="ellipse">
            <a:avLst/>
          </a:prstGeom>
          <a:noFill/>
          <a:ln w="203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5906922" y="12223194"/>
            <a:ext cx="2919613" cy="120934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8629025" y="13235026"/>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4267914" y="13862202"/>
            <a:ext cx="1209343" cy="29196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5279746" y="16584305"/>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740662" y="13862202"/>
            <a:ext cx="1209343" cy="29196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543152" y="16584305"/>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2608615" y="12223194"/>
            <a:ext cx="2919612" cy="120934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2806125" y="13235026"/>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2608615" y="8695942"/>
            <a:ext cx="2919612" cy="120934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2806125" y="8498432"/>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740662" y="5346664"/>
            <a:ext cx="1209343" cy="29196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543152" y="5149154"/>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4267914" y="5346664"/>
            <a:ext cx="1209343" cy="29196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5279746" y="5149154"/>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5906922" y="8695942"/>
            <a:ext cx="2919613" cy="120934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8629025" y="8498432"/>
            <a:ext cx="395020" cy="395020"/>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11078438" y="5661495"/>
            <a:ext cx="92567" cy="92567"/>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iamond 33"/>
          <p:cNvSpPr/>
          <p:nvPr/>
        </p:nvSpPr>
        <p:spPr>
          <a:xfrm>
            <a:off x="4115506" y="4693186"/>
            <a:ext cx="97355" cy="97355"/>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01539" y="5805720"/>
            <a:ext cx="53280" cy="5328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105128" y="4274695"/>
            <a:ext cx="100912" cy="100912"/>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4784892" y="2294751"/>
            <a:ext cx="85496" cy="85496"/>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Diamond 37"/>
          <p:cNvSpPr/>
          <p:nvPr/>
        </p:nvSpPr>
        <p:spPr>
          <a:xfrm>
            <a:off x="4988884" y="3177115"/>
            <a:ext cx="80049" cy="80049"/>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2445568" y="3803437"/>
            <a:ext cx="52138" cy="52138"/>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328467" y="5393179"/>
            <a:ext cx="61867" cy="61867"/>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iamond 40"/>
          <p:cNvSpPr/>
          <p:nvPr/>
        </p:nvSpPr>
        <p:spPr>
          <a:xfrm>
            <a:off x="10673898" y="2463651"/>
            <a:ext cx="109187" cy="109187"/>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759373" y="571015"/>
            <a:ext cx="88450" cy="8845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515875" y="4196309"/>
            <a:ext cx="104209" cy="104209"/>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441282" y="3522241"/>
            <a:ext cx="48271" cy="48271"/>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iamond 44"/>
          <p:cNvSpPr/>
          <p:nvPr/>
        </p:nvSpPr>
        <p:spPr>
          <a:xfrm>
            <a:off x="2062535" y="1301826"/>
            <a:ext cx="85714" cy="85714"/>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Diamond 45"/>
          <p:cNvSpPr/>
          <p:nvPr/>
        </p:nvSpPr>
        <p:spPr>
          <a:xfrm>
            <a:off x="2161171" y="380050"/>
            <a:ext cx="97792" cy="97792"/>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257007" y="4124717"/>
            <a:ext cx="91650" cy="9165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Diamond 47"/>
          <p:cNvSpPr/>
          <p:nvPr/>
        </p:nvSpPr>
        <p:spPr>
          <a:xfrm>
            <a:off x="6513954" y="3595162"/>
            <a:ext cx="91778" cy="91778"/>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9780212" y="4570999"/>
            <a:ext cx="100650" cy="10065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747181" y="3500696"/>
            <a:ext cx="79154" cy="79154"/>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10790517" y="856532"/>
            <a:ext cx="218644" cy="0"/>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10991900" y="839271"/>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 name="Connector 52"/>
          <p:cNvCxnSpPr/>
          <p:nvPr/>
        </p:nvCxnSpPr>
        <p:spPr>
          <a:xfrm>
            <a:off x="10779528" y="890352"/>
            <a:ext cx="176887" cy="12851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10939153" y="1001606"/>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10750759" y="911254"/>
            <a:ext cx="67565" cy="207943"/>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10801063" y="1101935"/>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flipH="1">
            <a:off x="10647634" y="911254"/>
            <a:ext cx="67565" cy="207943"/>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10630373" y="1101935"/>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flipH="1">
            <a:off x="10509543" y="890352"/>
            <a:ext cx="176887" cy="12851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0492282" y="1001606"/>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1" name="Connector 60"/>
          <p:cNvCxnSpPr/>
          <p:nvPr/>
        </p:nvCxnSpPr>
        <p:spPr>
          <a:xfrm flipH="1">
            <a:off x="10456797" y="856532"/>
            <a:ext cx="218644" cy="0"/>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0439536" y="839271"/>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62"/>
          <p:cNvCxnSpPr/>
          <p:nvPr/>
        </p:nvCxnSpPr>
        <p:spPr>
          <a:xfrm flipH="1" flipV="1">
            <a:off x="10509543" y="694196"/>
            <a:ext cx="176887" cy="12851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492282" y="676935"/>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5" name="Connector 64"/>
          <p:cNvCxnSpPr/>
          <p:nvPr/>
        </p:nvCxnSpPr>
        <p:spPr>
          <a:xfrm flipH="1" flipV="1">
            <a:off x="10647634" y="593867"/>
            <a:ext cx="67565" cy="207943"/>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0630373" y="576606"/>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7" name="Connector 66"/>
          <p:cNvCxnSpPr/>
          <p:nvPr/>
        </p:nvCxnSpPr>
        <p:spPr>
          <a:xfrm flipV="1">
            <a:off x="10750759" y="593867"/>
            <a:ext cx="67565" cy="207943"/>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10801063" y="576606"/>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9" name="Connector 68"/>
          <p:cNvCxnSpPr/>
          <p:nvPr/>
        </p:nvCxnSpPr>
        <p:spPr>
          <a:xfrm flipV="1">
            <a:off x="10779528" y="694196"/>
            <a:ext cx="176887" cy="12851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0939153" y="676935"/>
            <a:ext cx="34522" cy="34522"/>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10698456" y="822009"/>
            <a:ext cx="69045" cy="69045"/>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1318076" y="2959186"/>
            <a:ext cx="302274" cy="109918"/>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1331816" y="2880183"/>
            <a:ext cx="54959" cy="103048"/>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Isosceles Triangle 73"/>
          <p:cNvSpPr/>
          <p:nvPr/>
        </p:nvSpPr>
        <p:spPr>
          <a:xfrm>
            <a:off x="11331816" y="2832093"/>
            <a:ext cx="54959" cy="48089"/>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1441734" y="2804614"/>
            <a:ext cx="54959" cy="178616"/>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Isosceles Triangle 75"/>
          <p:cNvSpPr/>
          <p:nvPr/>
        </p:nvSpPr>
        <p:spPr>
          <a:xfrm>
            <a:off x="11441734" y="2756525"/>
            <a:ext cx="54959" cy="48089"/>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11537912" y="2880183"/>
            <a:ext cx="54959" cy="103048"/>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Isosceles Triangle 77"/>
          <p:cNvSpPr/>
          <p:nvPr/>
        </p:nvSpPr>
        <p:spPr>
          <a:xfrm>
            <a:off x="11537912" y="2832093"/>
            <a:ext cx="54959" cy="48089"/>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11448604" y="3003840"/>
            <a:ext cx="41219" cy="65263"/>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5-Point Star 79"/>
          <p:cNvSpPr/>
          <p:nvPr/>
        </p:nvSpPr>
        <p:spPr>
          <a:xfrm>
            <a:off x="1680964" y="4492364"/>
            <a:ext cx="659884" cy="659884"/>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9127187" y="4197957"/>
            <a:ext cx="338125" cy="122954"/>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9142556" y="4109583"/>
            <a:ext cx="61477" cy="115270"/>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Isosceles Triangle 82"/>
          <p:cNvSpPr/>
          <p:nvPr/>
        </p:nvSpPr>
        <p:spPr>
          <a:xfrm>
            <a:off x="9142556" y="4055791"/>
            <a:ext cx="61477" cy="5379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9265511" y="4025052"/>
            <a:ext cx="61477" cy="199801"/>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Isosceles Triangle 84"/>
          <p:cNvSpPr/>
          <p:nvPr/>
        </p:nvSpPr>
        <p:spPr>
          <a:xfrm>
            <a:off x="9265511" y="3971259"/>
            <a:ext cx="61477" cy="5379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9373096" y="4109583"/>
            <a:ext cx="61477" cy="115270"/>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Isosceles Triangle 86"/>
          <p:cNvSpPr/>
          <p:nvPr/>
        </p:nvSpPr>
        <p:spPr>
          <a:xfrm>
            <a:off x="9373096" y="4055791"/>
            <a:ext cx="61477" cy="5379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ounded Rectangle 87"/>
          <p:cNvSpPr/>
          <p:nvPr/>
        </p:nvSpPr>
        <p:spPr>
          <a:xfrm>
            <a:off x="9273195" y="4247908"/>
            <a:ext cx="46108" cy="73004"/>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9" name="Connector 88"/>
          <p:cNvCxnSpPr/>
          <p:nvPr/>
        </p:nvCxnSpPr>
        <p:spPr>
          <a:xfrm>
            <a:off x="4413260" y="6102849"/>
            <a:ext cx="224991" cy="0"/>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4620488" y="6085086"/>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1" name="Connector 90"/>
          <p:cNvCxnSpPr/>
          <p:nvPr/>
        </p:nvCxnSpPr>
        <p:spPr>
          <a:xfrm>
            <a:off x="4401952" y="6137650"/>
            <a:ext cx="182022" cy="132247"/>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4566211" y="6252134"/>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3" name="Connector 92"/>
          <p:cNvCxnSpPr/>
          <p:nvPr/>
        </p:nvCxnSpPr>
        <p:spPr>
          <a:xfrm>
            <a:off x="4372348" y="6159159"/>
            <a:ext cx="69526" cy="213979"/>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4424111" y="6355376"/>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5" name="Connector 94"/>
          <p:cNvCxnSpPr/>
          <p:nvPr/>
        </p:nvCxnSpPr>
        <p:spPr>
          <a:xfrm flipH="1">
            <a:off x="4266229" y="6159159"/>
            <a:ext cx="69526" cy="213979"/>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6" name="Oval 95"/>
          <p:cNvSpPr/>
          <p:nvPr/>
        </p:nvSpPr>
        <p:spPr>
          <a:xfrm>
            <a:off x="4248467" y="6355376"/>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7" name="Connector 96"/>
          <p:cNvCxnSpPr/>
          <p:nvPr/>
        </p:nvCxnSpPr>
        <p:spPr>
          <a:xfrm flipH="1">
            <a:off x="4124129" y="6137650"/>
            <a:ext cx="182022" cy="132247"/>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4106367" y="6252134"/>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9" name="Connector 98"/>
          <p:cNvCxnSpPr/>
          <p:nvPr/>
        </p:nvCxnSpPr>
        <p:spPr>
          <a:xfrm flipH="1">
            <a:off x="4069852" y="6102849"/>
            <a:ext cx="224991" cy="0"/>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4052090" y="6085086"/>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flipH="1" flipV="1">
            <a:off x="4124129" y="5935800"/>
            <a:ext cx="182022" cy="132247"/>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2" name="Oval 101"/>
          <p:cNvSpPr/>
          <p:nvPr/>
        </p:nvSpPr>
        <p:spPr>
          <a:xfrm>
            <a:off x="4106367" y="5918038"/>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3" name="Connector 102"/>
          <p:cNvCxnSpPr/>
          <p:nvPr/>
        </p:nvCxnSpPr>
        <p:spPr>
          <a:xfrm flipH="1" flipV="1">
            <a:off x="4266229" y="5832559"/>
            <a:ext cx="69526" cy="213979"/>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4248467" y="5814796"/>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5" name="Connector 104"/>
          <p:cNvCxnSpPr/>
          <p:nvPr/>
        </p:nvCxnSpPr>
        <p:spPr>
          <a:xfrm flipV="1">
            <a:off x="4372348" y="5832559"/>
            <a:ext cx="69526" cy="213979"/>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4424111" y="5814796"/>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7" name="Connector 106"/>
          <p:cNvCxnSpPr/>
          <p:nvPr/>
        </p:nvCxnSpPr>
        <p:spPr>
          <a:xfrm flipV="1">
            <a:off x="4401952" y="5935800"/>
            <a:ext cx="182022" cy="132247"/>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8" name="Oval 107"/>
          <p:cNvSpPr/>
          <p:nvPr/>
        </p:nvSpPr>
        <p:spPr>
          <a:xfrm>
            <a:off x="4566211" y="5918038"/>
            <a:ext cx="35524" cy="35524"/>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4318527" y="6067324"/>
            <a:ext cx="71049" cy="7104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5-Point Star 109"/>
          <p:cNvSpPr/>
          <p:nvPr/>
        </p:nvSpPr>
        <p:spPr>
          <a:xfrm>
            <a:off x="472899" y="3298550"/>
            <a:ext cx="665721" cy="665721"/>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5-Point Star 110"/>
          <p:cNvSpPr/>
          <p:nvPr/>
        </p:nvSpPr>
        <p:spPr>
          <a:xfrm>
            <a:off x="2515749" y="1910013"/>
            <a:ext cx="492182" cy="492182"/>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MOCKUP</a:t>
            </a:r>
          </a:p>
        </p:txBody>
      </p:sp>
      <p:sp>
        <p:nvSpPr>
          <p:cNvPr id="113" name="Rectangle 112"/>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TOPページ デザイン(完成版)</a:t>
            </a:r>
          </a:p>
        </p:txBody>
      </p:sp>
      <p:sp>
        <p:nvSpPr>
          <p:cNvPr id="115" name="Rounded Rectangle 114"/>
          <p:cNvSpPr/>
          <p:nvPr/>
        </p:nvSpPr>
        <p:spPr>
          <a:xfrm>
            <a:off x="822960" y="1737360"/>
            <a:ext cx="5394960" cy="3977639"/>
          </a:xfrm>
          <a:prstGeom prst="roundRect">
            <a:avLst>
              <a:gd name="adj" fmla="val 3000"/>
            </a:avLst>
          </a:prstGeom>
          <a:solidFill>
            <a:srgbClr val="060D1E"/>
          </a:solidFill>
          <a:ln w="12700">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822960" y="1737360"/>
            <a:ext cx="5394960" cy="365760"/>
          </a:xfrm>
          <a:prstGeom prst="rect">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987552" y="1865376"/>
            <a:ext cx="100584" cy="100584"/>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188720" y="1865376"/>
            <a:ext cx="100584" cy="100584"/>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389888" y="1865376"/>
            <a:ext cx="100584" cy="100584"/>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p:cNvSpPr/>
          <p:nvPr/>
        </p:nvSpPr>
        <p:spPr>
          <a:xfrm>
            <a:off x="1737360" y="1819656"/>
            <a:ext cx="4206240" cy="201168"/>
          </a:xfrm>
          <a:prstGeom prst="roundRect">
            <a:avLst>
              <a:gd name="adj" fmla="val 50000"/>
            </a:avLst>
          </a:prstGeom>
          <a:solidFill>
            <a:srgbClr val="111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874520" y="1828800"/>
            <a:ext cx="4023360" cy="182880"/>
          </a:xfrm>
          <a:prstGeom prst="rect">
            <a:avLst/>
          </a:prstGeom>
          <a:noFill/>
        </p:spPr>
        <p:txBody>
          <a:bodyPr wrap="square" lIns="0" tIns="0" rIns="0" bIns="0" anchor="t">
            <a:spAutoFit/>
          </a:bodyPr>
          <a:lstStyle/>
          <a:p>
            <a:pPr algn="l">
              <a:lnSpc>
                <a:spcPct val="100000"/>
              </a:lnSpc>
              <a:spcAft>
                <a:spcPts val="0"/>
              </a:spcAft>
            </a:pPr>
            <a:r>
              <a:rPr sz="800" b="0" i="0">
                <a:solidFill>
                  <a:srgbClr val="7D8FAE"/>
                </a:solidFill>
                <a:latin typeface="Georgia"/>
              </a:rPr>
              <a:t>kingdomhearts-memory / index.html</a:t>
            </a:r>
          </a:p>
        </p:txBody>
      </p:sp>
      <p:pic>
        <p:nvPicPr>
          <p:cNvPr id="153" name="Picture 152" descr="top_v2.png"/>
          <p:cNvPicPr>
            <a:picLocks noChangeAspect="1"/>
          </p:cNvPicPr>
          <p:nvPr/>
        </p:nvPicPr>
        <p:blipFill>
          <a:blip r:embed="rId2"/>
          <a:stretch>
            <a:fillRect/>
          </a:stretch>
        </p:blipFill>
        <p:spPr>
          <a:xfrm>
            <a:off x="822960" y="2103120"/>
            <a:ext cx="5394960" cy="3611880"/>
          </a:xfrm>
          <a:prstGeom prst="rect">
            <a:avLst/>
          </a:prstGeom>
        </p:spPr>
      </p:pic>
      <p:sp>
        <p:nvSpPr>
          <p:cNvPr id="137" name="TextBox 136"/>
          <p:cNvSpPr txBox="1"/>
          <p:nvPr/>
        </p:nvSpPr>
        <p:spPr>
          <a:xfrm>
            <a:off x="805525" y="6064990"/>
            <a:ext cx="5394960" cy="157928"/>
          </a:xfrm>
          <a:prstGeom prst="rect">
            <a:avLst/>
          </a:prstGeom>
          <a:noFill/>
        </p:spPr>
        <p:txBody>
          <a:bodyPr wrap="square" lIns="0" tIns="0" rIns="0" bIns="0" anchor="t">
            <a:spAutoFit/>
          </a:bodyPr>
          <a:lstStyle/>
          <a:p>
            <a:pPr algn="ctr">
              <a:lnSpc>
                <a:spcPct val="130000"/>
              </a:lnSpc>
              <a:spcAft>
                <a:spcPts val="0"/>
              </a:spcAft>
            </a:pPr>
            <a:r>
              <a:rPr sz="900" b="0" i="0" dirty="0">
                <a:solidFill>
                  <a:srgbClr val="7D8FAE"/>
                </a:solidFill>
                <a:latin typeface="Meiryo UI" panose="020B0604030504040204" pitchFamily="50" charset="-128"/>
              </a:rPr>
              <a:t>実装ではCanvasによる光の粒子アニメーションと、カーソルに追従する光の演出が常時動作しています。</a:t>
            </a:r>
          </a:p>
        </p:txBody>
      </p:sp>
      <p:sp>
        <p:nvSpPr>
          <p:cNvPr id="138" name="Rounded Rectangle 137"/>
          <p:cNvSpPr/>
          <p:nvPr/>
        </p:nvSpPr>
        <p:spPr>
          <a:xfrm>
            <a:off x="6492240" y="1737360"/>
            <a:ext cx="4846320" cy="448056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6812280" y="2011680"/>
            <a:ext cx="4206240" cy="246221"/>
          </a:xfrm>
          <a:prstGeom prst="rect">
            <a:avLst/>
          </a:prstGeom>
          <a:noFill/>
        </p:spPr>
        <p:txBody>
          <a:bodyPr wrap="square" lIns="0" tIns="0" rIns="0" bIns="0" anchor="t">
            <a:spAutoFit/>
          </a:bodyPr>
          <a:lstStyle/>
          <a:p>
            <a:pPr algn="l">
              <a:lnSpc>
                <a:spcPct val="100000"/>
              </a:lnSpc>
              <a:spcAft>
                <a:spcPts val="0"/>
              </a:spcAft>
            </a:pPr>
            <a:r>
              <a:rPr sz="1600" b="1" i="0" dirty="0" err="1">
                <a:solidFill>
                  <a:srgbClr val="E6D5A3"/>
                </a:solidFill>
                <a:latin typeface="Meiryo UI" panose="020B0604030504040204" pitchFamily="50" charset="-128"/>
              </a:rPr>
              <a:t>デザインコンセプト</a:t>
            </a:r>
            <a:endParaRPr sz="1600" b="1" i="0" dirty="0">
              <a:solidFill>
                <a:srgbClr val="E6D5A3"/>
              </a:solidFill>
              <a:latin typeface="Meiryo UI" panose="020B0604030504040204" pitchFamily="50" charset="-128"/>
            </a:endParaRPr>
          </a:p>
        </p:txBody>
      </p:sp>
      <p:sp>
        <p:nvSpPr>
          <p:cNvPr id="140" name="Oval 139"/>
          <p:cNvSpPr/>
          <p:nvPr/>
        </p:nvSpPr>
        <p:spPr>
          <a:xfrm>
            <a:off x="6858000" y="2596896"/>
            <a:ext cx="64008" cy="64008"/>
          </a:xfrm>
          <a:prstGeom prst="ellips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7086600" y="2514600"/>
            <a:ext cx="3931920"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C3D2EA"/>
                </a:solidFill>
                <a:latin typeface="Meiryo UI" panose="020B0604030504040204" pitchFamily="50" charset="-128"/>
              </a:rPr>
              <a:t>配色は漆黒</a:t>
            </a:r>
            <a:r>
              <a:rPr sz="1200" b="0" i="0" dirty="0">
                <a:solidFill>
                  <a:srgbClr val="C3D2EA"/>
                </a:solidFill>
                <a:latin typeface="Meiryo UI" panose="020B0604030504040204" pitchFamily="50" charset="-128"/>
              </a:rPr>
              <a:t>(#03060d)を基調に、光を思わせる淡いブルーを重ね、ゴールドは要所だけに使うアクセントカラーとする。</a:t>
            </a:r>
          </a:p>
        </p:txBody>
      </p:sp>
      <p:sp>
        <p:nvSpPr>
          <p:cNvPr id="142" name="Oval 141"/>
          <p:cNvSpPr/>
          <p:nvPr/>
        </p:nvSpPr>
        <p:spPr>
          <a:xfrm>
            <a:off x="6858000" y="3355848"/>
            <a:ext cx="64008" cy="64008"/>
          </a:xfrm>
          <a:prstGeom prst="ellips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7086600" y="3273552"/>
            <a:ext cx="3931920"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C3D2EA"/>
                </a:solidFill>
                <a:latin typeface="Meiryo UI" panose="020B0604030504040204" pitchFamily="50" charset="-128"/>
              </a:rPr>
              <a:t>キーワードは「スタイリッシュ</a:t>
            </a:r>
            <a:r>
              <a:rPr sz="1200" b="0" i="0" dirty="0">
                <a:solidFill>
                  <a:srgbClr val="C3D2EA"/>
                </a:solidFill>
                <a:latin typeface="Meiryo UI" panose="020B0604030504040204" pitchFamily="50" charset="-128"/>
              </a:rPr>
              <a:t>」「</a:t>
            </a:r>
            <a:r>
              <a:rPr sz="1200" b="0" i="0" dirty="0" err="1">
                <a:solidFill>
                  <a:srgbClr val="C3D2EA"/>
                </a:solidFill>
                <a:latin typeface="Meiryo UI" panose="020B0604030504040204" pitchFamily="50" charset="-128"/>
              </a:rPr>
              <a:t>ミニマル</a:t>
            </a:r>
            <a:r>
              <a:rPr sz="1200" b="0" i="0" dirty="0">
                <a:solidFill>
                  <a:srgbClr val="C3D2EA"/>
                </a:solidFill>
                <a:latin typeface="Meiryo UI" panose="020B0604030504040204" pitchFamily="50" charset="-128"/>
              </a:rPr>
              <a:t>」「</a:t>
            </a:r>
            <a:r>
              <a:rPr sz="1200" b="0" i="0" dirty="0" err="1">
                <a:solidFill>
                  <a:srgbClr val="C3D2EA"/>
                </a:solidFill>
                <a:latin typeface="Meiryo UI" panose="020B0604030504040204" pitchFamily="50" charset="-128"/>
              </a:rPr>
              <a:t>静けさの中の輝き</a:t>
            </a:r>
            <a:r>
              <a:rPr sz="1200" b="0" i="0" dirty="0">
                <a:solidFill>
                  <a:srgbClr val="C3D2EA"/>
                </a:solidFill>
                <a:latin typeface="Meiryo UI" panose="020B0604030504040204" pitchFamily="50" charset="-128"/>
              </a:rPr>
              <a:t>」。</a:t>
            </a:r>
            <a:r>
              <a:rPr sz="1200" b="0" i="0" dirty="0" err="1">
                <a:solidFill>
                  <a:srgbClr val="C3D2EA"/>
                </a:solidFill>
                <a:latin typeface="Meiryo UI" panose="020B0604030504040204" pitchFamily="50" charset="-128"/>
              </a:rPr>
              <a:t>装飾を詰め込みすぎず、余白で世界観を語る</a:t>
            </a:r>
            <a:endParaRPr sz="1200" b="0" i="0" dirty="0">
              <a:solidFill>
                <a:srgbClr val="C3D2EA"/>
              </a:solidFill>
              <a:latin typeface="Meiryo UI" panose="020B0604030504040204" pitchFamily="50" charset="-128"/>
            </a:endParaRPr>
          </a:p>
        </p:txBody>
      </p:sp>
      <p:sp>
        <p:nvSpPr>
          <p:cNvPr id="144" name="Oval 143"/>
          <p:cNvSpPr/>
          <p:nvPr/>
        </p:nvSpPr>
        <p:spPr>
          <a:xfrm>
            <a:off x="6858000" y="4114800"/>
            <a:ext cx="64008" cy="64008"/>
          </a:xfrm>
          <a:prstGeom prst="ellips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7086600" y="4032504"/>
            <a:ext cx="3931920"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C3D2EA"/>
                </a:solidFill>
                <a:latin typeface="Meiryo UI" panose="020B0604030504040204" pitchFamily="50" charset="-128"/>
              </a:rPr>
              <a:t>ファーストビューは、ハートに刻まれた鍵穴のロゴマークと大きな余白を中心に据え、没入感を優先する</a:t>
            </a:r>
            <a:endParaRPr sz="1200" b="0" i="0" dirty="0">
              <a:solidFill>
                <a:srgbClr val="C3D2EA"/>
              </a:solidFill>
              <a:latin typeface="Meiryo UI" panose="020B0604030504040204" pitchFamily="50" charset="-128"/>
            </a:endParaRPr>
          </a:p>
        </p:txBody>
      </p:sp>
      <p:sp>
        <p:nvSpPr>
          <p:cNvPr id="146" name="Oval 145"/>
          <p:cNvSpPr/>
          <p:nvPr/>
        </p:nvSpPr>
        <p:spPr>
          <a:xfrm>
            <a:off x="6858000" y="4873752"/>
            <a:ext cx="64008" cy="64008"/>
          </a:xfrm>
          <a:prstGeom prst="ellips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7086600" y="4791456"/>
            <a:ext cx="3931920"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C3D2EA"/>
                </a:solidFill>
                <a:latin typeface="Meiryo UI" panose="020B0604030504040204" pitchFamily="50" charset="-128"/>
              </a:rPr>
              <a:t>常に静かに漂う光の粒子</a:t>
            </a:r>
            <a:r>
              <a:rPr sz="1200" b="0" i="0" dirty="0">
                <a:solidFill>
                  <a:srgbClr val="C3D2EA"/>
                </a:solidFill>
                <a:latin typeface="Meiryo UI" panose="020B0604030504040204" pitchFamily="50" charset="-128"/>
              </a:rPr>
              <a:t>(Canvas)</a:t>
            </a:r>
            <a:r>
              <a:rPr sz="1200" b="0" i="0" dirty="0" err="1">
                <a:solidFill>
                  <a:srgbClr val="C3D2EA"/>
                </a:solidFill>
                <a:latin typeface="Meiryo UI" panose="020B0604030504040204" pitchFamily="50" charset="-128"/>
              </a:rPr>
              <a:t>と、カーソルに追従する淡い光で「操作している実感」を演出する</a:t>
            </a:r>
            <a:endParaRPr sz="1200" b="0" i="0" dirty="0">
              <a:solidFill>
                <a:srgbClr val="C3D2EA"/>
              </a:solidFill>
              <a:latin typeface="Meiryo UI" panose="020B0604030504040204" pitchFamily="50" charset="-128"/>
            </a:endParaRPr>
          </a:p>
        </p:txBody>
      </p:sp>
      <p:sp>
        <p:nvSpPr>
          <p:cNvPr id="148" name="Oval 147"/>
          <p:cNvSpPr/>
          <p:nvPr/>
        </p:nvSpPr>
        <p:spPr>
          <a:xfrm>
            <a:off x="6858000" y="5632704"/>
            <a:ext cx="64008" cy="64008"/>
          </a:xfrm>
          <a:prstGeom prst="ellipse">
            <a:avLst/>
          </a:prstGeom>
          <a:solidFill>
            <a:srgbClr val="9AD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7086600" y="5550408"/>
            <a:ext cx="3931920"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C3D2EA"/>
                </a:solidFill>
                <a:latin typeface="Meiryo UI" panose="020B0604030504040204" pitchFamily="50" charset="-128"/>
              </a:rPr>
              <a:t>ボタンは輪郭線のみのゴースト調にし、ホバー時にゴールドの光を纏うことで特別感を出す</a:t>
            </a:r>
            <a:endParaRPr sz="1200" b="0" i="0" dirty="0">
              <a:solidFill>
                <a:srgbClr val="C3D2EA"/>
              </a:solidFill>
              <a:latin typeface="Meiryo UI" panose="020B0604030504040204" pitchFamily="50" charset="-128"/>
            </a:endParaRPr>
          </a:p>
        </p:txBody>
      </p:sp>
      <p:sp>
        <p:nvSpPr>
          <p:cNvPr id="150" name="TextBox 149"/>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51" name="TextBox 150"/>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3060D"/>
        </a:solidFill>
        <a:effectLst/>
      </p:bgPr>
    </p:bg>
    <p:spTree>
      <p:nvGrpSpPr>
        <p:cNvPr id="1" name=""/>
        <p:cNvGrpSpPr/>
        <p:nvPr/>
      </p:nvGrpSpPr>
      <p:grpSpPr/>
      <p:pic>
        <p:nvPicPr>
          <p:cNvPr id="104" name="図 103" descr="キングダムハーツ キャラクター解説 ソラ編 :: Hearts &amp; Keys">
            <a:extLst>
              <a:ext uri="{FF2B5EF4-FFF2-40B4-BE49-F238E27FC236}">
                <a16:creationId xmlns:a16="http://schemas.microsoft.com/office/drawing/2014/main" id="{B2FEBB07-FE5F-EC79-EA2A-F4145DFB225F}"/>
              </a:ext>
            </a:extLst>
          </p:cNvPr>
          <p:cNvPicPr>
            <a:picLocks noChangeAspect="1"/>
          </p:cNvPicPr>
          <p:nvPr/>
        </p:nvPicPr>
        <p:blipFill>
          <a:blip r:embed="rId2"/>
          <a:stretch>
            <a:fillRect/>
          </a:stretch>
        </p:blipFill>
        <p:spPr>
          <a:xfrm>
            <a:off x="34844" y="-13615"/>
            <a:ext cx="12187738" cy="6855603"/>
          </a:xfrm>
          <a:prstGeom prst="rect">
            <a:avLst/>
          </a:prstGeom>
          <a:gradFill>
            <a:gsLst>
              <a:gs pos="2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127000">
              <a:schemeClr val="accent1">
                <a:alpha val="0"/>
              </a:schemeClr>
            </a:glow>
            <a:outerShdw dist="50800" dir="5400000" algn="ctr" rotWithShape="0">
              <a:srgbClr val="000000"/>
            </a:outerShdw>
            <a:reflection stA="47000" endPos="47000" dir="5400000" sy="-100000" algn="bl" rotWithShape="0"/>
            <a:softEdge rad="1270000"/>
          </a:effectLst>
        </p:spPr>
      </p:pic>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613148" y="-10017252"/>
            <a:ext cx="11622023" cy="11622023"/>
          </a:xfrm>
          <a:prstGeom prst="ellipse">
            <a:avLst/>
          </a:prstGeom>
          <a:solidFill>
            <a:srgbClr val="9AD5FF">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754880" y="-9875520"/>
            <a:ext cx="11338560" cy="11338560"/>
          </a:xfrm>
          <a:prstGeom prst="ellipse">
            <a:avLst/>
          </a:prstGeom>
          <a:noFill/>
          <a:ln w="330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342278" y="-8288121"/>
            <a:ext cx="8163763" cy="8163763"/>
          </a:xfrm>
          <a:prstGeom prst="ellipse">
            <a:avLst/>
          </a:prstGeom>
          <a:noFill/>
          <a:ln w="2540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816291" y="-6814108"/>
            <a:ext cx="5215737" cy="5215737"/>
          </a:xfrm>
          <a:prstGeom prst="ellipse">
            <a:avLst/>
          </a:prstGeom>
          <a:noFill/>
          <a:ln w="203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2833516" y="-3208251"/>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15177549" y="-2336951"/>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11422148" y="-1796883"/>
            <a:ext cx="1041379" cy="2514110"/>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12293448" y="547149"/>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8384792" y="-1796883"/>
            <a:ext cx="1041379" cy="2514110"/>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8214714" y="547149"/>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5500692" y="-3208251"/>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5330613" y="-2336951"/>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5500692" y="-6245607"/>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5330613" y="-6415685"/>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8384792" y="-9129707"/>
            <a:ext cx="1041379" cy="2514111"/>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8214714" y="-9299786"/>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1422148" y="-9129707"/>
            <a:ext cx="1041379" cy="2514111"/>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12293448" y="-9299786"/>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12833516" y="-6245607"/>
            <a:ext cx="2514111" cy="1041379"/>
          </a:xfrm>
          <a:prstGeom prst="line">
            <a:avLst/>
          </a:prstGeom>
          <a:ln w="20320">
            <a:solidFill>
              <a:srgbClr val="2A6BB5">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5177549" y="-6415685"/>
            <a:ext cx="340156" cy="340156"/>
          </a:xfrm>
          <a:prstGeom prst="diamond">
            <a:avLst/>
          </a:prstGeom>
          <a:solidFill>
            <a:srgbClr val="2A6BB5">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2A6BB5">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1289645" y="3115542"/>
            <a:ext cx="91731" cy="91731"/>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iamond 33"/>
          <p:cNvSpPr/>
          <p:nvPr/>
        </p:nvSpPr>
        <p:spPr>
          <a:xfrm>
            <a:off x="2834923" y="798138"/>
            <a:ext cx="84300" cy="84300"/>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iamond 34"/>
          <p:cNvSpPr/>
          <p:nvPr/>
        </p:nvSpPr>
        <p:spPr>
          <a:xfrm>
            <a:off x="4686247" y="5770786"/>
            <a:ext cx="101544" cy="101544"/>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iamond 35"/>
          <p:cNvSpPr/>
          <p:nvPr/>
        </p:nvSpPr>
        <p:spPr>
          <a:xfrm>
            <a:off x="1367056" y="1683096"/>
            <a:ext cx="98724" cy="98724"/>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48677" y="977023"/>
            <a:ext cx="53889" cy="53889"/>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486732" y="2828486"/>
            <a:ext cx="92649" cy="92649"/>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049275" y="5136279"/>
            <a:ext cx="82365" cy="82365"/>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210888" y="2581468"/>
            <a:ext cx="82866" cy="82866"/>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iamond 40"/>
          <p:cNvSpPr/>
          <p:nvPr/>
        </p:nvSpPr>
        <p:spPr>
          <a:xfrm>
            <a:off x="7298661" y="3228295"/>
            <a:ext cx="61783" cy="61783"/>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844715" y="6362982"/>
            <a:ext cx="102468" cy="102468"/>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05413" y="4659943"/>
            <a:ext cx="64697" cy="64697"/>
          </a:xfrm>
          <a:prstGeom prst="ellipse">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Diamond 43"/>
          <p:cNvSpPr/>
          <p:nvPr/>
        </p:nvSpPr>
        <p:spPr>
          <a:xfrm>
            <a:off x="2067505" y="2894019"/>
            <a:ext cx="61895" cy="61895"/>
          </a:xfrm>
          <a:prstGeom prst="diamond">
            <a:avLst/>
          </a:prstGeom>
          <a:solidFill>
            <a:srgbClr val="143A6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rot="19800000">
            <a:off x="9644652" y="5804223"/>
            <a:ext cx="55497" cy="369986"/>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5-Point Star 45"/>
          <p:cNvSpPr/>
          <p:nvPr/>
        </p:nvSpPr>
        <p:spPr>
          <a:xfrm>
            <a:off x="9539822" y="5594565"/>
            <a:ext cx="283656" cy="283656"/>
          </a:xfrm>
          <a:prstGeom prst="star5">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4-Point Star 46"/>
          <p:cNvSpPr/>
          <p:nvPr/>
        </p:nvSpPr>
        <p:spPr>
          <a:xfrm>
            <a:off x="9459659" y="5841222"/>
            <a:ext cx="98663" cy="98663"/>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4-Point Star 47"/>
          <p:cNvSpPr/>
          <p:nvPr/>
        </p:nvSpPr>
        <p:spPr>
          <a:xfrm>
            <a:off x="9410327" y="5964551"/>
            <a:ext cx="67830" cy="67830"/>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rot="19800000">
            <a:off x="9681052" y="1871205"/>
            <a:ext cx="44778" cy="298522"/>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5-Point Star 49"/>
          <p:cNvSpPr/>
          <p:nvPr/>
        </p:nvSpPr>
        <p:spPr>
          <a:xfrm>
            <a:off x="9596470" y="1702043"/>
            <a:ext cx="228867" cy="228867"/>
          </a:xfrm>
          <a:prstGeom prst="star5">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4-Point Star 50"/>
          <p:cNvSpPr/>
          <p:nvPr/>
        </p:nvSpPr>
        <p:spPr>
          <a:xfrm>
            <a:off x="9531791" y="1901057"/>
            <a:ext cx="79605" cy="79605"/>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4-Point Star 51"/>
          <p:cNvSpPr/>
          <p:nvPr/>
        </p:nvSpPr>
        <p:spPr>
          <a:xfrm>
            <a:off x="9491988" y="2000565"/>
            <a:ext cx="54729" cy="54729"/>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rot="19800000">
            <a:off x="5805857" y="943387"/>
            <a:ext cx="61666" cy="411112"/>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5-Point Star 53"/>
          <p:cNvSpPr/>
          <p:nvPr/>
        </p:nvSpPr>
        <p:spPr>
          <a:xfrm>
            <a:off x="5689375" y="710424"/>
            <a:ext cx="315186" cy="315186"/>
          </a:xfrm>
          <a:prstGeom prst="star5">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4-Point Star 54"/>
          <p:cNvSpPr/>
          <p:nvPr/>
        </p:nvSpPr>
        <p:spPr>
          <a:xfrm>
            <a:off x="5600301" y="984499"/>
            <a:ext cx="109630" cy="109630"/>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4-Point Star 55"/>
          <p:cNvSpPr/>
          <p:nvPr/>
        </p:nvSpPr>
        <p:spPr>
          <a:xfrm>
            <a:off x="5545486" y="1121536"/>
            <a:ext cx="75370" cy="75370"/>
          </a:xfrm>
          <a:prstGeom prst="star4">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506876" y="2080405"/>
            <a:ext cx="555329" cy="201937"/>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2118" y="1935262"/>
            <a:ext cx="100968" cy="189316"/>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Isosceles Triangle 58"/>
          <p:cNvSpPr/>
          <p:nvPr/>
        </p:nvSpPr>
        <p:spPr>
          <a:xfrm>
            <a:off x="7532118" y="1846915"/>
            <a:ext cx="100968" cy="88347"/>
          </a:xfrm>
          <a:prstGeom prst="triangle">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7734056" y="1796430"/>
            <a:ext cx="100968" cy="328149"/>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Isosceles Triangle 60"/>
          <p:cNvSpPr/>
          <p:nvPr/>
        </p:nvSpPr>
        <p:spPr>
          <a:xfrm>
            <a:off x="7734056" y="1708082"/>
            <a:ext cx="100968" cy="88347"/>
          </a:xfrm>
          <a:prstGeom prst="triangle">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7910752" y="1935262"/>
            <a:ext cx="100968" cy="189316"/>
          </a:xfrm>
          <a:prstGeom prst="rect">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Isosceles Triangle 62"/>
          <p:cNvSpPr/>
          <p:nvPr/>
        </p:nvSpPr>
        <p:spPr>
          <a:xfrm>
            <a:off x="7910752" y="1846915"/>
            <a:ext cx="100968" cy="88347"/>
          </a:xfrm>
          <a:prstGeom prst="triangle">
            <a:avLst/>
          </a:prstGeom>
          <a:solidFill>
            <a:srgbClr val="143A6B">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7746677" y="2162443"/>
            <a:ext cx="75726" cy="119900"/>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PAGE TOUR</a:t>
            </a:r>
          </a:p>
        </p:txBody>
      </p:sp>
      <p:sp>
        <p:nvSpPr>
          <p:cNvPr id="66" name="Rectangle 65"/>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全ページ紹介</a:t>
            </a:r>
            <a:endParaRPr sz="2700" b="1" i="0" dirty="0">
              <a:solidFill>
                <a:srgbClr val="EEF4FF"/>
              </a:solidFill>
              <a:latin typeface="Meiryo UI" panose="020B0604030504040204" pitchFamily="50" charset="-128"/>
            </a:endParaRPr>
          </a:p>
        </p:txBody>
      </p:sp>
      <p:sp>
        <p:nvSpPr>
          <p:cNvPr id="105" name="Rounded Rectangle 114"/>
          <p:cNvSpPr/>
          <p:nvPr/>
        </p:nvSpPr>
        <p:spPr>
          <a:xfrm>
            <a:off x="1655064" y="1600200"/>
            <a:ext cx="2651760" cy="1955110"/>
          </a:xfrm>
          <a:prstGeom prst="roundRect">
            <a:avLst>
              <a:gd name="adj" fmla="val 3000"/>
            </a:avLst>
          </a:prstGeom>
          <a:solidFill>
            <a:srgbClr val="060D1E"/>
          </a:solidFill>
          <a:ln w="12700">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Rectangle 115"/>
          <p:cNvSpPr/>
          <p:nvPr/>
        </p:nvSpPr>
        <p:spPr>
          <a:xfrm>
            <a:off x="1655064" y="1600200"/>
            <a:ext cx="2651760" cy="179780"/>
          </a:xfrm>
          <a:prstGeom prst="rect">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16"/>
          <p:cNvSpPr/>
          <p:nvPr/>
        </p:nvSpPr>
        <p:spPr>
          <a:xfrm>
            <a:off x="1735965"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17"/>
          <p:cNvSpPr/>
          <p:nvPr/>
        </p:nvSpPr>
        <p:spPr>
          <a:xfrm>
            <a:off x="1834844"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18"/>
          <p:cNvSpPr/>
          <p:nvPr/>
        </p:nvSpPr>
        <p:spPr>
          <a:xfrm>
            <a:off x="1933723"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0" name="Picture 109" descr="album.png"/>
          <p:cNvPicPr>
            <a:picLocks noChangeAspect="1"/>
          </p:cNvPicPr>
          <p:nvPr/>
        </p:nvPicPr>
        <p:blipFill>
          <a:blip r:embed="rId3"/>
          <a:stretch>
            <a:fillRect/>
          </a:stretch>
        </p:blipFill>
        <p:spPr>
          <a:xfrm>
            <a:off x="1655064" y="1779980"/>
            <a:ext cx="2651760" cy="1775330"/>
          </a:xfrm>
          <a:prstGeom prst="rect">
            <a:avLst/>
          </a:prstGeom>
        </p:spPr>
      </p:pic>
      <p:sp>
        <p:nvSpPr>
          <p:cNvPr id="111" name="TextBox 110"/>
          <p:cNvSpPr txBox="1"/>
          <p:nvPr/>
        </p:nvSpPr>
        <p:spPr>
          <a:xfrm>
            <a:off x="1655064" y="3615310"/>
            <a:ext cx="2651760" cy="274320"/>
          </a:xfrm>
          <a:prstGeom prst="rect">
            <a:avLst/>
          </a:prstGeom>
          <a:noFill/>
        </p:spPr>
        <p:txBody>
          <a:bodyPr wrap="square">
            <a:spAutoFit/>
          </a:bodyPr>
          <a:lstStyle/>
          <a:p>
            <a:pPr algn="l"/>
            <a:r>
              <a:rPr sz="1200" b="1" spc="50">
                <a:solidFill>
                  <a:srgbClr val="9AD5FF"/>
                </a:solidFill>
                <a:latin typeface="Georgia"/>
              </a:rPr>
              <a:t>MEMORY ALBUM</a:t>
            </a:r>
          </a:p>
        </p:txBody>
      </p:sp>
      <p:sp>
        <p:nvSpPr>
          <p:cNvPr id="110" name="Rounded Rectangle 114"/>
          <p:cNvSpPr/>
          <p:nvPr/>
        </p:nvSpPr>
        <p:spPr>
          <a:xfrm>
            <a:off x="4764024" y="1600200"/>
            <a:ext cx="2651760" cy="1955110"/>
          </a:xfrm>
          <a:prstGeom prst="roundRect">
            <a:avLst>
              <a:gd name="adj" fmla="val 3000"/>
            </a:avLst>
          </a:prstGeom>
          <a:solidFill>
            <a:srgbClr val="060D1E"/>
          </a:solidFill>
          <a:ln w="12700">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5"/>
          <p:cNvSpPr/>
          <p:nvPr/>
        </p:nvSpPr>
        <p:spPr>
          <a:xfrm>
            <a:off x="4764024" y="1600200"/>
            <a:ext cx="2651760" cy="179780"/>
          </a:xfrm>
          <a:prstGeom prst="rect">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6"/>
          <p:cNvSpPr/>
          <p:nvPr/>
        </p:nvSpPr>
        <p:spPr>
          <a:xfrm>
            <a:off x="4844925"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7"/>
          <p:cNvSpPr/>
          <p:nvPr/>
        </p:nvSpPr>
        <p:spPr>
          <a:xfrm>
            <a:off x="4943804"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8"/>
          <p:cNvSpPr/>
          <p:nvPr/>
        </p:nvSpPr>
        <p:spPr>
          <a:xfrm>
            <a:off x="5042683"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5" name="Picture 114" descr="timeline.png"/>
          <p:cNvPicPr>
            <a:picLocks noChangeAspect="1"/>
          </p:cNvPicPr>
          <p:nvPr/>
        </p:nvPicPr>
        <p:blipFill>
          <a:blip r:embed="rId4"/>
          <a:stretch>
            <a:fillRect/>
          </a:stretch>
        </p:blipFill>
        <p:spPr>
          <a:xfrm>
            <a:off x="4764024" y="1779980"/>
            <a:ext cx="2651760" cy="1775330"/>
          </a:xfrm>
          <a:prstGeom prst="rect">
            <a:avLst/>
          </a:prstGeom>
        </p:spPr>
      </p:pic>
      <p:sp>
        <p:nvSpPr>
          <p:cNvPr id="116" name="TextBox 115"/>
          <p:cNvSpPr txBox="1"/>
          <p:nvPr/>
        </p:nvSpPr>
        <p:spPr>
          <a:xfrm>
            <a:off x="4764024" y="3615310"/>
            <a:ext cx="2651760" cy="274320"/>
          </a:xfrm>
          <a:prstGeom prst="rect">
            <a:avLst/>
          </a:prstGeom>
          <a:noFill/>
        </p:spPr>
        <p:txBody>
          <a:bodyPr wrap="square">
            <a:spAutoFit/>
          </a:bodyPr>
          <a:lstStyle/>
          <a:p>
            <a:pPr algn="l"/>
            <a:r>
              <a:rPr sz="1200" b="1" spc="50">
                <a:solidFill>
                  <a:srgbClr val="9AD5FF"/>
                </a:solidFill>
                <a:latin typeface="Georgia"/>
              </a:rPr>
              <a:t>TIMELINE</a:t>
            </a:r>
          </a:p>
        </p:txBody>
      </p:sp>
      <p:sp>
        <p:nvSpPr>
          <p:cNvPr id="115" name="Rounded Rectangle 114"/>
          <p:cNvSpPr/>
          <p:nvPr/>
        </p:nvSpPr>
        <p:spPr>
          <a:xfrm>
            <a:off x="7882127" y="1600200"/>
            <a:ext cx="2651760" cy="1955110"/>
          </a:xfrm>
          <a:prstGeom prst="roundRect">
            <a:avLst>
              <a:gd name="adj" fmla="val 3000"/>
            </a:avLst>
          </a:prstGeom>
          <a:solidFill>
            <a:srgbClr val="060D1E"/>
          </a:solidFill>
          <a:ln w="12700">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7882127" y="1600200"/>
            <a:ext cx="2651760" cy="179780"/>
          </a:xfrm>
          <a:prstGeom prst="rect">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7963028"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8061907"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8160786" y="1663123"/>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0" name="Picture 119" descr="music.png"/>
          <p:cNvPicPr>
            <a:picLocks noChangeAspect="1"/>
          </p:cNvPicPr>
          <p:nvPr/>
        </p:nvPicPr>
        <p:blipFill>
          <a:blip r:embed="rId5"/>
          <a:stretch>
            <a:fillRect/>
          </a:stretch>
        </p:blipFill>
        <p:spPr>
          <a:xfrm>
            <a:off x="7882127" y="1779980"/>
            <a:ext cx="2651760" cy="1775330"/>
          </a:xfrm>
          <a:prstGeom prst="rect">
            <a:avLst/>
          </a:prstGeom>
        </p:spPr>
      </p:pic>
      <p:sp>
        <p:nvSpPr>
          <p:cNvPr id="121" name="TextBox 120"/>
          <p:cNvSpPr txBox="1"/>
          <p:nvPr/>
        </p:nvSpPr>
        <p:spPr>
          <a:xfrm>
            <a:off x="7882127" y="3615310"/>
            <a:ext cx="2651760" cy="274320"/>
          </a:xfrm>
          <a:prstGeom prst="rect">
            <a:avLst/>
          </a:prstGeom>
          <a:noFill/>
        </p:spPr>
        <p:txBody>
          <a:bodyPr wrap="square">
            <a:spAutoFit/>
          </a:bodyPr>
          <a:lstStyle/>
          <a:p>
            <a:pPr algn="l"/>
            <a:r>
              <a:rPr sz="1200" b="1" spc="50">
                <a:solidFill>
                  <a:srgbClr val="9AD5FF"/>
                </a:solidFill>
                <a:latin typeface="Georgia"/>
              </a:rPr>
              <a:t>MEMORY THEMES</a:t>
            </a:r>
          </a:p>
        </p:txBody>
      </p:sp>
      <p:sp>
        <p:nvSpPr>
          <p:cNvPr id="120" name="Rounded Rectangle 114"/>
          <p:cNvSpPr/>
          <p:nvPr/>
        </p:nvSpPr>
        <p:spPr>
          <a:xfrm>
            <a:off x="1655064" y="4041648"/>
            <a:ext cx="2651760" cy="1955110"/>
          </a:xfrm>
          <a:prstGeom prst="roundRect">
            <a:avLst>
              <a:gd name="adj" fmla="val 3000"/>
            </a:avLst>
          </a:prstGeom>
          <a:solidFill>
            <a:srgbClr val="060D1E"/>
          </a:solidFill>
          <a:ln w="12700">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15"/>
          <p:cNvSpPr/>
          <p:nvPr/>
        </p:nvSpPr>
        <p:spPr>
          <a:xfrm>
            <a:off x="1655064" y="4041648"/>
            <a:ext cx="2651760" cy="179780"/>
          </a:xfrm>
          <a:prstGeom prst="rect">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16"/>
          <p:cNvSpPr/>
          <p:nvPr/>
        </p:nvSpPr>
        <p:spPr>
          <a:xfrm>
            <a:off x="1735965"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17"/>
          <p:cNvSpPr/>
          <p:nvPr/>
        </p:nvSpPr>
        <p:spPr>
          <a:xfrm>
            <a:off x="1834844"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18"/>
          <p:cNvSpPr/>
          <p:nvPr/>
        </p:nvSpPr>
        <p:spPr>
          <a:xfrm>
            <a:off x="1933723"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5" name="Picture 124" descr="roxas.png"/>
          <p:cNvPicPr>
            <a:picLocks noChangeAspect="1"/>
          </p:cNvPicPr>
          <p:nvPr/>
        </p:nvPicPr>
        <p:blipFill>
          <a:blip r:embed="rId6"/>
          <a:stretch>
            <a:fillRect/>
          </a:stretch>
        </p:blipFill>
        <p:spPr>
          <a:xfrm>
            <a:off x="1655064" y="4221428"/>
            <a:ext cx="2651760" cy="1775330"/>
          </a:xfrm>
          <a:prstGeom prst="rect">
            <a:avLst/>
          </a:prstGeom>
        </p:spPr>
      </p:pic>
      <p:sp>
        <p:nvSpPr>
          <p:cNvPr id="126" name="TextBox 125"/>
          <p:cNvSpPr txBox="1"/>
          <p:nvPr/>
        </p:nvSpPr>
        <p:spPr>
          <a:xfrm>
            <a:off x="1655064" y="6056758"/>
            <a:ext cx="2651760" cy="274320"/>
          </a:xfrm>
          <a:prstGeom prst="rect">
            <a:avLst/>
          </a:prstGeom>
          <a:noFill/>
        </p:spPr>
        <p:txBody>
          <a:bodyPr wrap="square">
            <a:spAutoFit/>
          </a:bodyPr>
          <a:lstStyle/>
          <a:p>
            <a:pPr algn="l"/>
            <a:r>
              <a:rPr sz="1200" b="1" spc="50">
                <a:solidFill>
                  <a:srgbClr val="9AD5FF"/>
                </a:solidFill>
                <a:latin typeface="Georgia"/>
              </a:rPr>
              <a:t>MEMORY OF SUMMER</a:t>
            </a:r>
          </a:p>
        </p:txBody>
      </p:sp>
      <p:sp>
        <p:nvSpPr>
          <p:cNvPr id="125" name="Rounded Rectangle 114"/>
          <p:cNvSpPr/>
          <p:nvPr/>
        </p:nvSpPr>
        <p:spPr>
          <a:xfrm>
            <a:off x="4764024" y="4041648"/>
            <a:ext cx="2651760" cy="1955110"/>
          </a:xfrm>
          <a:prstGeom prst="roundRect">
            <a:avLst>
              <a:gd name="adj" fmla="val 3000"/>
            </a:avLst>
          </a:prstGeom>
          <a:solidFill>
            <a:srgbClr val="060D1E"/>
          </a:solidFill>
          <a:ln w="12700">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15"/>
          <p:cNvSpPr/>
          <p:nvPr/>
        </p:nvSpPr>
        <p:spPr>
          <a:xfrm>
            <a:off x="4764024" y="4041648"/>
            <a:ext cx="2651760" cy="179780"/>
          </a:xfrm>
          <a:prstGeom prst="rect">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16"/>
          <p:cNvSpPr/>
          <p:nvPr/>
        </p:nvSpPr>
        <p:spPr>
          <a:xfrm>
            <a:off x="4844925"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17"/>
          <p:cNvSpPr/>
          <p:nvPr/>
        </p:nvSpPr>
        <p:spPr>
          <a:xfrm>
            <a:off x="4943804"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18"/>
          <p:cNvSpPr/>
          <p:nvPr/>
        </p:nvSpPr>
        <p:spPr>
          <a:xfrm>
            <a:off x="5042683"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0" name="Picture 129" descr="crossover2.png"/>
          <p:cNvPicPr>
            <a:picLocks noChangeAspect="1"/>
          </p:cNvPicPr>
          <p:nvPr/>
        </p:nvPicPr>
        <p:blipFill>
          <a:blip r:embed="rId7"/>
          <a:stretch>
            <a:fillRect/>
          </a:stretch>
        </p:blipFill>
        <p:spPr>
          <a:xfrm>
            <a:off x="4764024" y="4221428"/>
            <a:ext cx="2651760" cy="1775330"/>
          </a:xfrm>
          <a:prstGeom prst="rect">
            <a:avLst/>
          </a:prstGeom>
        </p:spPr>
      </p:pic>
      <p:sp>
        <p:nvSpPr>
          <p:cNvPr id="131" name="TextBox 130"/>
          <p:cNvSpPr txBox="1"/>
          <p:nvPr/>
        </p:nvSpPr>
        <p:spPr>
          <a:xfrm>
            <a:off x="4764024" y="6056758"/>
            <a:ext cx="2651760" cy="274320"/>
          </a:xfrm>
          <a:prstGeom prst="rect">
            <a:avLst/>
          </a:prstGeom>
          <a:noFill/>
        </p:spPr>
        <p:txBody>
          <a:bodyPr wrap="square">
            <a:spAutoFit/>
          </a:bodyPr>
          <a:lstStyle/>
          <a:p>
            <a:pPr algn="l"/>
            <a:r>
              <a:rPr sz="1200" b="1" spc="50">
                <a:solidFill>
                  <a:srgbClr val="9AD5FF"/>
                </a:solidFill>
                <a:latin typeface="Georgia"/>
              </a:rPr>
              <a:t>MEMORY CROSSOVER</a:t>
            </a:r>
          </a:p>
        </p:txBody>
      </p:sp>
      <p:sp>
        <p:nvSpPr>
          <p:cNvPr id="130" name="Rounded Rectangle 114"/>
          <p:cNvSpPr/>
          <p:nvPr/>
        </p:nvSpPr>
        <p:spPr>
          <a:xfrm>
            <a:off x="7882127" y="4041648"/>
            <a:ext cx="2651760" cy="1955110"/>
          </a:xfrm>
          <a:prstGeom prst="roundRect">
            <a:avLst>
              <a:gd name="adj" fmla="val 3000"/>
            </a:avLst>
          </a:prstGeom>
          <a:solidFill>
            <a:srgbClr val="060D1E"/>
          </a:solidFill>
          <a:ln w="12700">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Rectangle 115"/>
          <p:cNvSpPr/>
          <p:nvPr/>
        </p:nvSpPr>
        <p:spPr>
          <a:xfrm>
            <a:off x="7882127" y="4041648"/>
            <a:ext cx="2651760" cy="179780"/>
          </a:xfrm>
          <a:prstGeom prst="rect">
            <a:avLst/>
          </a:prstGeom>
          <a:solidFill>
            <a:srgbClr val="0A1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16"/>
          <p:cNvSpPr/>
          <p:nvPr/>
        </p:nvSpPr>
        <p:spPr>
          <a:xfrm>
            <a:off x="7963028"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17"/>
          <p:cNvSpPr/>
          <p:nvPr/>
        </p:nvSpPr>
        <p:spPr>
          <a:xfrm>
            <a:off x="8061907"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18"/>
          <p:cNvSpPr/>
          <p:nvPr/>
        </p:nvSpPr>
        <p:spPr>
          <a:xfrm>
            <a:off x="8160786" y="4104571"/>
            <a:ext cx="49439" cy="49439"/>
          </a:xfrm>
          <a:prstGeom prst="ellipse">
            <a:avLst/>
          </a:prstGeom>
          <a:solidFill>
            <a:srgbClr val="7D8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5" name="Picture 134" descr="secret.png"/>
          <p:cNvPicPr>
            <a:picLocks noChangeAspect="1"/>
          </p:cNvPicPr>
          <p:nvPr/>
        </p:nvPicPr>
        <p:blipFill>
          <a:blip r:embed="rId8"/>
          <a:stretch>
            <a:fillRect/>
          </a:stretch>
        </p:blipFill>
        <p:spPr>
          <a:xfrm>
            <a:off x="7882127" y="4221428"/>
            <a:ext cx="2651760" cy="1775330"/>
          </a:xfrm>
          <a:prstGeom prst="rect">
            <a:avLst/>
          </a:prstGeom>
        </p:spPr>
      </p:pic>
      <p:sp>
        <p:nvSpPr>
          <p:cNvPr id="136" name="TextBox 135"/>
          <p:cNvSpPr txBox="1"/>
          <p:nvPr/>
        </p:nvSpPr>
        <p:spPr>
          <a:xfrm>
            <a:off x="7882127" y="6056758"/>
            <a:ext cx="2651760" cy="274320"/>
          </a:xfrm>
          <a:prstGeom prst="rect">
            <a:avLst/>
          </a:prstGeom>
          <a:noFill/>
        </p:spPr>
        <p:txBody>
          <a:bodyPr wrap="square">
            <a:spAutoFit/>
          </a:bodyPr>
          <a:lstStyle/>
          <a:p>
            <a:pPr algn="l"/>
            <a:r>
              <a:rPr sz="1200" b="1" spc="50">
                <a:solidFill>
                  <a:srgbClr val="9AD5FF"/>
                </a:solidFill>
                <a:latin typeface="Georgia"/>
              </a:rPr>
              <a:t>SECRET MEMORY</a:t>
            </a:r>
          </a:p>
        </p:txBody>
      </p:sp>
      <p:sp>
        <p:nvSpPr>
          <p:cNvPr id="137" name="TextBox 149"/>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38" name="TextBox 150"/>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06 /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991355" y="-10392156"/>
            <a:ext cx="12371831" cy="12371831"/>
          </a:xfrm>
          <a:prstGeom prst="ellipse">
            <a:avLst/>
          </a:prstGeom>
          <a:solidFill>
            <a:srgbClr val="9AD5FF">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840480" y="-10241280"/>
            <a:ext cx="12070080" cy="12070080"/>
          </a:xfrm>
          <a:prstGeom prst="ellipse">
            <a:avLst/>
          </a:prstGeom>
          <a:noFill/>
          <a:ln w="330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150668" y="-8551468"/>
            <a:ext cx="8690457" cy="8690457"/>
          </a:xfrm>
          <a:prstGeom prst="ellipse">
            <a:avLst/>
          </a:prstGeom>
          <a:noFill/>
          <a:ln w="2540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81558" y="-6982358"/>
            <a:ext cx="5552236" cy="5552236"/>
          </a:xfrm>
          <a:prstGeom prst="ellipse">
            <a:avLst/>
          </a:prstGeom>
          <a:noFill/>
          <a:ln w="203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4759358" y="-3143865"/>
            <a:ext cx="2676312" cy="1108565"/>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7254619" y="-2216351"/>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3256934" y="-1641441"/>
            <a:ext cx="1108565" cy="267631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4184448" y="853819"/>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23620" y="-1641441"/>
            <a:ext cx="1108565" cy="267631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157430" y="853819"/>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3046550" y="-3143865"/>
            <a:ext cx="2676312" cy="1108565"/>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3227602" y="-2216351"/>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3046550" y="-6377179"/>
            <a:ext cx="2676312" cy="1108565"/>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3227602" y="-6558230"/>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23620" y="-9447350"/>
            <a:ext cx="1108565" cy="2676312"/>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157430" y="-9628402"/>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3256934" y="-9447350"/>
            <a:ext cx="1108565" cy="2676312"/>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4184448" y="-9628402"/>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4759358" y="-6377179"/>
            <a:ext cx="2676312" cy="1108565"/>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7254619" y="-6558230"/>
            <a:ext cx="362102" cy="362102"/>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172701" y="2458908"/>
            <a:ext cx="96332" cy="96332"/>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iamond 33"/>
          <p:cNvSpPr/>
          <p:nvPr/>
        </p:nvSpPr>
        <p:spPr>
          <a:xfrm>
            <a:off x="3911663" y="5027149"/>
            <a:ext cx="67143" cy="67143"/>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310908" y="4922424"/>
            <a:ext cx="55165" cy="55165"/>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343664" y="1355612"/>
            <a:ext cx="73250" cy="73250"/>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iamond 36"/>
          <p:cNvSpPr/>
          <p:nvPr/>
        </p:nvSpPr>
        <p:spPr>
          <a:xfrm>
            <a:off x="5550685" y="5718233"/>
            <a:ext cx="104630" cy="104630"/>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386964" y="4069558"/>
            <a:ext cx="107151" cy="107151"/>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274392" y="1856785"/>
            <a:ext cx="105209" cy="10520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7370371" y="1033485"/>
            <a:ext cx="98409" cy="9840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191491" y="6301453"/>
            <a:ext cx="108177" cy="108177"/>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799370" y="3580561"/>
            <a:ext cx="78025" cy="78025"/>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386501" y="5381135"/>
            <a:ext cx="78716" cy="78716"/>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1117879" y="5171219"/>
            <a:ext cx="105321" cy="105321"/>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iamond 44"/>
          <p:cNvSpPr/>
          <p:nvPr/>
        </p:nvSpPr>
        <p:spPr>
          <a:xfrm>
            <a:off x="1831735" y="2886711"/>
            <a:ext cx="64325" cy="64325"/>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862869" y="996534"/>
            <a:ext cx="76513" cy="76513"/>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iamond 46"/>
          <p:cNvSpPr/>
          <p:nvPr/>
        </p:nvSpPr>
        <p:spPr>
          <a:xfrm>
            <a:off x="10053865" y="6247892"/>
            <a:ext cx="82970" cy="82970"/>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Diamond 47"/>
          <p:cNvSpPr/>
          <p:nvPr/>
        </p:nvSpPr>
        <p:spPr>
          <a:xfrm>
            <a:off x="2573646" y="670616"/>
            <a:ext cx="101286" cy="101286"/>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463201" y="3084376"/>
            <a:ext cx="83089" cy="8308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727758" y="778419"/>
            <a:ext cx="86363" cy="86363"/>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5-Point Star 50"/>
          <p:cNvSpPr/>
          <p:nvPr/>
        </p:nvSpPr>
        <p:spPr>
          <a:xfrm>
            <a:off x="2183627" y="1769567"/>
            <a:ext cx="436773" cy="436773"/>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207313" y="1749263"/>
            <a:ext cx="457305" cy="166292"/>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2228100" y="1629740"/>
            <a:ext cx="83146" cy="155899"/>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Isosceles Triangle 53"/>
          <p:cNvSpPr/>
          <p:nvPr/>
        </p:nvSpPr>
        <p:spPr>
          <a:xfrm>
            <a:off x="2228100" y="1556987"/>
            <a:ext cx="83146" cy="72753"/>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394393" y="1515414"/>
            <a:ext cx="83146" cy="270225"/>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a:off x="2394393" y="1442661"/>
            <a:ext cx="83146" cy="72753"/>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539899" y="1629740"/>
            <a:ext cx="83146" cy="155899"/>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Isosceles Triangle 57"/>
          <p:cNvSpPr/>
          <p:nvPr/>
        </p:nvSpPr>
        <p:spPr>
          <a:xfrm>
            <a:off x="2539899" y="1556987"/>
            <a:ext cx="83146" cy="72753"/>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2404786" y="1816820"/>
            <a:ext cx="62359" cy="98736"/>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2971724" y="1960818"/>
            <a:ext cx="347552" cy="126382"/>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2987522" y="1869980"/>
            <a:ext cx="63191" cy="118483"/>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Isosceles Triangle 61"/>
          <p:cNvSpPr/>
          <p:nvPr/>
        </p:nvSpPr>
        <p:spPr>
          <a:xfrm>
            <a:off x="2987522" y="1814688"/>
            <a:ext cx="63191" cy="55292"/>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3113905" y="1783092"/>
            <a:ext cx="63191" cy="205371"/>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Isosceles Triangle 63"/>
          <p:cNvSpPr/>
          <p:nvPr/>
        </p:nvSpPr>
        <p:spPr>
          <a:xfrm>
            <a:off x="3113905" y="1727800"/>
            <a:ext cx="63191" cy="55292"/>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3224490" y="1869980"/>
            <a:ext cx="63191" cy="118483"/>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Isosceles Triangle 65"/>
          <p:cNvSpPr/>
          <p:nvPr/>
        </p:nvSpPr>
        <p:spPr>
          <a:xfrm>
            <a:off x="3224490" y="1814688"/>
            <a:ext cx="63191" cy="55292"/>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3121804" y="2012161"/>
            <a:ext cx="47393" cy="75039"/>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4445883" y="5789052"/>
            <a:ext cx="433606" cy="157675"/>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465592" y="5675723"/>
            <a:ext cx="78837" cy="147820"/>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Isosceles Triangle 69"/>
          <p:cNvSpPr/>
          <p:nvPr/>
        </p:nvSpPr>
        <p:spPr>
          <a:xfrm>
            <a:off x="4465592" y="5606740"/>
            <a:ext cx="78837" cy="68982"/>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4623267" y="5567321"/>
            <a:ext cx="78837" cy="256222"/>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Isosceles Triangle 71"/>
          <p:cNvSpPr/>
          <p:nvPr/>
        </p:nvSpPr>
        <p:spPr>
          <a:xfrm>
            <a:off x="4623267" y="5498338"/>
            <a:ext cx="78837" cy="68982"/>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4761233" y="5675723"/>
            <a:ext cx="78837" cy="147820"/>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Isosceles Triangle 73"/>
          <p:cNvSpPr/>
          <p:nvPr/>
        </p:nvSpPr>
        <p:spPr>
          <a:xfrm>
            <a:off x="4761233" y="5606740"/>
            <a:ext cx="78837" cy="68982"/>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4633122" y="5853107"/>
            <a:ext cx="59128" cy="93619"/>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5-Point Star 75"/>
          <p:cNvSpPr/>
          <p:nvPr/>
        </p:nvSpPr>
        <p:spPr>
          <a:xfrm>
            <a:off x="10189989" y="5795562"/>
            <a:ext cx="485724" cy="485724"/>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5-Point Star 76"/>
          <p:cNvSpPr/>
          <p:nvPr/>
        </p:nvSpPr>
        <p:spPr>
          <a:xfrm>
            <a:off x="3700382" y="4946675"/>
            <a:ext cx="613455" cy="613455"/>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rot="19800000">
            <a:off x="11281529" y="5397321"/>
            <a:ext cx="48464" cy="323099"/>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5-Point Star 78"/>
          <p:cNvSpPr/>
          <p:nvPr/>
        </p:nvSpPr>
        <p:spPr>
          <a:xfrm>
            <a:off x="11189984" y="5214232"/>
            <a:ext cx="247709" cy="247709"/>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4-Point Star 79"/>
          <p:cNvSpPr/>
          <p:nvPr/>
        </p:nvSpPr>
        <p:spPr>
          <a:xfrm>
            <a:off x="11119979" y="5429631"/>
            <a:ext cx="86159" cy="86159"/>
          </a:xfrm>
          <a:prstGeom prst="star4">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4-Point Star 80"/>
          <p:cNvSpPr/>
          <p:nvPr/>
        </p:nvSpPr>
        <p:spPr>
          <a:xfrm>
            <a:off x="11076899" y="5537331"/>
            <a:ext cx="59234" cy="59234"/>
          </a:xfrm>
          <a:prstGeom prst="star4">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DESIGN &amp; WORLD</a:t>
            </a:r>
          </a:p>
        </p:txBody>
      </p:sp>
      <p:sp>
        <p:nvSpPr>
          <p:cNvPr id="83" name="Rectangle 82"/>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デザインイメージと世界観</a:t>
            </a:r>
            <a:endParaRPr sz="2700" b="1" i="0" dirty="0">
              <a:solidFill>
                <a:srgbClr val="EEF4FF"/>
              </a:solidFill>
              <a:latin typeface="Meiryo UI" panose="020B0604030504040204" pitchFamily="50" charset="-128"/>
            </a:endParaRPr>
          </a:p>
        </p:txBody>
      </p:sp>
      <p:sp>
        <p:nvSpPr>
          <p:cNvPr id="85" name="TextBox 84"/>
          <p:cNvSpPr txBox="1"/>
          <p:nvPr/>
        </p:nvSpPr>
        <p:spPr>
          <a:xfrm>
            <a:off x="822960" y="1691640"/>
            <a:ext cx="3657600" cy="184666"/>
          </a:xfrm>
          <a:prstGeom prst="rect">
            <a:avLst/>
          </a:prstGeom>
          <a:noFill/>
        </p:spPr>
        <p:txBody>
          <a:bodyPr wrap="square" lIns="0" tIns="0" rIns="0" bIns="0" anchor="t">
            <a:spAutoFit/>
          </a:bodyPr>
          <a:lstStyle/>
          <a:p>
            <a:pPr algn="l">
              <a:lnSpc>
                <a:spcPct val="100000"/>
              </a:lnSpc>
              <a:spcAft>
                <a:spcPts val="0"/>
              </a:spcAft>
            </a:pPr>
            <a:r>
              <a:rPr sz="1200" b="1" i="0" dirty="0" err="1">
                <a:solidFill>
                  <a:srgbClr val="9AD5FF"/>
                </a:solidFill>
                <a:latin typeface="Meiryo UI" panose="020B0604030504040204" pitchFamily="50" charset="-128"/>
              </a:rPr>
              <a:t>カラーパレット</a:t>
            </a:r>
            <a:endParaRPr sz="1200" b="1" i="0" dirty="0">
              <a:solidFill>
                <a:srgbClr val="9AD5FF"/>
              </a:solidFill>
              <a:latin typeface="Meiryo UI" panose="020B0604030504040204" pitchFamily="50" charset="-128"/>
            </a:endParaRPr>
          </a:p>
        </p:txBody>
      </p:sp>
      <p:sp>
        <p:nvSpPr>
          <p:cNvPr id="86" name="Rounded Rectangle 85"/>
          <p:cNvSpPr/>
          <p:nvPr/>
        </p:nvSpPr>
        <p:spPr>
          <a:xfrm>
            <a:off x="822960" y="2057400"/>
            <a:ext cx="1417320" cy="1051560"/>
          </a:xfrm>
          <a:prstGeom prst="roundRect">
            <a:avLst>
              <a:gd name="adj" fmla="val 8000"/>
            </a:avLst>
          </a:prstGeom>
          <a:solidFill>
            <a:srgbClr val="03060D"/>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22960" y="3182112"/>
            <a:ext cx="1417320" cy="146194"/>
          </a:xfrm>
          <a:prstGeom prst="rect">
            <a:avLst/>
          </a:prstGeom>
          <a:noFill/>
        </p:spPr>
        <p:txBody>
          <a:bodyPr wrap="square" lIns="0" tIns="0" rIns="0" bIns="0" anchor="t">
            <a:spAutoFit/>
          </a:bodyPr>
          <a:lstStyle/>
          <a:p>
            <a:pPr algn="ctr">
              <a:lnSpc>
                <a:spcPct val="100000"/>
              </a:lnSpc>
              <a:spcAft>
                <a:spcPts val="0"/>
              </a:spcAft>
            </a:pPr>
            <a:r>
              <a:rPr sz="950" b="0" i="0" dirty="0">
                <a:solidFill>
                  <a:srgbClr val="EEF4FF"/>
                </a:solidFill>
                <a:latin typeface="Meiryo UI" panose="020B0604030504040204" pitchFamily="50" charset="-128"/>
              </a:rPr>
              <a:t>Void Black</a:t>
            </a:r>
          </a:p>
        </p:txBody>
      </p:sp>
      <p:sp>
        <p:nvSpPr>
          <p:cNvPr id="88" name="TextBox 87"/>
          <p:cNvSpPr txBox="1"/>
          <p:nvPr/>
        </p:nvSpPr>
        <p:spPr>
          <a:xfrm>
            <a:off x="822960" y="3401568"/>
            <a:ext cx="1417320" cy="228600"/>
          </a:xfrm>
          <a:prstGeom prst="rect">
            <a:avLst/>
          </a:prstGeom>
          <a:noFill/>
        </p:spPr>
        <p:txBody>
          <a:bodyPr wrap="square" lIns="0" tIns="0" rIns="0" bIns="0" anchor="t">
            <a:spAutoFit/>
          </a:bodyPr>
          <a:lstStyle/>
          <a:p>
            <a:pPr algn="ctr">
              <a:lnSpc>
                <a:spcPct val="100000"/>
              </a:lnSpc>
              <a:spcAft>
                <a:spcPts val="0"/>
              </a:spcAft>
            </a:pPr>
            <a:r>
              <a:rPr sz="850" b="0" i="0">
                <a:solidFill>
                  <a:srgbClr val="7D8FAE"/>
                </a:solidFill>
                <a:latin typeface="Georgia"/>
              </a:rPr>
              <a:t>#03060D</a:t>
            </a:r>
          </a:p>
        </p:txBody>
      </p:sp>
      <p:sp>
        <p:nvSpPr>
          <p:cNvPr id="89" name="Rounded Rectangle 88"/>
          <p:cNvSpPr/>
          <p:nvPr/>
        </p:nvSpPr>
        <p:spPr>
          <a:xfrm>
            <a:off x="2514600" y="2057400"/>
            <a:ext cx="1417320" cy="1051560"/>
          </a:xfrm>
          <a:prstGeom prst="roundRect">
            <a:avLst>
              <a:gd name="adj" fmla="val 8000"/>
            </a:avLst>
          </a:prstGeom>
          <a:solidFill>
            <a:srgbClr val="060D1E"/>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2514600" y="3182112"/>
            <a:ext cx="1417320" cy="146194"/>
          </a:xfrm>
          <a:prstGeom prst="rect">
            <a:avLst/>
          </a:prstGeom>
          <a:noFill/>
        </p:spPr>
        <p:txBody>
          <a:bodyPr wrap="square" lIns="0" tIns="0" rIns="0" bIns="0" anchor="t">
            <a:spAutoFit/>
          </a:bodyPr>
          <a:lstStyle/>
          <a:p>
            <a:pPr algn="ctr">
              <a:lnSpc>
                <a:spcPct val="100000"/>
              </a:lnSpc>
              <a:spcAft>
                <a:spcPts val="0"/>
              </a:spcAft>
            </a:pPr>
            <a:r>
              <a:rPr sz="950" b="0" i="0" dirty="0">
                <a:solidFill>
                  <a:srgbClr val="EEF4FF"/>
                </a:solidFill>
                <a:latin typeface="Meiryo UI" panose="020B0604030504040204" pitchFamily="50" charset="-128"/>
              </a:rPr>
              <a:t>Dark Navy</a:t>
            </a:r>
          </a:p>
        </p:txBody>
      </p:sp>
      <p:sp>
        <p:nvSpPr>
          <p:cNvPr id="91" name="TextBox 90"/>
          <p:cNvSpPr txBox="1"/>
          <p:nvPr/>
        </p:nvSpPr>
        <p:spPr>
          <a:xfrm>
            <a:off x="2514600" y="3401568"/>
            <a:ext cx="1417320" cy="228600"/>
          </a:xfrm>
          <a:prstGeom prst="rect">
            <a:avLst/>
          </a:prstGeom>
          <a:noFill/>
        </p:spPr>
        <p:txBody>
          <a:bodyPr wrap="square" lIns="0" tIns="0" rIns="0" bIns="0" anchor="t">
            <a:spAutoFit/>
          </a:bodyPr>
          <a:lstStyle/>
          <a:p>
            <a:pPr algn="ctr">
              <a:lnSpc>
                <a:spcPct val="100000"/>
              </a:lnSpc>
              <a:spcAft>
                <a:spcPts val="0"/>
              </a:spcAft>
            </a:pPr>
            <a:r>
              <a:rPr sz="850" b="0" i="0">
                <a:solidFill>
                  <a:srgbClr val="7D8FAE"/>
                </a:solidFill>
                <a:latin typeface="Georgia"/>
              </a:rPr>
              <a:t>#060D1E</a:t>
            </a:r>
          </a:p>
        </p:txBody>
      </p:sp>
      <p:sp>
        <p:nvSpPr>
          <p:cNvPr id="92" name="Rounded Rectangle 91"/>
          <p:cNvSpPr/>
          <p:nvPr/>
        </p:nvSpPr>
        <p:spPr>
          <a:xfrm>
            <a:off x="4206240" y="2057400"/>
            <a:ext cx="1417320" cy="1051560"/>
          </a:xfrm>
          <a:prstGeom prst="roundRect">
            <a:avLst>
              <a:gd name="adj" fmla="val 8000"/>
            </a:avLst>
          </a:prstGeom>
          <a:solidFill>
            <a:srgbClr val="4DA6FF"/>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4206240" y="3182112"/>
            <a:ext cx="1417320" cy="146194"/>
          </a:xfrm>
          <a:prstGeom prst="rect">
            <a:avLst/>
          </a:prstGeom>
          <a:noFill/>
        </p:spPr>
        <p:txBody>
          <a:bodyPr wrap="square" lIns="0" tIns="0" rIns="0" bIns="0" anchor="t">
            <a:spAutoFit/>
          </a:bodyPr>
          <a:lstStyle/>
          <a:p>
            <a:pPr algn="ctr">
              <a:lnSpc>
                <a:spcPct val="100000"/>
              </a:lnSpc>
              <a:spcAft>
                <a:spcPts val="0"/>
              </a:spcAft>
            </a:pPr>
            <a:r>
              <a:rPr sz="950" b="0" i="0" dirty="0">
                <a:solidFill>
                  <a:srgbClr val="EEF4FF"/>
                </a:solidFill>
                <a:latin typeface="Meiryo UI" panose="020B0604030504040204" pitchFamily="50" charset="-128"/>
              </a:rPr>
              <a:t>Blue</a:t>
            </a:r>
          </a:p>
        </p:txBody>
      </p:sp>
      <p:sp>
        <p:nvSpPr>
          <p:cNvPr id="94" name="TextBox 93"/>
          <p:cNvSpPr txBox="1"/>
          <p:nvPr/>
        </p:nvSpPr>
        <p:spPr>
          <a:xfrm>
            <a:off x="4206240" y="3401568"/>
            <a:ext cx="1417320" cy="228600"/>
          </a:xfrm>
          <a:prstGeom prst="rect">
            <a:avLst/>
          </a:prstGeom>
          <a:noFill/>
        </p:spPr>
        <p:txBody>
          <a:bodyPr wrap="square" lIns="0" tIns="0" rIns="0" bIns="0" anchor="t">
            <a:spAutoFit/>
          </a:bodyPr>
          <a:lstStyle/>
          <a:p>
            <a:pPr algn="ctr">
              <a:lnSpc>
                <a:spcPct val="100000"/>
              </a:lnSpc>
              <a:spcAft>
                <a:spcPts val="0"/>
              </a:spcAft>
            </a:pPr>
            <a:r>
              <a:rPr sz="850" b="0" i="0">
                <a:solidFill>
                  <a:srgbClr val="7D8FAE"/>
                </a:solidFill>
                <a:latin typeface="Georgia"/>
              </a:rPr>
              <a:t>#4DA6FF</a:t>
            </a:r>
          </a:p>
        </p:txBody>
      </p:sp>
      <p:sp>
        <p:nvSpPr>
          <p:cNvPr id="95" name="Rounded Rectangle 94"/>
          <p:cNvSpPr/>
          <p:nvPr/>
        </p:nvSpPr>
        <p:spPr>
          <a:xfrm>
            <a:off x="5897880" y="2057400"/>
            <a:ext cx="1417320" cy="1051560"/>
          </a:xfrm>
          <a:prstGeom prst="roundRect">
            <a:avLst>
              <a:gd name="adj" fmla="val 8000"/>
            </a:avLst>
          </a:prstGeom>
          <a:solidFill>
            <a:srgbClr val="EEF4FF"/>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5897880" y="3182112"/>
            <a:ext cx="1417320" cy="146194"/>
          </a:xfrm>
          <a:prstGeom prst="rect">
            <a:avLst/>
          </a:prstGeom>
          <a:noFill/>
        </p:spPr>
        <p:txBody>
          <a:bodyPr wrap="square" lIns="0" tIns="0" rIns="0" bIns="0" anchor="t">
            <a:spAutoFit/>
          </a:bodyPr>
          <a:lstStyle/>
          <a:p>
            <a:pPr algn="ctr">
              <a:lnSpc>
                <a:spcPct val="100000"/>
              </a:lnSpc>
              <a:spcAft>
                <a:spcPts val="0"/>
              </a:spcAft>
            </a:pPr>
            <a:r>
              <a:rPr sz="950" b="0" i="0" dirty="0">
                <a:solidFill>
                  <a:srgbClr val="EEF4FF"/>
                </a:solidFill>
                <a:latin typeface="Meiryo UI" panose="020B0604030504040204" pitchFamily="50" charset="-128"/>
              </a:rPr>
              <a:t>White</a:t>
            </a:r>
          </a:p>
        </p:txBody>
      </p:sp>
      <p:sp>
        <p:nvSpPr>
          <p:cNvPr id="97" name="TextBox 96"/>
          <p:cNvSpPr txBox="1"/>
          <p:nvPr/>
        </p:nvSpPr>
        <p:spPr>
          <a:xfrm>
            <a:off x="5897880" y="3401568"/>
            <a:ext cx="1417320" cy="228600"/>
          </a:xfrm>
          <a:prstGeom prst="rect">
            <a:avLst/>
          </a:prstGeom>
          <a:noFill/>
        </p:spPr>
        <p:txBody>
          <a:bodyPr wrap="square" lIns="0" tIns="0" rIns="0" bIns="0" anchor="t">
            <a:spAutoFit/>
          </a:bodyPr>
          <a:lstStyle/>
          <a:p>
            <a:pPr algn="ctr">
              <a:lnSpc>
                <a:spcPct val="100000"/>
              </a:lnSpc>
              <a:spcAft>
                <a:spcPts val="0"/>
              </a:spcAft>
            </a:pPr>
            <a:r>
              <a:rPr sz="850" b="0" i="0">
                <a:solidFill>
                  <a:srgbClr val="7D8FAE"/>
                </a:solidFill>
                <a:latin typeface="Georgia"/>
              </a:rPr>
              <a:t>#EEF4FF</a:t>
            </a:r>
          </a:p>
        </p:txBody>
      </p:sp>
      <p:sp>
        <p:nvSpPr>
          <p:cNvPr id="98" name="Rounded Rectangle 97"/>
          <p:cNvSpPr/>
          <p:nvPr/>
        </p:nvSpPr>
        <p:spPr>
          <a:xfrm>
            <a:off x="7589520" y="2057400"/>
            <a:ext cx="1417320" cy="1051560"/>
          </a:xfrm>
          <a:prstGeom prst="roundRect">
            <a:avLst>
              <a:gd name="adj" fmla="val 8000"/>
            </a:avLst>
          </a:prstGeom>
          <a:solidFill>
            <a:srgbClr val="E6D5A3"/>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589520" y="3182112"/>
            <a:ext cx="1417320" cy="146194"/>
          </a:xfrm>
          <a:prstGeom prst="rect">
            <a:avLst/>
          </a:prstGeom>
          <a:noFill/>
        </p:spPr>
        <p:txBody>
          <a:bodyPr wrap="square" lIns="0" tIns="0" rIns="0" bIns="0" anchor="t">
            <a:spAutoFit/>
          </a:bodyPr>
          <a:lstStyle/>
          <a:p>
            <a:pPr algn="ctr">
              <a:lnSpc>
                <a:spcPct val="100000"/>
              </a:lnSpc>
              <a:spcAft>
                <a:spcPts val="0"/>
              </a:spcAft>
            </a:pPr>
            <a:r>
              <a:rPr sz="950" b="0" i="0" dirty="0">
                <a:solidFill>
                  <a:srgbClr val="EEF4FF"/>
                </a:solidFill>
                <a:latin typeface="Meiryo UI" panose="020B0604030504040204" pitchFamily="50" charset="-128"/>
              </a:rPr>
              <a:t>Pale Gold</a:t>
            </a:r>
          </a:p>
        </p:txBody>
      </p:sp>
      <p:sp>
        <p:nvSpPr>
          <p:cNvPr id="100" name="TextBox 99"/>
          <p:cNvSpPr txBox="1"/>
          <p:nvPr/>
        </p:nvSpPr>
        <p:spPr>
          <a:xfrm>
            <a:off x="7589520" y="3401568"/>
            <a:ext cx="1417320" cy="228600"/>
          </a:xfrm>
          <a:prstGeom prst="rect">
            <a:avLst/>
          </a:prstGeom>
          <a:noFill/>
        </p:spPr>
        <p:txBody>
          <a:bodyPr wrap="square" lIns="0" tIns="0" rIns="0" bIns="0" anchor="t">
            <a:spAutoFit/>
          </a:bodyPr>
          <a:lstStyle/>
          <a:p>
            <a:pPr algn="ctr">
              <a:lnSpc>
                <a:spcPct val="100000"/>
              </a:lnSpc>
              <a:spcAft>
                <a:spcPts val="0"/>
              </a:spcAft>
            </a:pPr>
            <a:r>
              <a:rPr sz="850" b="0" i="0">
                <a:solidFill>
                  <a:srgbClr val="7D8FAE"/>
                </a:solidFill>
                <a:latin typeface="Georgia"/>
              </a:rPr>
              <a:t>#E6D5A3</a:t>
            </a:r>
          </a:p>
        </p:txBody>
      </p:sp>
      <p:sp>
        <p:nvSpPr>
          <p:cNvPr id="101" name="TextBox 100"/>
          <p:cNvSpPr txBox="1"/>
          <p:nvPr/>
        </p:nvSpPr>
        <p:spPr>
          <a:xfrm>
            <a:off x="822960" y="3977639"/>
            <a:ext cx="3657600" cy="184666"/>
          </a:xfrm>
          <a:prstGeom prst="rect">
            <a:avLst/>
          </a:prstGeom>
          <a:noFill/>
        </p:spPr>
        <p:txBody>
          <a:bodyPr wrap="square" lIns="0" tIns="0" rIns="0" bIns="0" anchor="t">
            <a:spAutoFit/>
          </a:bodyPr>
          <a:lstStyle/>
          <a:p>
            <a:pPr algn="l">
              <a:lnSpc>
                <a:spcPct val="100000"/>
              </a:lnSpc>
              <a:spcAft>
                <a:spcPts val="0"/>
              </a:spcAft>
            </a:pPr>
            <a:r>
              <a:rPr sz="1200" b="1" i="0" dirty="0" err="1">
                <a:solidFill>
                  <a:srgbClr val="9AD5FF"/>
                </a:solidFill>
                <a:latin typeface="Meiryo UI" panose="020B0604030504040204" pitchFamily="50" charset="-128"/>
              </a:rPr>
              <a:t>デザインキーワード</a:t>
            </a:r>
            <a:endParaRPr sz="1200" b="1" i="0" dirty="0">
              <a:solidFill>
                <a:srgbClr val="9AD5FF"/>
              </a:solidFill>
              <a:latin typeface="Meiryo UI" panose="020B0604030504040204" pitchFamily="50" charset="-128"/>
            </a:endParaRPr>
          </a:p>
        </p:txBody>
      </p:sp>
      <p:sp>
        <p:nvSpPr>
          <p:cNvPr id="102" name="Rounded Rectangle 101"/>
          <p:cNvSpPr/>
          <p:nvPr/>
        </p:nvSpPr>
        <p:spPr>
          <a:xfrm>
            <a:off x="822960" y="4343400"/>
            <a:ext cx="1033272" cy="384048"/>
          </a:xfrm>
          <a:prstGeom prst="roundRect">
            <a:avLst>
              <a:gd name="adj" fmla="val 50000"/>
            </a:avLst>
          </a:prstGeom>
          <a:solidFill>
            <a:srgbClr val="0A1630"/>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822960" y="4454632"/>
            <a:ext cx="1033272" cy="161583"/>
          </a:xfrm>
          <a:prstGeom prst="rect">
            <a:avLst/>
          </a:prstGeom>
          <a:noFill/>
        </p:spPr>
        <p:txBody>
          <a:bodyPr wrap="square" lIns="0" tIns="0" rIns="0" bIns="0" anchor="ctr">
            <a:spAutoFit/>
          </a:bodyPr>
          <a:lstStyle/>
          <a:p>
            <a:pPr algn="ctr">
              <a:lnSpc>
                <a:spcPct val="100000"/>
              </a:lnSpc>
              <a:spcAft>
                <a:spcPts val="0"/>
              </a:spcAft>
            </a:pPr>
            <a:r>
              <a:rPr sz="1050" b="0" i="0" dirty="0" err="1">
                <a:solidFill>
                  <a:srgbClr val="9AD5FF"/>
                </a:solidFill>
                <a:latin typeface="Meiryo UI" panose="020B0604030504040204" pitchFamily="50" charset="-128"/>
              </a:rPr>
              <a:t>幻想的</a:t>
            </a:r>
            <a:endParaRPr sz="1050" b="0" i="0" dirty="0">
              <a:solidFill>
                <a:srgbClr val="9AD5FF"/>
              </a:solidFill>
              <a:latin typeface="Meiryo UI" panose="020B0604030504040204" pitchFamily="50" charset="-128"/>
            </a:endParaRPr>
          </a:p>
        </p:txBody>
      </p:sp>
      <p:sp>
        <p:nvSpPr>
          <p:cNvPr id="104" name="Rounded Rectangle 103"/>
          <p:cNvSpPr/>
          <p:nvPr/>
        </p:nvSpPr>
        <p:spPr>
          <a:xfrm>
            <a:off x="2020824" y="4343400"/>
            <a:ext cx="1033272" cy="384048"/>
          </a:xfrm>
          <a:prstGeom prst="roundRect">
            <a:avLst>
              <a:gd name="adj" fmla="val 50000"/>
            </a:avLst>
          </a:prstGeom>
          <a:solidFill>
            <a:srgbClr val="0A1630"/>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020824" y="4454632"/>
            <a:ext cx="1033272" cy="161583"/>
          </a:xfrm>
          <a:prstGeom prst="rect">
            <a:avLst/>
          </a:prstGeom>
          <a:noFill/>
        </p:spPr>
        <p:txBody>
          <a:bodyPr wrap="square" lIns="0" tIns="0" rIns="0" bIns="0" anchor="ctr">
            <a:spAutoFit/>
          </a:bodyPr>
          <a:lstStyle/>
          <a:p>
            <a:pPr algn="ctr">
              <a:lnSpc>
                <a:spcPct val="100000"/>
              </a:lnSpc>
              <a:spcAft>
                <a:spcPts val="0"/>
              </a:spcAft>
            </a:pPr>
            <a:r>
              <a:rPr sz="1050" b="0" i="0" dirty="0" err="1">
                <a:solidFill>
                  <a:srgbClr val="9AD5FF"/>
                </a:solidFill>
                <a:latin typeface="Meiryo UI" panose="020B0604030504040204" pitchFamily="50" charset="-128"/>
              </a:rPr>
              <a:t>神秘的</a:t>
            </a:r>
            <a:endParaRPr sz="1050" b="0" i="0" dirty="0">
              <a:solidFill>
                <a:srgbClr val="9AD5FF"/>
              </a:solidFill>
              <a:latin typeface="Meiryo UI" panose="020B0604030504040204" pitchFamily="50" charset="-128"/>
            </a:endParaRPr>
          </a:p>
        </p:txBody>
      </p:sp>
      <p:sp>
        <p:nvSpPr>
          <p:cNvPr id="106" name="Rounded Rectangle 105"/>
          <p:cNvSpPr/>
          <p:nvPr/>
        </p:nvSpPr>
        <p:spPr>
          <a:xfrm>
            <a:off x="3218688" y="4343400"/>
            <a:ext cx="1033272" cy="384048"/>
          </a:xfrm>
          <a:prstGeom prst="roundRect">
            <a:avLst>
              <a:gd name="adj" fmla="val 50000"/>
            </a:avLst>
          </a:prstGeom>
          <a:solidFill>
            <a:srgbClr val="0A1630"/>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3218688" y="4454632"/>
            <a:ext cx="1033272" cy="161583"/>
          </a:xfrm>
          <a:prstGeom prst="rect">
            <a:avLst/>
          </a:prstGeom>
          <a:noFill/>
        </p:spPr>
        <p:txBody>
          <a:bodyPr wrap="square" lIns="0" tIns="0" rIns="0" bIns="0" anchor="ctr">
            <a:spAutoFit/>
          </a:bodyPr>
          <a:lstStyle/>
          <a:p>
            <a:pPr algn="ctr">
              <a:lnSpc>
                <a:spcPct val="100000"/>
              </a:lnSpc>
              <a:spcAft>
                <a:spcPts val="0"/>
              </a:spcAft>
            </a:pPr>
            <a:r>
              <a:rPr sz="1050" b="0" i="0" dirty="0" err="1">
                <a:solidFill>
                  <a:srgbClr val="9AD5FF"/>
                </a:solidFill>
                <a:latin typeface="Meiryo UI" panose="020B0604030504040204" pitchFamily="50" charset="-128"/>
              </a:rPr>
              <a:t>静けさ</a:t>
            </a:r>
            <a:endParaRPr sz="1050" b="0" i="0" dirty="0">
              <a:solidFill>
                <a:srgbClr val="9AD5FF"/>
              </a:solidFill>
              <a:latin typeface="Meiryo UI" panose="020B0604030504040204" pitchFamily="50" charset="-128"/>
            </a:endParaRPr>
          </a:p>
        </p:txBody>
      </p:sp>
      <p:sp>
        <p:nvSpPr>
          <p:cNvPr id="108" name="Rounded Rectangle 107"/>
          <p:cNvSpPr/>
          <p:nvPr/>
        </p:nvSpPr>
        <p:spPr>
          <a:xfrm>
            <a:off x="4416552" y="4343400"/>
            <a:ext cx="557784" cy="384048"/>
          </a:xfrm>
          <a:prstGeom prst="roundRect">
            <a:avLst>
              <a:gd name="adj" fmla="val 50000"/>
            </a:avLst>
          </a:prstGeom>
          <a:solidFill>
            <a:srgbClr val="0A1630"/>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416552" y="4454632"/>
            <a:ext cx="557784" cy="161583"/>
          </a:xfrm>
          <a:prstGeom prst="rect">
            <a:avLst/>
          </a:prstGeom>
          <a:noFill/>
        </p:spPr>
        <p:txBody>
          <a:bodyPr wrap="square" lIns="0" tIns="0" rIns="0" bIns="0" anchor="ctr">
            <a:spAutoFit/>
          </a:bodyPr>
          <a:lstStyle/>
          <a:p>
            <a:pPr algn="ctr">
              <a:lnSpc>
                <a:spcPct val="100000"/>
              </a:lnSpc>
              <a:spcAft>
                <a:spcPts val="0"/>
              </a:spcAft>
            </a:pPr>
            <a:r>
              <a:rPr sz="1050" b="0" i="0" dirty="0">
                <a:solidFill>
                  <a:srgbClr val="9AD5FF"/>
                </a:solidFill>
                <a:latin typeface="Meiryo UI" panose="020B0604030504040204" pitchFamily="50" charset="-128"/>
              </a:rPr>
              <a:t>光</a:t>
            </a:r>
          </a:p>
        </p:txBody>
      </p:sp>
      <p:sp>
        <p:nvSpPr>
          <p:cNvPr id="110" name="Rounded Rectangle 109"/>
          <p:cNvSpPr/>
          <p:nvPr/>
        </p:nvSpPr>
        <p:spPr>
          <a:xfrm>
            <a:off x="5138928" y="4343400"/>
            <a:ext cx="795528" cy="384048"/>
          </a:xfrm>
          <a:prstGeom prst="roundRect">
            <a:avLst>
              <a:gd name="adj" fmla="val 50000"/>
            </a:avLst>
          </a:prstGeom>
          <a:solidFill>
            <a:srgbClr val="0A1630"/>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5138928" y="4454632"/>
            <a:ext cx="795528" cy="161583"/>
          </a:xfrm>
          <a:prstGeom prst="rect">
            <a:avLst/>
          </a:prstGeom>
          <a:noFill/>
        </p:spPr>
        <p:txBody>
          <a:bodyPr wrap="square" lIns="0" tIns="0" rIns="0" bIns="0" anchor="ctr">
            <a:spAutoFit/>
          </a:bodyPr>
          <a:lstStyle/>
          <a:p>
            <a:pPr algn="ctr">
              <a:lnSpc>
                <a:spcPct val="100000"/>
              </a:lnSpc>
              <a:spcAft>
                <a:spcPts val="0"/>
              </a:spcAft>
            </a:pPr>
            <a:r>
              <a:rPr sz="1050" b="0" i="0" dirty="0" err="1">
                <a:solidFill>
                  <a:srgbClr val="9AD5FF"/>
                </a:solidFill>
                <a:latin typeface="Meiryo UI" panose="020B0604030504040204" pitchFamily="50" charset="-128"/>
              </a:rPr>
              <a:t>記憶</a:t>
            </a:r>
            <a:endParaRPr sz="1050" b="0" i="0" dirty="0">
              <a:solidFill>
                <a:srgbClr val="9AD5FF"/>
              </a:solidFill>
              <a:latin typeface="Meiryo UI" panose="020B0604030504040204" pitchFamily="50" charset="-128"/>
            </a:endParaRPr>
          </a:p>
        </p:txBody>
      </p:sp>
      <p:sp>
        <p:nvSpPr>
          <p:cNvPr id="112" name="Rounded Rectangle 111"/>
          <p:cNvSpPr/>
          <p:nvPr/>
        </p:nvSpPr>
        <p:spPr>
          <a:xfrm>
            <a:off x="6099048" y="4343400"/>
            <a:ext cx="1508760" cy="384048"/>
          </a:xfrm>
          <a:prstGeom prst="roundRect">
            <a:avLst>
              <a:gd name="adj" fmla="val 50000"/>
            </a:avLst>
          </a:prstGeom>
          <a:solidFill>
            <a:srgbClr val="0A1630"/>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6099048" y="4454632"/>
            <a:ext cx="1508760" cy="161583"/>
          </a:xfrm>
          <a:prstGeom prst="rect">
            <a:avLst/>
          </a:prstGeom>
          <a:noFill/>
        </p:spPr>
        <p:txBody>
          <a:bodyPr wrap="square" lIns="0" tIns="0" rIns="0" bIns="0" anchor="ctr">
            <a:spAutoFit/>
          </a:bodyPr>
          <a:lstStyle/>
          <a:p>
            <a:pPr algn="ctr">
              <a:lnSpc>
                <a:spcPct val="100000"/>
              </a:lnSpc>
              <a:spcAft>
                <a:spcPts val="0"/>
              </a:spcAft>
            </a:pPr>
            <a:r>
              <a:rPr sz="1050" b="0" i="0" dirty="0" err="1">
                <a:solidFill>
                  <a:srgbClr val="9AD5FF"/>
                </a:solidFill>
                <a:latin typeface="Meiryo UI" panose="020B0604030504040204" pitchFamily="50" charset="-128"/>
              </a:rPr>
              <a:t>ゲームUI</a:t>
            </a:r>
            <a:endParaRPr sz="1050" b="0" i="0" dirty="0">
              <a:solidFill>
                <a:srgbClr val="9AD5FF"/>
              </a:solidFill>
              <a:latin typeface="Meiryo UI" panose="020B0604030504040204" pitchFamily="50" charset="-128"/>
            </a:endParaRPr>
          </a:p>
        </p:txBody>
      </p:sp>
      <p:sp>
        <p:nvSpPr>
          <p:cNvPr id="114" name="Rounded Rectangle 113"/>
          <p:cNvSpPr/>
          <p:nvPr/>
        </p:nvSpPr>
        <p:spPr>
          <a:xfrm>
            <a:off x="822960" y="4983480"/>
            <a:ext cx="10515600" cy="128016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1097280" y="5166360"/>
            <a:ext cx="10058400" cy="184666"/>
          </a:xfrm>
          <a:prstGeom prst="rect">
            <a:avLst/>
          </a:prstGeom>
          <a:noFill/>
        </p:spPr>
        <p:txBody>
          <a:bodyPr wrap="square" lIns="0" tIns="0" rIns="0" bIns="0" anchor="t">
            <a:spAutoFit/>
          </a:bodyPr>
          <a:lstStyle/>
          <a:p>
            <a:pPr algn="l">
              <a:lnSpc>
                <a:spcPct val="100000"/>
              </a:lnSpc>
              <a:spcAft>
                <a:spcPts val="0"/>
              </a:spcAft>
            </a:pPr>
            <a:r>
              <a:rPr sz="1200" b="1" i="0" dirty="0" err="1">
                <a:solidFill>
                  <a:srgbClr val="E6D5A3"/>
                </a:solidFill>
                <a:latin typeface="Meiryo UI" panose="020B0604030504040204" pitchFamily="50" charset="-128"/>
              </a:rPr>
              <a:t>具体的なデザイン要素</a:t>
            </a:r>
            <a:endParaRPr sz="1200" b="1" i="0" dirty="0">
              <a:solidFill>
                <a:srgbClr val="E6D5A3"/>
              </a:solidFill>
              <a:latin typeface="Meiryo UI" panose="020B0604030504040204" pitchFamily="50" charset="-128"/>
            </a:endParaRPr>
          </a:p>
        </p:txBody>
      </p:sp>
      <p:sp>
        <p:nvSpPr>
          <p:cNvPr id="116" name="TextBox 115"/>
          <p:cNvSpPr txBox="1"/>
          <p:nvPr/>
        </p:nvSpPr>
        <p:spPr>
          <a:xfrm>
            <a:off x="1097280" y="5486400"/>
            <a:ext cx="10058400" cy="563488"/>
          </a:xfrm>
          <a:prstGeom prst="rect">
            <a:avLst/>
          </a:prstGeom>
          <a:noFill/>
        </p:spPr>
        <p:txBody>
          <a:bodyPr wrap="square" lIns="0" tIns="0" rIns="0" bIns="0" anchor="t">
            <a:spAutoFit/>
          </a:bodyPr>
          <a:lstStyle/>
          <a:p>
            <a:pPr algn="l">
              <a:lnSpc>
                <a:spcPct val="140000"/>
              </a:lnSpc>
              <a:spcAft>
                <a:spcPts val="0"/>
              </a:spcAft>
            </a:pPr>
            <a:r>
              <a:rPr sz="1400" b="0" i="0" dirty="0">
                <a:solidFill>
                  <a:srgbClr val="C3D2EA"/>
                </a:solidFill>
                <a:latin typeface="Meiryo UI" panose="020B0604030504040204" pitchFamily="50" charset="-128"/>
              </a:rPr>
              <a:t>暗い背景に光る粒子を配置し、透明感のあるUIとガラス風パネルを使用する。青白い発光効果で神秘性を演出し、大きな余白を活用した滑らかなアニメーション遷移</a:t>
            </a:r>
          </a:p>
        </p:txBody>
      </p:sp>
      <p:sp>
        <p:nvSpPr>
          <p:cNvPr id="117" name="TextBox 116"/>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18" name="TextBox 117"/>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07 /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877056" y="5065776"/>
            <a:ext cx="11996927" cy="11996927"/>
          </a:xfrm>
          <a:prstGeom prst="ellipse">
            <a:avLst/>
          </a:prstGeom>
          <a:solidFill>
            <a:srgbClr val="E6D5A3">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023360" y="5212080"/>
            <a:ext cx="11704320" cy="11704320"/>
          </a:xfrm>
          <a:prstGeom prst="ellipse">
            <a:avLst/>
          </a:prstGeom>
          <a:noFill/>
          <a:ln w="330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61964" y="6850684"/>
            <a:ext cx="8427110" cy="8427110"/>
          </a:xfrm>
          <a:prstGeom prst="ellipse">
            <a:avLst/>
          </a:prstGeom>
          <a:noFill/>
          <a:ln w="2540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183526" y="8372246"/>
            <a:ext cx="5383987" cy="5383987"/>
          </a:xfrm>
          <a:prstGeom prst="ellipse">
            <a:avLst/>
          </a:prstGeom>
          <a:noFill/>
          <a:ln w="203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2362597" y="12094421"/>
            <a:ext cx="2595212" cy="107497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14782244" y="12993828"/>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10905701" y="13551317"/>
            <a:ext cx="1074972" cy="259521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11805108" y="15970964"/>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7770366" y="13551317"/>
            <a:ext cx="1074972" cy="259521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7594802" y="15970964"/>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4793230" y="12094421"/>
            <a:ext cx="2595212" cy="107497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4617665" y="12993828"/>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4793230" y="8959086"/>
            <a:ext cx="2595212" cy="107497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4617665" y="8783522"/>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7770366" y="5981950"/>
            <a:ext cx="1074972" cy="259521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7594802" y="5806385"/>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0905701" y="5981950"/>
            <a:ext cx="1074972" cy="259521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11805108" y="5806385"/>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12362597" y="8959086"/>
            <a:ext cx="2595212" cy="1074972"/>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4782244" y="8783522"/>
            <a:ext cx="351129" cy="351129"/>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320375" y="5840657"/>
            <a:ext cx="46793" cy="46793"/>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540979" y="667319"/>
            <a:ext cx="97331" cy="97331"/>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534046" y="6270881"/>
            <a:ext cx="69014" cy="69014"/>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iamond 35"/>
          <p:cNvSpPr/>
          <p:nvPr/>
        </p:nvSpPr>
        <p:spPr>
          <a:xfrm>
            <a:off x="7690554" y="4548555"/>
            <a:ext cx="93504" cy="93504"/>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5812322" y="1161946"/>
            <a:ext cx="63310" cy="6331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Diamond 37"/>
          <p:cNvSpPr/>
          <p:nvPr/>
        </p:nvSpPr>
        <p:spPr>
          <a:xfrm>
            <a:off x="1281617" y="2457167"/>
            <a:ext cx="97890" cy="97890"/>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Diamond 38"/>
          <p:cNvSpPr/>
          <p:nvPr/>
        </p:nvSpPr>
        <p:spPr>
          <a:xfrm>
            <a:off x="5252904" y="549272"/>
            <a:ext cx="92926" cy="92926"/>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2468427" y="4886268"/>
            <a:ext cx="74028" cy="74028"/>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iamond 40"/>
          <p:cNvSpPr/>
          <p:nvPr/>
        </p:nvSpPr>
        <p:spPr>
          <a:xfrm>
            <a:off x="7197550" y="3362791"/>
            <a:ext cx="72903" cy="72903"/>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Diamond 41"/>
          <p:cNvSpPr/>
          <p:nvPr/>
        </p:nvSpPr>
        <p:spPr>
          <a:xfrm>
            <a:off x="2030378" y="1568822"/>
            <a:ext cx="61381" cy="61381"/>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iamond 42"/>
          <p:cNvSpPr/>
          <p:nvPr/>
        </p:nvSpPr>
        <p:spPr>
          <a:xfrm>
            <a:off x="10324443" y="1628186"/>
            <a:ext cx="54112" cy="54112"/>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916473" y="5399494"/>
            <a:ext cx="106740" cy="10674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937845" y="4148248"/>
            <a:ext cx="595134" cy="216412"/>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964896" y="3992702"/>
            <a:ext cx="108206" cy="202886"/>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Isosceles Triangle 46"/>
          <p:cNvSpPr/>
          <p:nvPr/>
        </p:nvSpPr>
        <p:spPr>
          <a:xfrm>
            <a:off x="9964896" y="3898022"/>
            <a:ext cx="108206" cy="94680"/>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181309" y="3843918"/>
            <a:ext cx="108206" cy="351670"/>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Isosceles Triangle 48"/>
          <p:cNvSpPr/>
          <p:nvPr/>
        </p:nvSpPr>
        <p:spPr>
          <a:xfrm>
            <a:off x="10181309" y="3749238"/>
            <a:ext cx="108206" cy="94680"/>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0370670" y="3992702"/>
            <a:ext cx="108206" cy="202886"/>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Isosceles Triangle 50"/>
          <p:cNvSpPr/>
          <p:nvPr/>
        </p:nvSpPr>
        <p:spPr>
          <a:xfrm>
            <a:off x="10370670" y="3898022"/>
            <a:ext cx="108206" cy="94680"/>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10194835" y="4236166"/>
            <a:ext cx="81154" cy="128494"/>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rot="19800000">
            <a:off x="2524292" y="6134433"/>
            <a:ext cx="36583" cy="243890"/>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5-Point Star 53"/>
          <p:cNvSpPr/>
          <p:nvPr/>
        </p:nvSpPr>
        <p:spPr>
          <a:xfrm>
            <a:off x="2455190" y="5996229"/>
            <a:ext cx="186982" cy="186982"/>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4-Point Star 54"/>
          <p:cNvSpPr/>
          <p:nvPr/>
        </p:nvSpPr>
        <p:spPr>
          <a:xfrm>
            <a:off x="2402347" y="6158822"/>
            <a:ext cx="65037" cy="65037"/>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4-Point Star 55"/>
          <p:cNvSpPr/>
          <p:nvPr/>
        </p:nvSpPr>
        <p:spPr>
          <a:xfrm>
            <a:off x="2369829" y="6240119"/>
            <a:ext cx="44713" cy="44713"/>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826192" y="4424175"/>
            <a:ext cx="558242" cy="202997"/>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851567" y="4278271"/>
            <a:ext cx="101498" cy="190309"/>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Isosceles Triangle 58"/>
          <p:cNvSpPr/>
          <p:nvPr/>
        </p:nvSpPr>
        <p:spPr>
          <a:xfrm>
            <a:off x="1851567" y="4189459"/>
            <a:ext cx="101498" cy="88811"/>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2054564" y="4138710"/>
            <a:ext cx="101498" cy="329870"/>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Isosceles Triangle 60"/>
          <p:cNvSpPr/>
          <p:nvPr/>
        </p:nvSpPr>
        <p:spPr>
          <a:xfrm>
            <a:off x="2054564" y="4049899"/>
            <a:ext cx="101498" cy="88811"/>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2232187" y="4278271"/>
            <a:ext cx="101498" cy="190309"/>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Isosceles Triangle 62"/>
          <p:cNvSpPr/>
          <p:nvPr/>
        </p:nvSpPr>
        <p:spPr>
          <a:xfrm>
            <a:off x="2232187" y="4189459"/>
            <a:ext cx="101498" cy="88811"/>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2067252" y="4506642"/>
            <a:ext cx="76123" cy="120529"/>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rot="19800000">
            <a:off x="2221544" y="3604394"/>
            <a:ext cx="43522" cy="290147"/>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5-Point Star 65"/>
          <p:cNvSpPr/>
          <p:nvPr/>
        </p:nvSpPr>
        <p:spPr>
          <a:xfrm>
            <a:off x="2139336" y="3439978"/>
            <a:ext cx="222446" cy="222446"/>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4-Point Star 66"/>
          <p:cNvSpPr/>
          <p:nvPr/>
        </p:nvSpPr>
        <p:spPr>
          <a:xfrm>
            <a:off x="2076471" y="3633409"/>
            <a:ext cx="77372" cy="77372"/>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4-Point Star 67"/>
          <p:cNvSpPr/>
          <p:nvPr/>
        </p:nvSpPr>
        <p:spPr>
          <a:xfrm>
            <a:off x="2037784" y="3730125"/>
            <a:ext cx="53193" cy="53193"/>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FEATURES</a:t>
            </a:r>
          </a:p>
        </p:txBody>
      </p:sp>
      <p:sp>
        <p:nvSpPr>
          <p:cNvPr id="70" name="Rectangle 69"/>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実装機能:必須機能と発展機能</a:t>
            </a:r>
            <a:endParaRPr sz="2700" b="1" i="0" dirty="0">
              <a:solidFill>
                <a:srgbClr val="EEF4FF"/>
              </a:solidFill>
              <a:latin typeface="Meiryo UI" panose="020B0604030504040204" pitchFamily="50" charset="-128"/>
            </a:endParaRPr>
          </a:p>
        </p:txBody>
      </p:sp>
      <p:sp>
        <p:nvSpPr>
          <p:cNvPr id="72" name="Rounded Rectangle 71"/>
          <p:cNvSpPr/>
          <p:nvPr/>
        </p:nvSpPr>
        <p:spPr>
          <a:xfrm>
            <a:off x="4389120" y="1783080"/>
            <a:ext cx="2377440" cy="502920"/>
          </a:xfrm>
          <a:prstGeom prst="roundRect">
            <a:avLst>
              <a:gd name="adj" fmla="val 50000"/>
            </a:avLst>
          </a:prstGeom>
          <a:solidFill>
            <a:srgbClr val="2A6B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389120" y="1919124"/>
            <a:ext cx="2377440" cy="230832"/>
          </a:xfrm>
          <a:prstGeom prst="rect">
            <a:avLst/>
          </a:prstGeom>
          <a:noFill/>
        </p:spPr>
        <p:txBody>
          <a:bodyPr wrap="square" lIns="0" tIns="0" rIns="0" bIns="0" anchor="ctr">
            <a:spAutoFit/>
          </a:bodyPr>
          <a:lstStyle/>
          <a:p>
            <a:pPr algn="ctr">
              <a:lnSpc>
                <a:spcPct val="100000"/>
              </a:lnSpc>
              <a:spcAft>
                <a:spcPts val="0"/>
              </a:spcAft>
            </a:pPr>
            <a:r>
              <a:rPr sz="1500" b="1" i="0" dirty="0">
                <a:solidFill>
                  <a:srgbClr val="03060D"/>
                </a:solidFill>
                <a:latin typeface="Meiryo UI" panose="020B0604030504040204" pitchFamily="50" charset="-128"/>
              </a:rPr>
              <a:t>2段階実装</a:t>
            </a:r>
          </a:p>
        </p:txBody>
      </p:sp>
      <p:cxnSp>
        <p:nvCxnSpPr>
          <p:cNvPr id="74" name="Connector 73"/>
          <p:cNvCxnSpPr/>
          <p:nvPr/>
        </p:nvCxnSpPr>
        <p:spPr>
          <a:xfrm>
            <a:off x="5577840" y="2286000"/>
            <a:ext cx="0" cy="320040"/>
          </a:xfrm>
          <a:prstGeom prst="line">
            <a:avLst/>
          </a:prstGeom>
          <a:ln w="12700">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2377440" y="2606040"/>
            <a:ext cx="6400800" cy="50292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377440" y="2734389"/>
            <a:ext cx="6400800" cy="246221"/>
          </a:xfrm>
          <a:prstGeom prst="rect">
            <a:avLst/>
          </a:prstGeom>
          <a:noFill/>
        </p:spPr>
        <p:txBody>
          <a:bodyPr wrap="square" lIns="0" tIns="0" rIns="0" bIns="0" anchor="ctr">
            <a:spAutoFit/>
          </a:bodyPr>
          <a:lstStyle/>
          <a:p>
            <a:pPr algn="ctr">
              <a:lnSpc>
                <a:spcPct val="100000"/>
              </a:lnSpc>
              <a:spcAft>
                <a:spcPts val="0"/>
              </a:spcAft>
            </a:pPr>
            <a:r>
              <a:rPr sz="1600" b="0" i="0" dirty="0" err="1">
                <a:solidFill>
                  <a:srgbClr val="9AD5FF"/>
                </a:solidFill>
                <a:latin typeface="Meiryo UI" panose="020B0604030504040204" pitchFamily="50" charset="-128"/>
              </a:rPr>
              <a:t>基本的なWebサイト機能とゲームのような体験機能を両立</a:t>
            </a:r>
            <a:endParaRPr sz="1600" b="0" i="0" dirty="0">
              <a:solidFill>
                <a:srgbClr val="9AD5FF"/>
              </a:solidFill>
              <a:latin typeface="Meiryo UI" panose="020B0604030504040204" pitchFamily="50" charset="-128"/>
            </a:endParaRPr>
          </a:p>
        </p:txBody>
      </p:sp>
      <p:cxnSp>
        <p:nvCxnSpPr>
          <p:cNvPr id="77" name="Connector 76"/>
          <p:cNvCxnSpPr/>
          <p:nvPr/>
        </p:nvCxnSpPr>
        <p:spPr>
          <a:xfrm>
            <a:off x="2090775" y="3337560"/>
            <a:ext cx="8010144" cy="0"/>
          </a:xfrm>
          <a:prstGeom prst="line">
            <a:avLst/>
          </a:prstGeom>
          <a:ln w="12700">
            <a:solidFill>
              <a:srgbClr val="143A6B"/>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090775" y="3337560"/>
            <a:ext cx="0" cy="228600"/>
          </a:xfrm>
          <a:prstGeom prst="line">
            <a:avLst/>
          </a:prstGeom>
          <a:ln w="12700">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833475" y="3566160"/>
            <a:ext cx="2514600" cy="18288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98067" y="3730752"/>
            <a:ext cx="2185416" cy="229550"/>
          </a:xfrm>
          <a:prstGeom prst="rect">
            <a:avLst/>
          </a:prstGeom>
          <a:noFill/>
        </p:spPr>
        <p:txBody>
          <a:bodyPr wrap="square" lIns="0" tIns="0" rIns="0" bIns="0" anchor="t">
            <a:spAutoFit/>
          </a:bodyPr>
          <a:lstStyle/>
          <a:p>
            <a:pPr algn="l">
              <a:lnSpc>
                <a:spcPct val="120000"/>
              </a:lnSpc>
              <a:spcAft>
                <a:spcPts val="0"/>
              </a:spcAft>
            </a:pPr>
            <a:r>
              <a:rPr sz="1400" b="1" i="0" dirty="0" err="1">
                <a:solidFill>
                  <a:srgbClr val="EEF4FF"/>
                </a:solidFill>
                <a:latin typeface="Meiryo UI" panose="020B0604030504040204" pitchFamily="50" charset="-128"/>
              </a:rPr>
              <a:t>必須機能</a:t>
            </a:r>
            <a:r>
              <a:rPr sz="1400" b="1" i="0" dirty="0">
                <a:solidFill>
                  <a:srgbClr val="EEF4FF"/>
                </a:solidFill>
                <a:latin typeface="Meiryo UI" panose="020B0604030504040204" pitchFamily="50" charset="-128"/>
              </a:rPr>
              <a:t>(</a:t>
            </a:r>
            <a:r>
              <a:rPr sz="1400" b="1" i="0" dirty="0" err="1">
                <a:solidFill>
                  <a:srgbClr val="EEF4FF"/>
                </a:solidFill>
                <a:latin typeface="Meiryo UI" panose="020B0604030504040204" pitchFamily="50" charset="-128"/>
              </a:rPr>
              <a:t>基本Webサイト</a:t>
            </a:r>
            <a:r>
              <a:rPr sz="1400" b="1" i="0" dirty="0">
                <a:solidFill>
                  <a:srgbClr val="EEF4FF"/>
                </a:solidFill>
                <a:latin typeface="Meiryo UI" panose="020B0604030504040204" pitchFamily="50" charset="-128"/>
              </a:rPr>
              <a:t>)</a:t>
            </a:r>
          </a:p>
        </p:txBody>
      </p:sp>
      <p:sp>
        <p:nvSpPr>
          <p:cNvPr id="81" name="TextBox 80"/>
          <p:cNvSpPr txBox="1"/>
          <p:nvPr/>
        </p:nvSpPr>
        <p:spPr>
          <a:xfrm>
            <a:off x="998067" y="4224528"/>
            <a:ext cx="2185416" cy="930768"/>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7D8FAE"/>
                </a:solidFill>
                <a:latin typeface="Meiryo UI" panose="020B0604030504040204" pitchFamily="50" charset="-128"/>
              </a:rPr>
              <a:t>ナビゲーションメニュ</a:t>
            </a:r>
            <a:r>
              <a:rPr sz="1200" b="0" i="0" dirty="0">
                <a:solidFill>
                  <a:srgbClr val="7D8FAE"/>
                </a:solidFill>
                <a:latin typeface="Meiryo UI" panose="020B0604030504040204" pitchFamily="50" charset="-128"/>
              </a:rPr>
              <a:t>ー、</a:t>
            </a:r>
            <a:r>
              <a:rPr sz="1200" b="0" i="0" dirty="0" err="1">
                <a:solidFill>
                  <a:srgbClr val="7D8FAE"/>
                </a:solidFill>
                <a:latin typeface="Meiryo UI" panose="020B0604030504040204" pitchFamily="50" charset="-128"/>
              </a:rPr>
              <a:t>画像表示、ページ切り替え、作品・キャラクター情報の表示、レスポンシブ対応、マウスホバーによる演出</a:t>
            </a:r>
            <a:endParaRPr sz="1200" b="0" i="0" dirty="0">
              <a:solidFill>
                <a:srgbClr val="7D8FAE"/>
              </a:solidFill>
              <a:latin typeface="Meiryo UI" panose="020B0604030504040204" pitchFamily="50" charset="-128"/>
            </a:endParaRPr>
          </a:p>
        </p:txBody>
      </p:sp>
      <p:cxnSp>
        <p:nvCxnSpPr>
          <p:cNvPr id="82" name="Connector 81"/>
          <p:cNvCxnSpPr/>
          <p:nvPr/>
        </p:nvCxnSpPr>
        <p:spPr>
          <a:xfrm>
            <a:off x="4760823" y="3337560"/>
            <a:ext cx="0" cy="228600"/>
          </a:xfrm>
          <a:prstGeom prst="line">
            <a:avLst/>
          </a:prstGeom>
          <a:ln w="12700">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83" name="Rounded Rectangle 82"/>
          <p:cNvSpPr/>
          <p:nvPr/>
        </p:nvSpPr>
        <p:spPr>
          <a:xfrm>
            <a:off x="3503523" y="3566160"/>
            <a:ext cx="2514600" cy="18288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668115" y="3730752"/>
            <a:ext cx="2185416" cy="229550"/>
          </a:xfrm>
          <a:prstGeom prst="rect">
            <a:avLst/>
          </a:prstGeom>
          <a:noFill/>
        </p:spPr>
        <p:txBody>
          <a:bodyPr wrap="square" lIns="0" tIns="0" rIns="0" bIns="0" anchor="t">
            <a:spAutoFit/>
          </a:bodyPr>
          <a:lstStyle/>
          <a:p>
            <a:pPr algn="l">
              <a:lnSpc>
                <a:spcPct val="120000"/>
              </a:lnSpc>
              <a:spcAft>
                <a:spcPts val="0"/>
              </a:spcAft>
            </a:pPr>
            <a:r>
              <a:rPr sz="1400" b="1" i="0" dirty="0" err="1">
                <a:solidFill>
                  <a:srgbClr val="EEF4FF"/>
                </a:solidFill>
                <a:latin typeface="Meiryo UI" panose="020B0604030504040204" pitchFamily="50" charset="-128"/>
              </a:rPr>
              <a:t>発展機能</a:t>
            </a:r>
            <a:r>
              <a:rPr sz="1400" b="1" i="0" dirty="0">
                <a:solidFill>
                  <a:srgbClr val="EEF4FF"/>
                </a:solidFill>
                <a:latin typeface="Meiryo UI" panose="020B0604030504040204" pitchFamily="50" charset="-128"/>
              </a:rPr>
              <a:t>①(</a:t>
            </a:r>
            <a:r>
              <a:rPr sz="1400" b="1" i="0" dirty="0" err="1">
                <a:solidFill>
                  <a:srgbClr val="EEF4FF"/>
                </a:solidFill>
                <a:latin typeface="Meiryo UI" panose="020B0604030504040204" pitchFamily="50" charset="-128"/>
              </a:rPr>
              <a:t>視覚効果</a:t>
            </a:r>
            <a:r>
              <a:rPr sz="1400" b="1" i="0" dirty="0">
                <a:solidFill>
                  <a:srgbClr val="EEF4FF"/>
                </a:solidFill>
                <a:latin typeface="Meiryo UI" panose="020B0604030504040204" pitchFamily="50" charset="-128"/>
              </a:rPr>
              <a:t>)</a:t>
            </a:r>
          </a:p>
        </p:txBody>
      </p:sp>
      <p:sp>
        <p:nvSpPr>
          <p:cNvPr id="85" name="TextBox 84"/>
          <p:cNvSpPr txBox="1"/>
          <p:nvPr/>
        </p:nvSpPr>
        <p:spPr>
          <a:xfrm>
            <a:off x="3668115" y="4224528"/>
            <a:ext cx="2185416" cy="690702"/>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7D8FAE"/>
                </a:solidFill>
                <a:latin typeface="Meiryo UI" panose="020B0604030504040204" pitchFamily="50" charset="-128"/>
              </a:rPr>
              <a:t>カーソル位置に反応する光のエフェクト、ページ遷移アニメーション、スクロール連動アニメーション</a:t>
            </a:r>
            <a:endParaRPr sz="1200" b="0" i="0" dirty="0">
              <a:solidFill>
                <a:srgbClr val="7D8FAE"/>
              </a:solidFill>
              <a:latin typeface="Meiryo UI" panose="020B0604030504040204" pitchFamily="50" charset="-128"/>
            </a:endParaRPr>
          </a:p>
        </p:txBody>
      </p:sp>
      <p:cxnSp>
        <p:nvCxnSpPr>
          <p:cNvPr id="86" name="Connector 85"/>
          <p:cNvCxnSpPr/>
          <p:nvPr/>
        </p:nvCxnSpPr>
        <p:spPr>
          <a:xfrm>
            <a:off x="7430871" y="3337560"/>
            <a:ext cx="0" cy="228600"/>
          </a:xfrm>
          <a:prstGeom prst="line">
            <a:avLst/>
          </a:prstGeom>
          <a:ln w="12700">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87" name="Rounded Rectangle 86"/>
          <p:cNvSpPr/>
          <p:nvPr/>
        </p:nvSpPr>
        <p:spPr>
          <a:xfrm>
            <a:off x="6173571" y="3566160"/>
            <a:ext cx="2514600" cy="18288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338163" y="3730752"/>
            <a:ext cx="2185416" cy="229550"/>
          </a:xfrm>
          <a:prstGeom prst="rect">
            <a:avLst/>
          </a:prstGeom>
          <a:noFill/>
        </p:spPr>
        <p:txBody>
          <a:bodyPr wrap="square" lIns="0" tIns="0" rIns="0" bIns="0" anchor="t">
            <a:spAutoFit/>
          </a:bodyPr>
          <a:lstStyle/>
          <a:p>
            <a:pPr algn="l">
              <a:lnSpc>
                <a:spcPct val="120000"/>
              </a:lnSpc>
              <a:spcAft>
                <a:spcPts val="0"/>
              </a:spcAft>
            </a:pPr>
            <a:r>
              <a:rPr sz="1400" b="1" i="0" dirty="0" err="1">
                <a:solidFill>
                  <a:srgbClr val="EEF4FF"/>
                </a:solidFill>
                <a:latin typeface="Meiryo UI" panose="020B0604030504040204" pitchFamily="50" charset="-128"/>
              </a:rPr>
              <a:t>発展機能</a:t>
            </a:r>
            <a:r>
              <a:rPr sz="1400" b="1" i="0" dirty="0">
                <a:solidFill>
                  <a:srgbClr val="EEF4FF"/>
                </a:solidFill>
                <a:latin typeface="Meiryo UI" panose="020B0604030504040204" pitchFamily="50" charset="-128"/>
              </a:rPr>
              <a:t>②(</a:t>
            </a:r>
            <a:r>
              <a:rPr sz="1400" b="1" i="0" dirty="0" err="1">
                <a:solidFill>
                  <a:srgbClr val="EEF4FF"/>
                </a:solidFill>
                <a:latin typeface="Meiryo UI" panose="020B0604030504040204" pitchFamily="50" charset="-128"/>
              </a:rPr>
              <a:t>音響効果</a:t>
            </a:r>
            <a:r>
              <a:rPr sz="1400" b="1" i="0" dirty="0">
                <a:solidFill>
                  <a:srgbClr val="EEF4FF"/>
                </a:solidFill>
                <a:latin typeface="Meiryo UI" panose="020B0604030504040204" pitchFamily="50" charset="-128"/>
              </a:rPr>
              <a:t>)</a:t>
            </a:r>
          </a:p>
        </p:txBody>
      </p:sp>
      <p:sp>
        <p:nvSpPr>
          <p:cNvPr id="89" name="TextBox 88"/>
          <p:cNvSpPr txBox="1"/>
          <p:nvPr/>
        </p:nvSpPr>
        <p:spPr>
          <a:xfrm>
            <a:off x="6338163" y="4224528"/>
            <a:ext cx="2185416"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7D8FAE"/>
                </a:solidFill>
                <a:latin typeface="Meiryo UI" panose="020B0604030504040204" pitchFamily="50" charset="-128"/>
              </a:rPr>
              <a:t>ホバー時・クリック時の効果音、BGM・SEのON</a:t>
            </a:r>
            <a:r>
              <a:rPr sz="1200" b="0" i="0" dirty="0">
                <a:solidFill>
                  <a:srgbClr val="7D8FAE"/>
                </a:solidFill>
                <a:latin typeface="Meiryo UI" panose="020B0604030504040204" pitchFamily="50" charset="-128"/>
              </a:rPr>
              <a:t>/</a:t>
            </a:r>
            <a:r>
              <a:rPr sz="1200" b="0" i="0" dirty="0" err="1">
                <a:solidFill>
                  <a:srgbClr val="7D8FAE"/>
                </a:solidFill>
                <a:latin typeface="Meiryo UI" panose="020B0604030504040204" pitchFamily="50" charset="-128"/>
              </a:rPr>
              <a:t>OFF切り替え</a:t>
            </a:r>
            <a:endParaRPr sz="1200" b="0" i="0" dirty="0">
              <a:solidFill>
                <a:srgbClr val="7D8FAE"/>
              </a:solidFill>
              <a:latin typeface="Meiryo UI" panose="020B0604030504040204" pitchFamily="50" charset="-128"/>
            </a:endParaRPr>
          </a:p>
        </p:txBody>
      </p:sp>
      <p:cxnSp>
        <p:nvCxnSpPr>
          <p:cNvPr id="90" name="Connector 89"/>
          <p:cNvCxnSpPr/>
          <p:nvPr/>
        </p:nvCxnSpPr>
        <p:spPr>
          <a:xfrm>
            <a:off x="10100919" y="3337560"/>
            <a:ext cx="0" cy="228600"/>
          </a:xfrm>
          <a:prstGeom prst="line">
            <a:avLst/>
          </a:prstGeom>
          <a:ln w="12700">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91" name="Rounded Rectangle 90"/>
          <p:cNvSpPr/>
          <p:nvPr/>
        </p:nvSpPr>
        <p:spPr>
          <a:xfrm>
            <a:off x="8843619" y="3566160"/>
            <a:ext cx="2514600" cy="182880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008211" y="3730752"/>
            <a:ext cx="2185416" cy="229550"/>
          </a:xfrm>
          <a:prstGeom prst="rect">
            <a:avLst/>
          </a:prstGeom>
          <a:noFill/>
        </p:spPr>
        <p:txBody>
          <a:bodyPr wrap="square" lIns="0" tIns="0" rIns="0" bIns="0" anchor="t">
            <a:spAutoFit/>
          </a:bodyPr>
          <a:lstStyle/>
          <a:p>
            <a:pPr algn="l">
              <a:lnSpc>
                <a:spcPct val="120000"/>
              </a:lnSpc>
              <a:spcAft>
                <a:spcPts val="0"/>
              </a:spcAft>
            </a:pPr>
            <a:r>
              <a:rPr sz="1400" b="1" i="0" dirty="0" err="1">
                <a:solidFill>
                  <a:srgbClr val="EEF4FF"/>
                </a:solidFill>
                <a:latin typeface="Meiryo UI" panose="020B0604030504040204" pitchFamily="50" charset="-128"/>
              </a:rPr>
              <a:t>発展機能</a:t>
            </a:r>
            <a:r>
              <a:rPr sz="1400" b="1" i="0" dirty="0">
                <a:solidFill>
                  <a:srgbClr val="EEF4FF"/>
                </a:solidFill>
                <a:latin typeface="Meiryo UI" panose="020B0604030504040204" pitchFamily="50" charset="-128"/>
              </a:rPr>
              <a:t>③(</a:t>
            </a:r>
            <a:r>
              <a:rPr sz="1400" b="1" i="0" dirty="0" err="1">
                <a:solidFill>
                  <a:srgbClr val="EEF4FF"/>
                </a:solidFill>
                <a:latin typeface="Meiryo UI" panose="020B0604030504040204" pitchFamily="50" charset="-128"/>
              </a:rPr>
              <a:t>ゲーム要素</a:t>
            </a:r>
            <a:r>
              <a:rPr sz="1400" b="1" i="0" dirty="0">
                <a:solidFill>
                  <a:srgbClr val="EEF4FF"/>
                </a:solidFill>
                <a:latin typeface="Meiryo UI" panose="020B0604030504040204" pitchFamily="50" charset="-128"/>
              </a:rPr>
              <a:t>)</a:t>
            </a:r>
          </a:p>
        </p:txBody>
      </p:sp>
      <p:sp>
        <p:nvSpPr>
          <p:cNvPr id="93" name="TextBox 92"/>
          <p:cNvSpPr txBox="1"/>
          <p:nvPr/>
        </p:nvSpPr>
        <p:spPr>
          <a:xfrm>
            <a:off x="9008211" y="4224528"/>
            <a:ext cx="2185416" cy="450636"/>
          </a:xfrm>
          <a:prstGeom prst="rect">
            <a:avLst/>
          </a:prstGeom>
          <a:noFill/>
        </p:spPr>
        <p:txBody>
          <a:bodyPr wrap="square" lIns="0" tIns="0" rIns="0" bIns="0" anchor="t">
            <a:spAutoFit/>
          </a:bodyPr>
          <a:lstStyle/>
          <a:p>
            <a:pPr algn="l">
              <a:lnSpc>
                <a:spcPct val="130000"/>
              </a:lnSpc>
              <a:spcAft>
                <a:spcPts val="0"/>
              </a:spcAft>
            </a:pPr>
            <a:r>
              <a:rPr sz="1200" b="0" i="0" dirty="0" err="1">
                <a:solidFill>
                  <a:srgbClr val="7D8FAE"/>
                </a:solidFill>
                <a:latin typeface="Meiryo UI" panose="020B0604030504040204" pitchFamily="50" charset="-128"/>
              </a:rPr>
              <a:t>記憶の欠片収集システムと収集状況の保存、隠しコンテンツの解放</a:t>
            </a:r>
            <a:endParaRPr sz="1200" b="0" i="0" dirty="0">
              <a:solidFill>
                <a:srgbClr val="7D8FAE"/>
              </a:solidFill>
              <a:latin typeface="Meiryo UI" panose="020B0604030504040204" pitchFamily="50" charset="-128"/>
            </a:endParaRPr>
          </a:p>
        </p:txBody>
      </p:sp>
      <p:sp>
        <p:nvSpPr>
          <p:cNvPr id="94" name="TextBox 93"/>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95" name="TextBox 94"/>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08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2587752" y="-10579608"/>
            <a:ext cx="12746735" cy="12746735"/>
          </a:xfrm>
          <a:prstGeom prst="ellipse">
            <a:avLst/>
          </a:prstGeom>
          <a:solidFill>
            <a:srgbClr val="9AD5FF">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743200" y="-10424160"/>
            <a:ext cx="12435840" cy="12435840"/>
          </a:xfrm>
          <a:prstGeom prst="ellipse">
            <a:avLst/>
          </a:prstGeom>
          <a:noFill/>
          <a:ln w="330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484217" y="-8683142"/>
            <a:ext cx="8953804" cy="8953804"/>
          </a:xfrm>
          <a:prstGeom prst="ellipse">
            <a:avLst/>
          </a:prstGeom>
          <a:noFill/>
          <a:ln w="2540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100876" y="-7066483"/>
            <a:ext cx="5720486" cy="5720486"/>
          </a:xfrm>
          <a:prstGeom prst="ellipse">
            <a:avLst/>
          </a:prstGeom>
          <a:noFill/>
          <a:ln w="203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1603640" y="-3111672"/>
            <a:ext cx="2757412" cy="1142158"/>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14174514" y="-2156052"/>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10055687" y="-1563719"/>
            <a:ext cx="1142158" cy="275741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11011307" y="1007154"/>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6724394" y="-1563719"/>
            <a:ext cx="1142158" cy="275741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6537857" y="1007154"/>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3561187" y="-3111672"/>
            <a:ext cx="2757412" cy="1142158"/>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3374649" y="-2156052"/>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3561187" y="-6442965"/>
            <a:ext cx="2757412" cy="1142158"/>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3374649" y="-6629502"/>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6724394" y="-9606172"/>
            <a:ext cx="1142158" cy="2757412"/>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6537857" y="-9792710"/>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0055687" y="-9606172"/>
            <a:ext cx="1142158" cy="2757412"/>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11011307" y="-9792710"/>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11603640" y="-6442965"/>
            <a:ext cx="2757412" cy="1142158"/>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4174514" y="-6629502"/>
            <a:ext cx="373075" cy="373075"/>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3184335" y="3881301"/>
            <a:ext cx="107953" cy="107953"/>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795919" y="2213023"/>
            <a:ext cx="54541" cy="54541"/>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803285" y="1852366"/>
            <a:ext cx="83766" cy="83766"/>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iamond 35"/>
          <p:cNvSpPr/>
          <p:nvPr/>
        </p:nvSpPr>
        <p:spPr>
          <a:xfrm>
            <a:off x="10490019" y="2037588"/>
            <a:ext cx="65783" cy="65783"/>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iamond 36"/>
          <p:cNvSpPr/>
          <p:nvPr/>
        </p:nvSpPr>
        <p:spPr>
          <a:xfrm>
            <a:off x="6982553" y="5968544"/>
            <a:ext cx="92735" cy="92735"/>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574096" y="788775"/>
            <a:ext cx="56020" cy="56020"/>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2154035" y="1977701"/>
            <a:ext cx="61281" cy="61281"/>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925093" y="1762684"/>
            <a:ext cx="84958" cy="84958"/>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3682544" y="2148601"/>
            <a:ext cx="95574" cy="95574"/>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Diamond 41"/>
          <p:cNvSpPr/>
          <p:nvPr/>
        </p:nvSpPr>
        <p:spPr>
          <a:xfrm>
            <a:off x="8560779" y="5765697"/>
            <a:ext cx="92341" cy="92341"/>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3044682" y="3792039"/>
            <a:ext cx="84709" cy="8470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0483811" y="5207759"/>
            <a:ext cx="108193" cy="108193"/>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008589" y="5216794"/>
            <a:ext cx="77528" cy="77528"/>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141617" y="3458607"/>
            <a:ext cx="67669" cy="6766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233683" y="3788058"/>
            <a:ext cx="77408" cy="77408"/>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8625100" y="4515103"/>
            <a:ext cx="105666" cy="105666"/>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06820" y="2773354"/>
            <a:ext cx="93277" cy="93277"/>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293766" y="1894572"/>
            <a:ext cx="70387" cy="70387"/>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8827241" y="3501187"/>
            <a:ext cx="524317" cy="190660"/>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851074" y="3364149"/>
            <a:ext cx="95330" cy="178744"/>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a:off x="8851074" y="3280735"/>
            <a:ext cx="95330" cy="83414"/>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041735" y="3233070"/>
            <a:ext cx="95330" cy="309823"/>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Isosceles Triangle 54"/>
          <p:cNvSpPr/>
          <p:nvPr/>
        </p:nvSpPr>
        <p:spPr>
          <a:xfrm>
            <a:off x="9041735" y="3149656"/>
            <a:ext cx="95330" cy="83414"/>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9208563" y="3364149"/>
            <a:ext cx="95330" cy="178744"/>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Isosceles Triangle 56"/>
          <p:cNvSpPr/>
          <p:nvPr/>
        </p:nvSpPr>
        <p:spPr>
          <a:xfrm>
            <a:off x="9208563" y="3280735"/>
            <a:ext cx="95330" cy="83414"/>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9053651" y="3578643"/>
            <a:ext cx="71497" cy="113204"/>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5-Point Star 58"/>
          <p:cNvSpPr/>
          <p:nvPr/>
        </p:nvSpPr>
        <p:spPr>
          <a:xfrm>
            <a:off x="7402936" y="5323502"/>
            <a:ext cx="616467" cy="616467"/>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6979601" y="5313279"/>
            <a:ext cx="196316"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7160418" y="5297780"/>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2" name="Connector 61"/>
          <p:cNvCxnSpPr/>
          <p:nvPr/>
        </p:nvCxnSpPr>
        <p:spPr>
          <a:xfrm>
            <a:off x="6969735" y="5343645"/>
            <a:ext cx="158822" cy="11539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7113059" y="5443538"/>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4" name="Connector 63"/>
          <p:cNvCxnSpPr/>
          <p:nvPr/>
        </p:nvCxnSpPr>
        <p:spPr>
          <a:xfrm>
            <a:off x="6943903" y="5362413"/>
            <a:ext cx="60665" cy="186707"/>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6989070" y="5533622"/>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flipH="1">
            <a:off x="6851310" y="5362413"/>
            <a:ext cx="60665" cy="186707"/>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6835811" y="5533622"/>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Connector 67"/>
          <p:cNvCxnSpPr/>
          <p:nvPr/>
        </p:nvCxnSpPr>
        <p:spPr>
          <a:xfrm flipH="1">
            <a:off x="6727321" y="5343645"/>
            <a:ext cx="158822" cy="11539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6711822" y="5443538"/>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Connector 69"/>
          <p:cNvCxnSpPr/>
          <p:nvPr/>
        </p:nvCxnSpPr>
        <p:spPr>
          <a:xfrm flipH="1">
            <a:off x="6679961" y="5313279"/>
            <a:ext cx="196316"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6664462" y="5297780"/>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flipH="1" flipV="1">
            <a:off x="6727321" y="5167521"/>
            <a:ext cx="158822" cy="11539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6711822" y="5152023"/>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flipH="1" flipV="1">
            <a:off x="6851310" y="5077438"/>
            <a:ext cx="60665" cy="186707"/>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835811" y="5061939"/>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flipV="1">
            <a:off x="6943903" y="5077438"/>
            <a:ext cx="60665" cy="186707"/>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6989070" y="5061939"/>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Connector 77"/>
          <p:cNvCxnSpPr/>
          <p:nvPr/>
        </p:nvCxnSpPr>
        <p:spPr>
          <a:xfrm flipV="1">
            <a:off x="6969735" y="5167521"/>
            <a:ext cx="158822" cy="11539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7113059" y="5152023"/>
            <a:ext cx="30997" cy="30997"/>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6896942" y="5282282"/>
            <a:ext cx="61994" cy="61994"/>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5-Point Star 80"/>
          <p:cNvSpPr/>
          <p:nvPr/>
        </p:nvSpPr>
        <p:spPr>
          <a:xfrm>
            <a:off x="9722538" y="4675110"/>
            <a:ext cx="419723" cy="419723"/>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a:off x="6496582" y="3206985"/>
            <a:ext cx="260414"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6736437" y="3186426"/>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4" name="Connector 83"/>
          <p:cNvCxnSpPr/>
          <p:nvPr/>
        </p:nvCxnSpPr>
        <p:spPr>
          <a:xfrm>
            <a:off x="6483494" y="3247266"/>
            <a:ext cx="210680" cy="153068"/>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6673615" y="3379775"/>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a:off x="6449229" y="3272161"/>
            <a:ext cx="80472" cy="24766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6509142" y="3499271"/>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8" name="Connector 87"/>
          <p:cNvCxnSpPr/>
          <p:nvPr/>
        </p:nvCxnSpPr>
        <p:spPr>
          <a:xfrm flipH="1">
            <a:off x="6326403" y="3272161"/>
            <a:ext cx="80472" cy="24766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6305844" y="3499271"/>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0" name="Connector 89"/>
          <p:cNvCxnSpPr/>
          <p:nvPr/>
        </p:nvCxnSpPr>
        <p:spPr>
          <a:xfrm flipH="1">
            <a:off x="6161930" y="3247266"/>
            <a:ext cx="210680" cy="153068"/>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6141371" y="3379775"/>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2" name="Connector 91"/>
          <p:cNvCxnSpPr/>
          <p:nvPr/>
        </p:nvCxnSpPr>
        <p:spPr>
          <a:xfrm flipH="1">
            <a:off x="6099108" y="3206985"/>
            <a:ext cx="260414"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6078548" y="3186426"/>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4" name="Connector 93"/>
          <p:cNvCxnSpPr/>
          <p:nvPr/>
        </p:nvCxnSpPr>
        <p:spPr>
          <a:xfrm flipH="1" flipV="1">
            <a:off x="6161930" y="3013636"/>
            <a:ext cx="210680" cy="153068"/>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6141371" y="2993077"/>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6" name="Connector 95"/>
          <p:cNvCxnSpPr/>
          <p:nvPr/>
        </p:nvCxnSpPr>
        <p:spPr>
          <a:xfrm flipH="1" flipV="1">
            <a:off x="6326403" y="2894140"/>
            <a:ext cx="80472" cy="24766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7" name="Oval 96"/>
          <p:cNvSpPr/>
          <p:nvPr/>
        </p:nvSpPr>
        <p:spPr>
          <a:xfrm>
            <a:off x="6305844" y="2873581"/>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8" name="Connector 97"/>
          <p:cNvCxnSpPr/>
          <p:nvPr/>
        </p:nvCxnSpPr>
        <p:spPr>
          <a:xfrm flipV="1">
            <a:off x="6449229" y="2894140"/>
            <a:ext cx="80472" cy="247669"/>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6509142" y="2873581"/>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0" name="Connector 99"/>
          <p:cNvCxnSpPr/>
          <p:nvPr/>
        </p:nvCxnSpPr>
        <p:spPr>
          <a:xfrm flipV="1">
            <a:off x="6483494" y="3013636"/>
            <a:ext cx="210680" cy="153068"/>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6673615" y="2993077"/>
            <a:ext cx="41118" cy="41118"/>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6386934" y="3165867"/>
            <a:ext cx="82236" cy="8223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5-Point Star 102"/>
          <p:cNvSpPr/>
          <p:nvPr/>
        </p:nvSpPr>
        <p:spPr>
          <a:xfrm>
            <a:off x="5999951" y="4492635"/>
            <a:ext cx="387356" cy="387356"/>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rot="19800000">
            <a:off x="4705726" y="703593"/>
            <a:ext cx="30459" cy="203061"/>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5-Point Star 104"/>
          <p:cNvSpPr/>
          <p:nvPr/>
        </p:nvSpPr>
        <p:spPr>
          <a:xfrm>
            <a:off x="4648192" y="588525"/>
            <a:ext cx="155680" cy="155680"/>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4-Point Star 105"/>
          <p:cNvSpPr/>
          <p:nvPr/>
        </p:nvSpPr>
        <p:spPr>
          <a:xfrm>
            <a:off x="4604196" y="723899"/>
            <a:ext cx="54149" cy="54149"/>
          </a:xfrm>
          <a:prstGeom prst="star4">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4-Point Star 106"/>
          <p:cNvSpPr/>
          <p:nvPr/>
        </p:nvSpPr>
        <p:spPr>
          <a:xfrm>
            <a:off x="4577121" y="791586"/>
            <a:ext cx="37227" cy="37227"/>
          </a:xfrm>
          <a:prstGeom prst="star4">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TECHNOLOGY</a:t>
            </a:r>
          </a:p>
        </p:txBody>
      </p:sp>
      <p:sp>
        <p:nvSpPr>
          <p:cNvPr id="109" name="Rectangle 108"/>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使用技術の詳細</a:t>
            </a:r>
            <a:endParaRPr sz="2700" b="1" i="0" dirty="0">
              <a:solidFill>
                <a:srgbClr val="EEF4FF"/>
              </a:solidFill>
              <a:latin typeface="Meiryo UI" panose="020B0604030504040204" pitchFamily="50" charset="-128"/>
            </a:endParaRPr>
          </a:p>
        </p:txBody>
      </p:sp>
      <p:sp>
        <p:nvSpPr>
          <p:cNvPr id="111" name="Rounded Rectangle 110"/>
          <p:cNvSpPr/>
          <p:nvPr/>
        </p:nvSpPr>
        <p:spPr>
          <a:xfrm>
            <a:off x="822960" y="1874519"/>
            <a:ext cx="1051560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p:cNvSpPr/>
          <p:nvPr/>
        </p:nvSpPr>
        <p:spPr>
          <a:xfrm>
            <a:off x="1051560" y="2194559"/>
            <a:ext cx="1828800" cy="594360"/>
          </a:xfrm>
          <a:prstGeom prst="roundRect">
            <a:avLst>
              <a:gd name="adj" fmla="val 15000"/>
            </a:avLst>
          </a:prstGeom>
          <a:solidFill>
            <a:srgbClr val="0A1630"/>
          </a:solidFill>
          <a:ln w="9525">
            <a:solidFill>
              <a:srgbClr val="B39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1051560" y="2194559"/>
            <a:ext cx="1828800" cy="594360"/>
          </a:xfrm>
          <a:prstGeom prst="rect">
            <a:avLst/>
          </a:prstGeom>
          <a:noFill/>
        </p:spPr>
        <p:txBody>
          <a:bodyPr wrap="square" lIns="0" tIns="0" rIns="0" bIns="0" anchor="ctr">
            <a:spAutoFit/>
          </a:bodyPr>
          <a:lstStyle/>
          <a:p>
            <a:pPr algn="ctr">
              <a:lnSpc>
                <a:spcPct val="100000"/>
              </a:lnSpc>
              <a:spcAft>
                <a:spcPts val="0"/>
              </a:spcAft>
            </a:pPr>
            <a:r>
              <a:rPr sz="1500" b="1" i="0">
                <a:solidFill>
                  <a:srgbClr val="E6D5A3"/>
                </a:solidFill>
                <a:latin typeface="Georgia"/>
              </a:rPr>
              <a:t>HTML</a:t>
            </a:r>
          </a:p>
        </p:txBody>
      </p:sp>
      <p:sp>
        <p:nvSpPr>
          <p:cNvPr id="114" name="TextBox 113"/>
          <p:cNvSpPr txBox="1"/>
          <p:nvPr/>
        </p:nvSpPr>
        <p:spPr>
          <a:xfrm>
            <a:off x="3154680" y="2416290"/>
            <a:ext cx="7955279" cy="205762"/>
          </a:xfrm>
          <a:prstGeom prst="rect">
            <a:avLst/>
          </a:prstGeom>
          <a:noFill/>
        </p:spPr>
        <p:txBody>
          <a:bodyPr wrap="square" lIns="0" tIns="0" rIns="0" bIns="0" anchor="ctr">
            <a:spAutoFit/>
          </a:bodyPr>
          <a:lstStyle/>
          <a:p>
            <a:pPr algn="l">
              <a:lnSpc>
                <a:spcPct val="140000"/>
              </a:lnSpc>
              <a:spcAft>
                <a:spcPts val="0"/>
              </a:spcAft>
            </a:pPr>
            <a:r>
              <a:rPr sz="1100" b="0" i="0" dirty="0" err="1">
                <a:solidFill>
                  <a:srgbClr val="C3D2EA"/>
                </a:solidFill>
                <a:latin typeface="Meiryo UI" panose="020B0604030504040204" pitchFamily="50" charset="-128"/>
              </a:rPr>
              <a:t>Webページの構造を作成し、セマンティックな要素を使用して情報の階層を定義</a:t>
            </a:r>
            <a:endParaRPr sz="1100" b="0" i="0" dirty="0">
              <a:solidFill>
                <a:srgbClr val="C3D2EA"/>
              </a:solidFill>
              <a:latin typeface="Meiryo UI" panose="020B0604030504040204" pitchFamily="50" charset="-128"/>
            </a:endParaRPr>
          </a:p>
        </p:txBody>
      </p:sp>
      <p:sp>
        <p:nvSpPr>
          <p:cNvPr id="115" name="Rounded Rectangle 114"/>
          <p:cNvSpPr/>
          <p:nvPr/>
        </p:nvSpPr>
        <p:spPr>
          <a:xfrm>
            <a:off x="822960" y="3337559"/>
            <a:ext cx="1051560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ounded Rectangle 115"/>
          <p:cNvSpPr/>
          <p:nvPr/>
        </p:nvSpPr>
        <p:spPr>
          <a:xfrm>
            <a:off x="1051560" y="3657599"/>
            <a:ext cx="1828800" cy="594360"/>
          </a:xfrm>
          <a:prstGeom prst="roundRect">
            <a:avLst>
              <a:gd name="adj" fmla="val 15000"/>
            </a:avLst>
          </a:prstGeom>
          <a:solidFill>
            <a:srgbClr val="0A1630"/>
          </a:solidFill>
          <a:ln w="9525">
            <a:solidFill>
              <a:srgbClr val="B39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1051560" y="3657599"/>
            <a:ext cx="1828800" cy="594360"/>
          </a:xfrm>
          <a:prstGeom prst="rect">
            <a:avLst/>
          </a:prstGeom>
          <a:noFill/>
        </p:spPr>
        <p:txBody>
          <a:bodyPr wrap="square" lIns="0" tIns="0" rIns="0" bIns="0" anchor="ctr">
            <a:spAutoFit/>
          </a:bodyPr>
          <a:lstStyle/>
          <a:p>
            <a:pPr algn="ctr">
              <a:lnSpc>
                <a:spcPct val="100000"/>
              </a:lnSpc>
              <a:spcAft>
                <a:spcPts val="0"/>
              </a:spcAft>
            </a:pPr>
            <a:r>
              <a:rPr sz="1500" b="1" i="0">
                <a:solidFill>
                  <a:srgbClr val="E6D5A3"/>
                </a:solidFill>
                <a:latin typeface="Georgia"/>
              </a:rPr>
              <a:t>CSS</a:t>
            </a:r>
          </a:p>
        </p:txBody>
      </p:sp>
      <p:sp>
        <p:nvSpPr>
          <p:cNvPr id="118" name="TextBox 117"/>
          <p:cNvSpPr txBox="1"/>
          <p:nvPr/>
        </p:nvSpPr>
        <p:spPr>
          <a:xfrm>
            <a:off x="3154680" y="3879330"/>
            <a:ext cx="7955279" cy="205762"/>
          </a:xfrm>
          <a:prstGeom prst="rect">
            <a:avLst/>
          </a:prstGeom>
          <a:noFill/>
        </p:spPr>
        <p:txBody>
          <a:bodyPr wrap="square" lIns="0" tIns="0" rIns="0" bIns="0" anchor="ctr">
            <a:spAutoFit/>
          </a:bodyPr>
          <a:lstStyle/>
          <a:p>
            <a:pPr algn="l">
              <a:lnSpc>
                <a:spcPct val="140000"/>
              </a:lnSpc>
              <a:spcAft>
                <a:spcPts val="0"/>
              </a:spcAft>
            </a:pPr>
            <a:r>
              <a:rPr sz="1100" b="0" i="0" dirty="0" err="1">
                <a:solidFill>
                  <a:srgbClr val="C3D2EA"/>
                </a:solidFill>
                <a:latin typeface="Meiryo UI" panose="020B0604030504040204" pitchFamily="50" charset="-128"/>
              </a:rPr>
              <a:t>レイアウト、色、アニメーション、発光表現、レスポンシブデザインを担当し、幻想的な世界観を視覚的に表現</a:t>
            </a:r>
            <a:endParaRPr sz="1100" b="0" i="0" dirty="0">
              <a:solidFill>
                <a:srgbClr val="C3D2EA"/>
              </a:solidFill>
              <a:latin typeface="Meiryo UI" panose="020B0604030504040204" pitchFamily="50" charset="-128"/>
            </a:endParaRPr>
          </a:p>
        </p:txBody>
      </p:sp>
      <p:sp>
        <p:nvSpPr>
          <p:cNvPr id="119" name="Rounded Rectangle 118"/>
          <p:cNvSpPr/>
          <p:nvPr/>
        </p:nvSpPr>
        <p:spPr>
          <a:xfrm>
            <a:off x="822960" y="4800599"/>
            <a:ext cx="10515600" cy="123444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ounded Rectangle 119"/>
          <p:cNvSpPr/>
          <p:nvPr/>
        </p:nvSpPr>
        <p:spPr>
          <a:xfrm>
            <a:off x="1051560" y="5120639"/>
            <a:ext cx="1828800" cy="594360"/>
          </a:xfrm>
          <a:prstGeom prst="roundRect">
            <a:avLst>
              <a:gd name="adj" fmla="val 15000"/>
            </a:avLst>
          </a:prstGeom>
          <a:solidFill>
            <a:srgbClr val="0A1630"/>
          </a:solidFill>
          <a:ln w="9525">
            <a:solidFill>
              <a:srgbClr val="B39A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051560" y="5120639"/>
            <a:ext cx="1828800" cy="594360"/>
          </a:xfrm>
          <a:prstGeom prst="rect">
            <a:avLst/>
          </a:prstGeom>
          <a:noFill/>
        </p:spPr>
        <p:txBody>
          <a:bodyPr wrap="square" lIns="0" tIns="0" rIns="0" bIns="0" anchor="ctr">
            <a:spAutoFit/>
          </a:bodyPr>
          <a:lstStyle/>
          <a:p>
            <a:pPr algn="ctr">
              <a:lnSpc>
                <a:spcPct val="100000"/>
              </a:lnSpc>
              <a:spcAft>
                <a:spcPts val="0"/>
              </a:spcAft>
            </a:pPr>
            <a:r>
              <a:rPr sz="1500" b="1" i="0">
                <a:solidFill>
                  <a:srgbClr val="E6D5A3"/>
                </a:solidFill>
                <a:latin typeface="Georgia"/>
              </a:rPr>
              <a:t>JavaScript</a:t>
            </a:r>
          </a:p>
        </p:txBody>
      </p:sp>
      <p:sp>
        <p:nvSpPr>
          <p:cNvPr id="122" name="TextBox 121"/>
          <p:cNvSpPr txBox="1"/>
          <p:nvPr/>
        </p:nvSpPr>
        <p:spPr>
          <a:xfrm>
            <a:off x="3154680" y="5342370"/>
            <a:ext cx="7955279" cy="205762"/>
          </a:xfrm>
          <a:prstGeom prst="rect">
            <a:avLst/>
          </a:prstGeom>
          <a:noFill/>
        </p:spPr>
        <p:txBody>
          <a:bodyPr wrap="square" lIns="0" tIns="0" rIns="0" bIns="0" anchor="ctr">
            <a:spAutoFit/>
          </a:bodyPr>
          <a:lstStyle/>
          <a:p>
            <a:pPr algn="l">
              <a:lnSpc>
                <a:spcPct val="140000"/>
              </a:lnSpc>
              <a:spcAft>
                <a:spcPts val="0"/>
              </a:spcAft>
            </a:pPr>
            <a:r>
              <a:rPr sz="1100" b="0" i="0" dirty="0">
                <a:solidFill>
                  <a:srgbClr val="C3D2EA"/>
                </a:solidFill>
                <a:latin typeface="Meiryo UI" panose="020B0604030504040204" pitchFamily="50" charset="-128"/>
              </a:rPr>
              <a:t>ページ切り替え、モーダル表示、クリック・ホバーイベントの処理、効果音制御、記憶の欠片収集、状態管理、隠しコンテンツ解放などを実装</a:t>
            </a:r>
          </a:p>
        </p:txBody>
      </p:sp>
      <p:sp>
        <p:nvSpPr>
          <p:cNvPr id="123" name="TextBox 122"/>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24" name="TextBox 123"/>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09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3060D"/>
        </a:solidFill>
        <a:effectLst/>
      </p:bgPr>
    </p:bg>
    <p:spTree>
      <p:nvGrpSpPr>
        <p:cNvPr id="1" name=""/>
        <p:cNvGrpSpPr/>
        <p:nvPr/>
      </p:nvGrpSpPr>
      <p:grpSpPr>
        <a:xfrm>
          <a:off x="0" y="0"/>
          <a:ext cx="0" cy="0"/>
          <a:chOff x="0" y="0"/>
          <a:chExt cx="0" cy="0"/>
        </a:xfrm>
      </p:grpSpPr>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000499" y="4503420"/>
            <a:ext cx="13121639" cy="13121639"/>
          </a:xfrm>
          <a:prstGeom prst="ellipse">
            <a:avLst/>
          </a:prstGeom>
          <a:solidFill>
            <a:srgbClr val="E6D5A3">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840480" y="4663440"/>
            <a:ext cx="12801600" cy="12801600"/>
          </a:xfrm>
          <a:prstGeom prst="ellipse">
            <a:avLst/>
          </a:prstGeom>
          <a:noFill/>
          <a:ln w="330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048256" y="6455664"/>
            <a:ext cx="9217152" cy="9217152"/>
          </a:xfrm>
          <a:prstGeom prst="ellipse">
            <a:avLst/>
          </a:prstGeom>
          <a:noFill/>
          <a:ln w="2540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84048" y="8119872"/>
            <a:ext cx="5888736" cy="5888736"/>
          </a:xfrm>
          <a:prstGeom prst="ellipse">
            <a:avLst/>
          </a:prstGeom>
          <a:noFill/>
          <a:ln w="20320">
            <a:solidFill>
              <a:srgbClr val="E6D5A3">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5280561" y="12191000"/>
            <a:ext cx="2838513" cy="1175751"/>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7927050" y="13174727"/>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3687080" y="13784481"/>
            <a:ext cx="1175751" cy="28385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4670807" y="16430970"/>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257808" y="13784481"/>
            <a:ext cx="1175751" cy="28385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65784" y="16430970"/>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2998434" y="12191000"/>
            <a:ext cx="2838513" cy="1175751"/>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3190458" y="13174727"/>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2998434" y="8761728"/>
            <a:ext cx="2838513" cy="1175751"/>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3190458" y="8569704"/>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257808" y="5505485"/>
            <a:ext cx="1175751" cy="28385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65784" y="5313461"/>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3687080" y="5505485"/>
            <a:ext cx="1175751" cy="2838513"/>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4670807" y="5313461"/>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5280561" y="8761728"/>
            <a:ext cx="2838513" cy="1175751"/>
          </a:xfrm>
          <a:prstGeom prst="line">
            <a:avLst/>
          </a:prstGeom>
          <a:ln w="20320">
            <a:solidFill>
              <a:srgbClr val="9AD5FF">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7927050" y="8569704"/>
            <a:ext cx="384048" cy="384048"/>
          </a:xfrm>
          <a:prstGeom prst="diamond">
            <a:avLst/>
          </a:prstGeom>
          <a:solidFill>
            <a:srgbClr val="9AD5FF">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9AD5FF">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901307" y="5317007"/>
            <a:ext cx="102075" cy="102075"/>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iamond 33"/>
          <p:cNvSpPr/>
          <p:nvPr/>
        </p:nvSpPr>
        <p:spPr>
          <a:xfrm>
            <a:off x="3517156" y="1520105"/>
            <a:ext cx="50899" cy="50899"/>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iamond 34"/>
          <p:cNvSpPr/>
          <p:nvPr/>
        </p:nvSpPr>
        <p:spPr>
          <a:xfrm>
            <a:off x="2692295" y="5551072"/>
            <a:ext cx="57924" cy="57924"/>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iamond 35"/>
          <p:cNvSpPr/>
          <p:nvPr/>
        </p:nvSpPr>
        <p:spPr>
          <a:xfrm>
            <a:off x="10723766" y="5938940"/>
            <a:ext cx="52258" cy="52258"/>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1395558" y="2712647"/>
            <a:ext cx="85893" cy="85893"/>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16839" y="659013"/>
            <a:ext cx="91994" cy="91994"/>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5413393" y="2437816"/>
            <a:ext cx="91980" cy="91980"/>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0886210" y="1554891"/>
            <a:ext cx="94308" cy="94308"/>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1378172" y="6266116"/>
            <a:ext cx="76697" cy="76697"/>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245567" y="1003373"/>
            <a:ext cx="71706" cy="71706"/>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3053711" y="3008009"/>
            <a:ext cx="85982" cy="85982"/>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44031" y="1437584"/>
            <a:ext cx="83975" cy="83975"/>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756855" y="5169437"/>
            <a:ext cx="96302" cy="96302"/>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568553" y="3574378"/>
            <a:ext cx="55366" cy="55366"/>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iamond 46"/>
          <p:cNvSpPr/>
          <p:nvPr/>
        </p:nvSpPr>
        <p:spPr>
          <a:xfrm>
            <a:off x="7256063" y="5780740"/>
            <a:ext cx="54442" cy="54442"/>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Diamond 47"/>
          <p:cNvSpPr/>
          <p:nvPr/>
        </p:nvSpPr>
        <p:spPr>
          <a:xfrm>
            <a:off x="1252362" y="5998042"/>
            <a:ext cx="87014" cy="87014"/>
          </a:xfrm>
          <a:prstGeom prst="diamond">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8630975" y="3053606"/>
            <a:ext cx="71447" cy="71447"/>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550672" y="3290508"/>
            <a:ext cx="64431" cy="64431"/>
          </a:xfrm>
          <a:prstGeom prst="ellipse">
            <a:avLst/>
          </a:prstGeom>
          <a:solidFill>
            <a:srgbClr val="B39A63">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5-Point Star 50"/>
          <p:cNvSpPr/>
          <p:nvPr/>
        </p:nvSpPr>
        <p:spPr>
          <a:xfrm>
            <a:off x="10096589" y="1838965"/>
            <a:ext cx="627242" cy="627242"/>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rot="19800000">
            <a:off x="7925472" y="3414521"/>
            <a:ext cx="60561" cy="403741"/>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5-Point Star 52"/>
          <p:cNvSpPr/>
          <p:nvPr/>
        </p:nvSpPr>
        <p:spPr>
          <a:xfrm>
            <a:off x="7811078" y="3185734"/>
            <a:ext cx="309535" cy="309535"/>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4-Point Star 53"/>
          <p:cNvSpPr/>
          <p:nvPr/>
        </p:nvSpPr>
        <p:spPr>
          <a:xfrm>
            <a:off x="7723601" y="3454895"/>
            <a:ext cx="107664" cy="107664"/>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4-Point Star 54"/>
          <p:cNvSpPr/>
          <p:nvPr/>
        </p:nvSpPr>
        <p:spPr>
          <a:xfrm>
            <a:off x="7669769" y="3589475"/>
            <a:ext cx="74019" cy="74019"/>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5-Point Star 55"/>
          <p:cNvSpPr/>
          <p:nvPr/>
        </p:nvSpPr>
        <p:spPr>
          <a:xfrm>
            <a:off x="6908797" y="5631919"/>
            <a:ext cx="592876" cy="592876"/>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5-Point Star 56"/>
          <p:cNvSpPr/>
          <p:nvPr/>
        </p:nvSpPr>
        <p:spPr>
          <a:xfrm>
            <a:off x="8944736" y="4670998"/>
            <a:ext cx="543531" cy="543531"/>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rot="19800000">
            <a:off x="5477335" y="2225349"/>
            <a:ext cx="46116" cy="307443"/>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5-Point Star 58"/>
          <p:cNvSpPr/>
          <p:nvPr/>
        </p:nvSpPr>
        <p:spPr>
          <a:xfrm>
            <a:off x="5390226" y="2051131"/>
            <a:ext cx="235706" cy="235706"/>
          </a:xfrm>
          <a:prstGeom prst="star5">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4-Point Star 59"/>
          <p:cNvSpPr/>
          <p:nvPr/>
        </p:nvSpPr>
        <p:spPr>
          <a:xfrm>
            <a:off x="5323613" y="2256093"/>
            <a:ext cx="81984" cy="81984"/>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4-Point Star 60"/>
          <p:cNvSpPr/>
          <p:nvPr/>
        </p:nvSpPr>
        <p:spPr>
          <a:xfrm>
            <a:off x="5282621" y="2358574"/>
            <a:ext cx="56364" cy="56364"/>
          </a:xfrm>
          <a:prstGeom prst="star4">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992092" y="5516819"/>
            <a:ext cx="455854" cy="165765"/>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9012812" y="5397675"/>
            <a:ext cx="82882" cy="155405"/>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Isosceles Triangle 63"/>
          <p:cNvSpPr/>
          <p:nvPr/>
        </p:nvSpPr>
        <p:spPr>
          <a:xfrm>
            <a:off x="9012812" y="5325153"/>
            <a:ext cx="82882" cy="7252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178578" y="5283711"/>
            <a:ext cx="82882" cy="269368"/>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Isosceles Triangle 65"/>
          <p:cNvSpPr/>
          <p:nvPr/>
        </p:nvSpPr>
        <p:spPr>
          <a:xfrm>
            <a:off x="9178578" y="5211189"/>
            <a:ext cx="82882" cy="7252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9323622" y="5397675"/>
            <a:ext cx="82882" cy="155405"/>
          </a:xfrm>
          <a:prstGeom prst="rect">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Isosceles Triangle 67"/>
          <p:cNvSpPr/>
          <p:nvPr/>
        </p:nvSpPr>
        <p:spPr>
          <a:xfrm>
            <a:off x="9323622" y="5325153"/>
            <a:ext cx="82882" cy="72522"/>
          </a:xfrm>
          <a:prstGeom prst="triangl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9188938" y="5584161"/>
            <a:ext cx="62162" cy="98423"/>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0" name="Connector 69"/>
          <p:cNvCxnSpPr/>
          <p:nvPr/>
        </p:nvCxnSpPr>
        <p:spPr>
          <a:xfrm>
            <a:off x="9047303" y="2512216"/>
            <a:ext cx="207670" cy="0"/>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9238578" y="2495821"/>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2" name="Connector 71"/>
          <p:cNvCxnSpPr/>
          <p:nvPr/>
        </p:nvCxnSpPr>
        <p:spPr>
          <a:xfrm>
            <a:off x="9036866" y="2544338"/>
            <a:ext cx="168008" cy="12206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9188479" y="2650009"/>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a:off x="9009541" y="2564191"/>
            <a:ext cx="64173" cy="19750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9057319" y="2745302"/>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6" name="Connector 75"/>
          <p:cNvCxnSpPr/>
          <p:nvPr/>
        </p:nvCxnSpPr>
        <p:spPr>
          <a:xfrm flipH="1">
            <a:off x="8911592" y="2564191"/>
            <a:ext cx="64173" cy="19750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8895197" y="2745302"/>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Connector 77"/>
          <p:cNvCxnSpPr/>
          <p:nvPr/>
        </p:nvCxnSpPr>
        <p:spPr>
          <a:xfrm flipH="1">
            <a:off x="8780432" y="2544338"/>
            <a:ext cx="168008" cy="12206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8764037" y="2650009"/>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p:nvPr/>
        </p:nvCxnSpPr>
        <p:spPr>
          <a:xfrm flipH="1">
            <a:off x="8730333" y="2512216"/>
            <a:ext cx="207670" cy="0"/>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8713939" y="2495821"/>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flipH="1" flipV="1">
            <a:off x="8780432" y="2358028"/>
            <a:ext cx="168008" cy="12206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8764037" y="2341633"/>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4" name="Connector 83"/>
          <p:cNvCxnSpPr/>
          <p:nvPr/>
        </p:nvCxnSpPr>
        <p:spPr>
          <a:xfrm flipH="1" flipV="1">
            <a:off x="8911592" y="2262735"/>
            <a:ext cx="64173" cy="19750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8895197" y="2246340"/>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flipV="1">
            <a:off x="9009541" y="2262735"/>
            <a:ext cx="64173" cy="19750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9057319" y="2246340"/>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8" name="Connector 87"/>
          <p:cNvCxnSpPr/>
          <p:nvPr/>
        </p:nvCxnSpPr>
        <p:spPr>
          <a:xfrm flipV="1">
            <a:off x="9036866" y="2358028"/>
            <a:ext cx="168008" cy="122066"/>
          </a:xfrm>
          <a:prstGeom prst="line">
            <a:avLst/>
          </a:prstGeom>
          <a:ln w="20320">
            <a:solidFill>
              <a:srgbClr val="B39A63">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9188479" y="2341633"/>
            <a:ext cx="32789" cy="3278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959863" y="2479426"/>
            <a:ext cx="65579" cy="65579"/>
          </a:xfrm>
          <a:prstGeom prst="ellipse">
            <a:avLst/>
          </a:prstGeom>
          <a:solidFill>
            <a:srgbClr val="B39A63">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KEY IDEAS</a:t>
            </a:r>
          </a:p>
        </p:txBody>
      </p:sp>
      <p:sp>
        <p:nvSpPr>
          <p:cNvPr id="92" name="Rectangle 91"/>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工夫点と差別化要素</a:t>
            </a:r>
            <a:endParaRPr sz="2700" b="1" i="0" dirty="0">
              <a:solidFill>
                <a:srgbClr val="EEF4FF"/>
              </a:solidFill>
              <a:latin typeface="Meiryo UI" panose="020B0604030504040204" pitchFamily="50" charset="-128"/>
            </a:endParaRPr>
          </a:p>
        </p:txBody>
      </p:sp>
      <p:sp>
        <p:nvSpPr>
          <p:cNvPr id="94" name="Chevron 93"/>
          <p:cNvSpPr/>
          <p:nvPr/>
        </p:nvSpPr>
        <p:spPr>
          <a:xfrm>
            <a:off x="838047" y="1783080"/>
            <a:ext cx="5166360" cy="548640"/>
          </a:xfrm>
          <a:prstGeom prst="chevron">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838047" y="1957372"/>
            <a:ext cx="5166360" cy="200055"/>
          </a:xfrm>
          <a:prstGeom prst="rect">
            <a:avLst/>
          </a:prstGeom>
          <a:noFill/>
        </p:spPr>
        <p:txBody>
          <a:bodyPr wrap="square" lIns="0" tIns="0" rIns="0" bIns="0" anchor="ctr">
            <a:spAutoFit/>
          </a:bodyPr>
          <a:lstStyle/>
          <a:p>
            <a:pPr algn="ctr">
              <a:lnSpc>
                <a:spcPct val="100000"/>
              </a:lnSpc>
              <a:spcAft>
                <a:spcPts val="0"/>
              </a:spcAft>
            </a:pPr>
            <a:r>
              <a:rPr sz="1300" b="1" i="0" dirty="0" err="1">
                <a:solidFill>
                  <a:srgbClr val="EEF4FF"/>
                </a:solidFill>
                <a:latin typeface="Meiryo UI" panose="020B0604030504040204" pitchFamily="50" charset="-128"/>
              </a:rPr>
              <a:t>体験設計の工夫</a:t>
            </a:r>
            <a:endParaRPr sz="1300" b="1" i="0" dirty="0">
              <a:solidFill>
                <a:srgbClr val="EEF4FF"/>
              </a:solidFill>
              <a:latin typeface="Meiryo UI" panose="020B0604030504040204" pitchFamily="50" charset="-128"/>
            </a:endParaRPr>
          </a:p>
        </p:txBody>
      </p:sp>
      <p:sp>
        <p:nvSpPr>
          <p:cNvPr id="96" name="Chevron 95"/>
          <p:cNvSpPr/>
          <p:nvPr/>
        </p:nvSpPr>
        <p:spPr>
          <a:xfrm>
            <a:off x="6187287" y="1783080"/>
            <a:ext cx="5166360" cy="548640"/>
          </a:xfrm>
          <a:prstGeom prst="chevron">
            <a:avLst/>
          </a:prstGeom>
          <a:solidFill>
            <a:srgbClr val="14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187287" y="1957372"/>
            <a:ext cx="5166360" cy="200055"/>
          </a:xfrm>
          <a:prstGeom prst="rect">
            <a:avLst/>
          </a:prstGeom>
          <a:noFill/>
        </p:spPr>
        <p:txBody>
          <a:bodyPr wrap="square" lIns="0" tIns="0" rIns="0" bIns="0" anchor="ctr">
            <a:spAutoFit/>
          </a:bodyPr>
          <a:lstStyle/>
          <a:p>
            <a:pPr algn="ctr">
              <a:lnSpc>
                <a:spcPct val="100000"/>
              </a:lnSpc>
              <a:spcAft>
                <a:spcPts val="0"/>
              </a:spcAft>
            </a:pPr>
            <a:r>
              <a:rPr sz="1300" b="1" i="0" dirty="0" err="1">
                <a:solidFill>
                  <a:srgbClr val="EEF4FF"/>
                </a:solidFill>
                <a:latin typeface="Meiryo UI" panose="020B0604030504040204" pitchFamily="50" charset="-128"/>
              </a:rPr>
              <a:t>再利用性と拡張性</a:t>
            </a:r>
            <a:endParaRPr sz="1300" b="1" i="0" dirty="0">
              <a:solidFill>
                <a:srgbClr val="EEF4FF"/>
              </a:solidFill>
              <a:latin typeface="Meiryo UI" panose="020B0604030504040204" pitchFamily="50" charset="-128"/>
            </a:endParaRPr>
          </a:p>
        </p:txBody>
      </p:sp>
      <p:sp>
        <p:nvSpPr>
          <p:cNvPr id="98" name="Rounded Rectangle 97"/>
          <p:cNvSpPr/>
          <p:nvPr/>
        </p:nvSpPr>
        <p:spPr>
          <a:xfrm>
            <a:off x="838047" y="2560320"/>
            <a:ext cx="5166360" cy="196596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112367" y="2788920"/>
            <a:ext cx="4617720" cy="1247521"/>
          </a:xfrm>
          <a:prstGeom prst="rect">
            <a:avLst/>
          </a:prstGeom>
          <a:noFill/>
        </p:spPr>
        <p:txBody>
          <a:bodyPr wrap="square" lIns="0" tIns="0" rIns="0" bIns="0" anchor="t">
            <a:spAutoFit/>
          </a:bodyPr>
          <a:lstStyle/>
          <a:p>
            <a:pPr algn="l">
              <a:lnSpc>
                <a:spcPct val="150000"/>
              </a:lnSpc>
              <a:spcAft>
                <a:spcPts val="0"/>
              </a:spcAft>
            </a:pPr>
            <a:r>
              <a:rPr sz="1400" b="0" i="0" dirty="0">
                <a:solidFill>
                  <a:srgbClr val="C3D2EA"/>
                </a:solidFill>
                <a:latin typeface="Meiryo UI" panose="020B0604030504040204" pitchFamily="50" charset="-128"/>
              </a:rPr>
              <a:t>情報サイトではなく「体験型サイト」にすることで、ユーザーの没入感を高める。記憶の欠片を集めることで、ユーザーが自然にサイト内を探索する仕組みを作る。マウスカーソルやホバー、</a:t>
            </a:r>
            <a:r>
              <a:rPr sz="1400" b="0" i="0" dirty="0" err="1">
                <a:solidFill>
                  <a:srgbClr val="C3D2EA"/>
                </a:solidFill>
                <a:latin typeface="Meiryo UI" panose="020B0604030504040204" pitchFamily="50" charset="-128"/>
              </a:rPr>
              <a:t>クリックに対して音と光を反応させ、ゲーム的な操作感を実現</a:t>
            </a:r>
            <a:endParaRPr sz="1400" b="0" i="0" dirty="0">
              <a:solidFill>
                <a:srgbClr val="C3D2EA"/>
              </a:solidFill>
              <a:latin typeface="Meiryo UI" panose="020B0604030504040204" pitchFamily="50" charset="-128"/>
            </a:endParaRPr>
          </a:p>
        </p:txBody>
      </p:sp>
      <p:sp>
        <p:nvSpPr>
          <p:cNvPr id="100" name="Rounded Rectangle 99"/>
          <p:cNvSpPr/>
          <p:nvPr/>
        </p:nvSpPr>
        <p:spPr>
          <a:xfrm>
            <a:off x="6187287" y="2560320"/>
            <a:ext cx="5166360" cy="196596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6461607" y="2788920"/>
            <a:ext cx="4617720" cy="924356"/>
          </a:xfrm>
          <a:prstGeom prst="rect">
            <a:avLst/>
          </a:prstGeom>
          <a:noFill/>
        </p:spPr>
        <p:txBody>
          <a:bodyPr wrap="square" lIns="0" tIns="0" rIns="0" bIns="0" anchor="t">
            <a:spAutoFit/>
          </a:bodyPr>
          <a:lstStyle/>
          <a:p>
            <a:pPr algn="l">
              <a:lnSpc>
                <a:spcPct val="150000"/>
              </a:lnSpc>
              <a:spcAft>
                <a:spcPts val="0"/>
              </a:spcAft>
            </a:pPr>
            <a:r>
              <a:rPr sz="1400" b="0" i="0" dirty="0" err="1">
                <a:solidFill>
                  <a:srgbClr val="C3D2EA"/>
                </a:solidFill>
                <a:latin typeface="Meiryo UI" panose="020B0604030504040204" pitchFamily="50" charset="-128"/>
              </a:rPr>
              <a:t>隠し要素やSECRET</a:t>
            </a:r>
            <a:r>
              <a:rPr sz="1400" b="0" i="0" dirty="0">
                <a:solidFill>
                  <a:srgbClr val="C3D2EA"/>
                </a:solidFill>
                <a:latin typeface="Meiryo UI" panose="020B0604030504040204" pitchFamily="50" charset="-128"/>
              </a:rPr>
              <a:t> </a:t>
            </a:r>
            <a:r>
              <a:rPr sz="1400" b="0" i="0" dirty="0" err="1">
                <a:solidFill>
                  <a:srgbClr val="C3D2EA"/>
                </a:solidFill>
                <a:latin typeface="Meiryo UI" panose="020B0604030504040204" pitchFamily="50" charset="-128"/>
              </a:rPr>
              <a:t>MEMORYを用意し、何度も訪れたくなるサイトにする。PCだけでなくスマートフォンでも閲覧できるようレスポンシブ対応を実装</a:t>
            </a:r>
            <a:endParaRPr sz="1400" b="0" i="0" dirty="0">
              <a:solidFill>
                <a:srgbClr val="C3D2EA"/>
              </a:solidFill>
              <a:latin typeface="Meiryo UI" panose="020B0604030504040204" pitchFamily="50" charset="-128"/>
            </a:endParaRPr>
          </a:p>
        </p:txBody>
      </p:sp>
      <p:sp>
        <p:nvSpPr>
          <p:cNvPr id="102" name="Rounded Rectangle 101"/>
          <p:cNvSpPr/>
          <p:nvPr/>
        </p:nvSpPr>
        <p:spPr>
          <a:xfrm>
            <a:off x="838047" y="4800600"/>
            <a:ext cx="10515600" cy="960120"/>
          </a:xfrm>
          <a:prstGeom prst="roundRect">
            <a:avLst>
              <a:gd name="adj" fmla="val 5000"/>
            </a:avLst>
          </a:prstGeom>
          <a:solidFill>
            <a:srgbClr val="0D1730"/>
          </a:solidFill>
          <a:ln w="9525">
            <a:solidFill>
              <a:srgbClr val="143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3" name="TextBox 102"/>
          <p:cNvSpPr txBox="1"/>
          <p:nvPr/>
        </p:nvSpPr>
        <p:spPr>
          <a:xfrm>
            <a:off x="838047" y="4937760"/>
            <a:ext cx="10515600" cy="200055"/>
          </a:xfrm>
          <a:prstGeom prst="rect">
            <a:avLst/>
          </a:prstGeom>
          <a:noFill/>
        </p:spPr>
        <p:txBody>
          <a:bodyPr wrap="square" lIns="0" tIns="0" rIns="0" bIns="0" anchor="t">
            <a:spAutoFit/>
          </a:bodyPr>
          <a:lstStyle/>
          <a:p>
            <a:pPr algn="ctr">
              <a:lnSpc>
                <a:spcPct val="100000"/>
              </a:lnSpc>
              <a:spcAft>
                <a:spcPts val="0"/>
              </a:spcAft>
            </a:pPr>
            <a:r>
              <a:rPr sz="1300" b="1" i="0" dirty="0" err="1">
                <a:solidFill>
                  <a:srgbClr val="E6D5A3"/>
                </a:solidFill>
                <a:latin typeface="Meiryo UI" panose="020B0604030504040204" pitchFamily="50" charset="-128"/>
              </a:rPr>
              <a:t>企画実現の方向性</a:t>
            </a:r>
            <a:endParaRPr sz="1300" b="1" i="0" dirty="0">
              <a:solidFill>
                <a:srgbClr val="E6D5A3"/>
              </a:solidFill>
              <a:latin typeface="Meiryo UI" panose="020B0604030504040204" pitchFamily="50" charset="-128"/>
            </a:endParaRPr>
          </a:p>
        </p:txBody>
      </p:sp>
      <p:sp>
        <p:nvSpPr>
          <p:cNvPr id="104" name="TextBox 103"/>
          <p:cNvSpPr txBox="1"/>
          <p:nvPr/>
        </p:nvSpPr>
        <p:spPr>
          <a:xfrm>
            <a:off x="1386687" y="5276088"/>
            <a:ext cx="9418320" cy="245708"/>
          </a:xfrm>
          <a:prstGeom prst="rect">
            <a:avLst/>
          </a:prstGeom>
          <a:noFill/>
        </p:spPr>
        <p:txBody>
          <a:bodyPr wrap="square" lIns="0" tIns="0" rIns="0" bIns="0" anchor="t">
            <a:spAutoFit/>
          </a:bodyPr>
          <a:lstStyle/>
          <a:p>
            <a:pPr algn="ctr">
              <a:lnSpc>
                <a:spcPct val="130000"/>
              </a:lnSpc>
              <a:spcAft>
                <a:spcPts val="0"/>
              </a:spcAft>
            </a:pPr>
            <a:r>
              <a:rPr sz="1400" b="0" i="0" dirty="0">
                <a:solidFill>
                  <a:srgbClr val="C3D2EA"/>
                </a:solidFill>
                <a:latin typeface="Meiryo UI" panose="020B0604030504040204" pitchFamily="50" charset="-128"/>
              </a:rPr>
              <a:t>「体験型サイト」としての工夫と「キングダムハーツらしさ」を融合させ、単なるファンサイトを超えた完成度を実現した。</a:t>
            </a:r>
            <a:endParaRPr sz="1400" b="0" i="0" dirty="0">
              <a:solidFill>
                <a:srgbClr val="C3D2EA"/>
              </a:solidFill>
              <a:latin typeface="Meiryo UI" panose="020B0604030504040204" pitchFamily="50" charset="-128"/>
            </a:endParaRPr>
          </a:p>
        </p:txBody>
      </p:sp>
      <p:sp>
        <p:nvSpPr>
          <p:cNvPr id="105" name="TextBox 104"/>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06" name="TextBox 105"/>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10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03060D"/>
        </a:solidFill>
        <a:effectLst/>
      </p:bgPr>
    </p:bg>
    <p:spTree>
      <p:nvGrpSpPr>
        <p:cNvPr id="1" name=""/>
        <p:cNvGrpSpPr/>
        <p:nvPr/>
      </p:nvGrpSpPr>
      <p:grpSpPr>
        <a:xfrm>
          <a:off x="0" y="0"/>
          <a:ext cx="0" cy="0"/>
          <a:chOff x="0" y="0"/>
          <a:chExt cx="0" cy="0"/>
        </a:xfrm>
      </p:grpSpPr>
      <p:sp>
        <p:nvSpPr>
          <p:cNvPr id="2" name="Oval 1"/>
          <p:cNvSpPr/>
          <p:nvPr/>
        </p:nvSpPr>
        <p:spPr>
          <a:xfrm>
            <a:off x="5577840" y="3749040"/>
            <a:ext cx="8229600" cy="8229600"/>
          </a:xfrm>
          <a:prstGeom prst="ellipse">
            <a:avLst/>
          </a:prstGeom>
          <a:solidFill>
            <a:srgbClr val="143A6B">
              <a:alpha val="16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3246120" y="-3063240"/>
            <a:ext cx="5029200" cy="5029200"/>
          </a:xfrm>
          <a:prstGeom prst="ellipse">
            <a:avLst/>
          </a:prstGeom>
          <a:solidFill>
            <a:srgbClr val="143A6B">
              <a:alpha val="12000"/>
            </a:srgbClr>
          </a:solidFill>
          <a:ln>
            <a:noFill/>
          </a:ln>
          <a:effectLst>
            <a:softEdge rad="1016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2286000"/>
            <a:ext cx="3840480" cy="3840480"/>
          </a:xfrm>
          <a:prstGeom prst="ellipse">
            <a:avLst/>
          </a:prstGeom>
          <a:solidFill>
            <a:srgbClr val="B39A63">
              <a:alpha val="9000"/>
            </a:srgbClr>
          </a:solidFill>
          <a:ln>
            <a:noFill/>
          </a:ln>
          <a:effectLst>
            <a:softEdge rad="889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25779" y="-10767060"/>
            <a:ext cx="13121639" cy="13121639"/>
          </a:xfrm>
          <a:prstGeom prst="ellipse">
            <a:avLst/>
          </a:prstGeom>
          <a:solidFill>
            <a:srgbClr val="9AD5FF">
              <a:alpha val="15000"/>
            </a:srgbClr>
          </a:solidFill>
          <a:ln>
            <a:noFill/>
          </a:ln>
          <a:effectLst>
            <a:softEdge rad="11430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65760" y="-10607040"/>
            <a:ext cx="12801600" cy="12801600"/>
          </a:xfrm>
          <a:prstGeom prst="ellipse">
            <a:avLst/>
          </a:prstGeom>
          <a:noFill/>
          <a:ln w="330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426464" y="-8814816"/>
            <a:ext cx="9217152" cy="9217152"/>
          </a:xfrm>
          <a:prstGeom prst="ellipse">
            <a:avLst/>
          </a:prstGeom>
          <a:noFill/>
          <a:ln w="2540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090672" y="-7150608"/>
            <a:ext cx="5888736" cy="5888736"/>
          </a:xfrm>
          <a:prstGeom prst="ellipse">
            <a:avLst/>
          </a:prstGeom>
          <a:noFill/>
          <a:ln w="20320">
            <a:solidFill>
              <a:srgbClr val="9AD5FF">
                <a:alpha val="40000"/>
              </a:srgbClr>
            </a:solid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8755281" y="-3079479"/>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11401770" y="-2095752"/>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7161800" y="-1485998"/>
            <a:ext cx="1175751" cy="2838512"/>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2" name="Diamond 11"/>
          <p:cNvSpPr/>
          <p:nvPr/>
        </p:nvSpPr>
        <p:spPr>
          <a:xfrm>
            <a:off x="8145527" y="1160490"/>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H="1">
            <a:off x="3732528" y="-1485998"/>
            <a:ext cx="1175751" cy="2838512"/>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3540504" y="1160490"/>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H="1">
            <a:off x="476285" y="-3079479"/>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6" name="Diamond 15"/>
          <p:cNvSpPr/>
          <p:nvPr/>
        </p:nvSpPr>
        <p:spPr>
          <a:xfrm>
            <a:off x="284261" y="-2095752"/>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H="1" flipV="1">
            <a:off x="476285" y="-6508751"/>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284261" y="-6700775"/>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H="1" flipV="1">
            <a:off x="3732528" y="-9764994"/>
            <a:ext cx="1175751" cy="2838513"/>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3540504" y="-9957018"/>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7161800" y="-9764994"/>
            <a:ext cx="1175751" cy="2838513"/>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8145527" y="-9957018"/>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8755281" y="-6508751"/>
            <a:ext cx="2838513" cy="1175751"/>
          </a:xfrm>
          <a:prstGeom prst="line">
            <a:avLst/>
          </a:prstGeom>
          <a:ln w="20320">
            <a:solidFill>
              <a:srgbClr val="E6D5A3">
                <a:alpha val="40000"/>
              </a:srgbClr>
            </a:solidFill>
          </a:ln>
          <a:effectLst>
            <a:softEdge rad="15240"/>
          </a:effectLst>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1401770" y="-6700775"/>
            <a:ext cx="384048" cy="384048"/>
          </a:xfrm>
          <a:prstGeom prst="diamond">
            <a:avLst/>
          </a:prstGeom>
          <a:solidFill>
            <a:srgbClr val="E6D5A3">
              <a:alpha val="40000"/>
            </a:srgbClr>
          </a:solidFill>
          <a:ln>
            <a:noFill/>
          </a:ln>
          <a:effectLst>
            <a:softEdge rad="1524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201168"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1168"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87607" y="201168"/>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990527" y="201168"/>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1168"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01168"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1487607" y="6656832"/>
            <a:ext cx="502920" cy="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1990527" y="6153912"/>
            <a:ext cx="0" cy="502920"/>
          </a:xfrm>
          <a:prstGeom prst="line">
            <a:avLst/>
          </a:prstGeom>
          <a:ln w="20320">
            <a:solidFill>
              <a:srgbClr val="E6D5A3">
                <a:alpha val="34000"/>
              </a:srgbClr>
            </a:solidFill>
          </a:ln>
          <a:effectLst/>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609213" y="1623528"/>
            <a:ext cx="106048" cy="106048"/>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iamond 33"/>
          <p:cNvSpPr/>
          <p:nvPr/>
        </p:nvSpPr>
        <p:spPr>
          <a:xfrm>
            <a:off x="4856199" y="4101087"/>
            <a:ext cx="56577" cy="56577"/>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5122381" y="1727319"/>
            <a:ext cx="88632" cy="88632"/>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700722" y="2021647"/>
            <a:ext cx="59852" cy="59852"/>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iamond 36"/>
          <p:cNvSpPr/>
          <p:nvPr/>
        </p:nvSpPr>
        <p:spPr>
          <a:xfrm>
            <a:off x="10443253" y="2465778"/>
            <a:ext cx="97185" cy="97185"/>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870557" y="1782884"/>
            <a:ext cx="82122" cy="82122"/>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Diamond 38"/>
          <p:cNvSpPr/>
          <p:nvPr/>
        </p:nvSpPr>
        <p:spPr>
          <a:xfrm>
            <a:off x="10093243" y="4984096"/>
            <a:ext cx="52619" cy="52619"/>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5547206" y="1638945"/>
            <a:ext cx="60946" cy="60946"/>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864829" y="427194"/>
            <a:ext cx="47143" cy="47143"/>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941786" y="5763266"/>
            <a:ext cx="90075" cy="90075"/>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iamond 42"/>
          <p:cNvSpPr/>
          <p:nvPr/>
        </p:nvSpPr>
        <p:spPr>
          <a:xfrm>
            <a:off x="5799415" y="3320614"/>
            <a:ext cx="100566" cy="100566"/>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006927" y="4727979"/>
            <a:ext cx="55689" cy="55689"/>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21985" y="6250745"/>
            <a:ext cx="94621" cy="94621"/>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Diamond 45"/>
          <p:cNvSpPr/>
          <p:nvPr/>
        </p:nvSpPr>
        <p:spPr>
          <a:xfrm>
            <a:off x="6918347" y="6286641"/>
            <a:ext cx="69212" cy="69212"/>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086227" y="5853185"/>
            <a:ext cx="55705" cy="55705"/>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4759114" y="4530944"/>
            <a:ext cx="76266" cy="76266"/>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Diamond 48"/>
          <p:cNvSpPr/>
          <p:nvPr/>
        </p:nvSpPr>
        <p:spPr>
          <a:xfrm>
            <a:off x="6830662" y="6242031"/>
            <a:ext cx="107346" cy="107346"/>
          </a:xfrm>
          <a:prstGeom prst="diamond">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836612" y="4966398"/>
            <a:ext cx="54907" cy="54907"/>
          </a:xfrm>
          <a:prstGeom prst="ellipse">
            <a:avLst/>
          </a:prstGeom>
          <a:solidFill>
            <a:srgbClr val="2A6BB5">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5-Point Star 50"/>
          <p:cNvSpPr/>
          <p:nvPr/>
        </p:nvSpPr>
        <p:spPr>
          <a:xfrm>
            <a:off x="6819989" y="6373373"/>
            <a:ext cx="634053" cy="634053"/>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797594" y="2249721"/>
            <a:ext cx="382521" cy="139098"/>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814982" y="2149744"/>
            <a:ext cx="69549" cy="130404"/>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Isosceles Triangle 53"/>
          <p:cNvSpPr/>
          <p:nvPr/>
        </p:nvSpPr>
        <p:spPr>
          <a:xfrm>
            <a:off x="1814982" y="2088888"/>
            <a:ext cx="69549" cy="60855"/>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954080" y="2054114"/>
            <a:ext cx="69549" cy="226035"/>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a:off x="1954080" y="1993258"/>
            <a:ext cx="69549" cy="60855"/>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075792" y="2149744"/>
            <a:ext cx="69549" cy="130404"/>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Isosceles Triangle 57"/>
          <p:cNvSpPr/>
          <p:nvPr/>
        </p:nvSpPr>
        <p:spPr>
          <a:xfrm>
            <a:off x="2075792" y="2088888"/>
            <a:ext cx="69549" cy="60855"/>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1962774" y="2306230"/>
            <a:ext cx="52161" cy="82589"/>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1287567" y="2087598"/>
            <a:ext cx="331476" cy="120536"/>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1302634" y="2000962"/>
            <a:ext cx="60268" cy="113003"/>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Isosceles Triangle 61"/>
          <p:cNvSpPr/>
          <p:nvPr/>
        </p:nvSpPr>
        <p:spPr>
          <a:xfrm>
            <a:off x="11302634" y="1948228"/>
            <a:ext cx="60268" cy="52734"/>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11423171" y="1918093"/>
            <a:ext cx="60268" cy="195872"/>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Isosceles Triangle 63"/>
          <p:cNvSpPr/>
          <p:nvPr/>
        </p:nvSpPr>
        <p:spPr>
          <a:xfrm>
            <a:off x="11423171" y="1865358"/>
            <a:ext cx="60268" cy="52734"/>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11528641" y="2000962"/>
            <a:ext cx="60268" cy="113003"/>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Isosceles Triangle 65"/>
          <p:cNvSpPr/>
          <p:nvPr/>
        </p:nvSpPr>
        <p:spPr>
          <a:xfrm>
            <a:off x="11528641" y="1948228"/>
            <a:ext cx="60268" cy="52734"/>
          </a:xfrm>
          <a:prstGeom prst="triangl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11430705" y="2136567"/>
            <a:ext cx="45201" cy="71568"/>
          </a:xfrm>
          <a:prstGeom prst="roundRect">
            <a:avLst>
              <a:gd name="adj" fmla="val 6000"/>
            </a:avLst>
          </a:prstGeom>
          <a:solidFill>
            <a:srgbClr val="03060D">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5-Point Star 67"/>
          <p:cNvSpPr/>
          <p:nvPr/>
        </p:nvSpPr>
        <p:spPr>
          <a:xfrm>
            <a:off x="9410458" y="2006977"/>
            <a:ext cx="522662" cy="522662"/>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rot="19800000">
            <a:off x="944582" y="1476757"/>
            <a:ext cx="39470" cy="263139"/>
          </a:xfrm>
          <a:prstGeom prst="rect">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5-Point Star 69"/>
          <p:cNvSpPr/>
          <p:nvPr/>
        </p:nvSpPr>
        <p:spPr>
          <a:xfrm>
            <a:off x="870026" y="1327645"/>
            <a:ext cx="201739" cy="201739"/>
          </a:xfrm>
          <a:prstGeom prst="star5">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4-Point Star 70"/>
          <p:cNvSpPr/>
          <p:nvPr/>
        </p:nvSpPr>
        <p:spPr>
          <a:xfrm>
            <a:off x="813013" y="1503071"/>
            <a:ext cx="70170" cy="70170"/>
          </a:xfrm>
          <a:prstGeom prst="star4">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4-Point Star 71"/>
          <p:cNvSpPr/>
          <p:nvPr/>
        </p:nvSpPr>
        <p:spPr>
          <a:xfrm>
            <a:off x="777927" y="1590784"/>
            <a:ext cx="48242" cy="48242"/>
          </a:xfrm>
          <a:prstGeom prst="star4">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3" name="Connector 72"/>
          <p:cNvCxnSpPr/>
          <p:nvPr/>
        </p:nvCxnSpPr>
        <p:spPr>
          <a:xfrm>
            <a:off x="3553474" y="3478182"/>
            <a:ext cx="163504"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4" name="Oval 73"/>
          <p:cNvSpPr/>
          <p:nvPr/>
        </p:nvSpPr>
        <p:spPr>
          <a:xfrm>
            <a:off x="3704070" y="3465274"/>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5" name="Connector 74"/>
          <p:cNvCxnSpPr/>
          <p:nvPr/>
        </p:nvCxnSpPr>
        <p:spPr>
          <a:xfrm>
            <a:off x="3545257" y="3503473"/>
            <a:ext cx="132277" cy="9610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3664626" y="3586670"/>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3523743" y="3519103"/>
            <a:ext cx="50526" cy="15550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3561360" y="3661697"/>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9" name="Connector 78"/>
          <p:cNvCxnSpPr/>
          <p:nvPr/>
        </p:nvCxnSpPr>
        <p:spPr>
          <a:xfrm flipH="1">
            <a:off x="3446625" y="3519103"/>
            <a:ext cx="50526" cy="15550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3433717" y="3661697"/>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1" name="Connector 80"/>
          <p:cNvCxnSpPr/>
          <p:nvPr/>
        </p:nvCxnSpPr>
        <p:spPr>
          <a:xfrm flipH="1">
            <a:off x="3343360" y="3503473"/>
            <a:ext cx="132277" cy="9610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3330452" y="3586670"/>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3" name="Connector 82"/>
          <p:cNvCxnSpPr/>
          <p:nvPr/>
        </p:nvCxnSpPr>
        <p:spPr>
          <a:xfrm flipH="1">
            <a:off x="3303916" y="3478182"/>
            <a:ext cx="163504"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3291008" y="3465274"/>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5" name="Connector 84"/>
          <p:cNvCxnSpPr/>
          <p:nvPr/>
        </p:nvCxnSpPr>
        <p:spPr>
          <a:xfrm flipH="1" flipV="1">
            <a:off x="3343360" y="3356786"/>
            <a:ext cx="132277" cy="9610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3330452" y="3343878"/>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7" name="Connector 86"/>
          <p:cNvCxnSpPr/>
          <p:nvPr/>
        </p:nvCxnSpPr>
        <p:spPr>
          <a:xfrm flipH="1" flipV="1">
            <a:off x="3446625" y="3281759"/>
            <a:ext cx="50526" cy="15550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88" name="Oval 87"/>
          <p:cNvSpPr/>
          <p:nvPr/>
        </p:nvSpPr>
        <p:spPr>
          <a:xfrm>
            <a:off x="3433717" y="3268851"/>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9" name="Connector 88"/>
          <p:cNvCxnSpPr/>
          <p:nvPr/>
        </p:nvCxnSpPr>
        <p:spPr>
          <a:xfrm flipV="1">
            <a:off x="3523743" y="3281759"/>
            <a:ext cx="50526" cy="15550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3561360" y="3268851"/>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1" name="Connector 90"/>
          <p:cNvCxnSpPr/>
          <p:nvPr/>
        </p:nvCxnSpPr>
        <p:spPr>
          <a:xfrm flipV="1">
            <a:off x="3545257" y="3356786"/>
            <a:ext cx="132277" cy="96105"/>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3664626" y="3343878"/>
            <a:ext cx="25816" cy="25816"/>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3484631" y="3452366"/>
            <a:ext cx="51632" cy="51632"/>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4" name="Connector 93"/>
          <p:cNvCxnSpPr/>
          <p:nvPr/>
        </p:nvCxnSpPr>
        <p:spPr>
          <a:xfrm>
            <a:off x="10500957" y="5588831"/>
            <a:ext cx="201981"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0686992" y="5572885"/>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6" name="Connector 95"/>
          <p:cNvCxnSpPr/>
          <p:nvPr/>
        </p:nvCxnSpPr>
        <p:spPr>
          <a:xfrm>
            <a:off x="10490805" y="5620073"/>
            <a:ext cx="163407" cy="11872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7" name="Oval 96"/>
          <p:cNvSpPr/>
          <p:nvPr/>
        </p:nvSpPr>
        <p:spPr>
          <a:xfrm>
            <a:off x="10638266" y="5722849"/>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8" name="Connector 97"/>
          <p:cNvCxnSpPr/>
          <p:nvPr/>
        </p:nvCxnSpPr>
        <p:spPr>
          <a:xfrm>
            <a:off x="10464229" y="5639382"/>
            <a:ext cx="62415" cy="192096"/>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10510698" y="5815532"/>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0" name="Connector 99"/>
          <p:cNvCxnSpPr/>
          <p:nvPr/>
        </p:nvCxnSpPr>
        <p:spPr>
          <a:xfrm flipH="1">
            <a:off x="10368963" y="5639382"/>
            <a:ext cx="62415" cy="192096"/>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10353017" y="5815532"/>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2" name="Connector 101"/>
          <p:cNvCxnSpPr/>
          <p:nvPr/>
        </p:nvCxnSpPr>
        <p:spPr>
          <a:xfrm flipH="1">
            <a:off x="10241395" y="5620073"/>
            <a:ext cx="163407" cy="11872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3" name="Oval 102"/>
          <p:cNvSpPr/>
          <p:nvPr/>
        </p:nvSpPr>
        <p:spPr>
          <a:xfrm>
            <a:off x="10225450" y="5722849"/>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4" name="Connector 103"/>
          <p:cNvCxnSpPr/>
          <p:nvPr/>
        </p:nvCxnSpPr>
        <p:spPr>
          <a:xfrm flipH="1">
            <a:off x="10192669" y="5588831"/>
            <a:ext cx="201982" cy="0"/>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0176723" y="5572885"/>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6" name="Connector 105"/>
          <p:cNvCxnSpPr/>
          <p:nvPr/>
        </p:nvCxnSpPr>
        <p:spPr>
          <a:xfrm flipH="1" flipV="1">
            <a:off x="10241395" y="5438866"/>
            <a:ext cx="163407" cy="11872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7" name="Oval 106"/>
          <p:cNvSpPr/>
          <p:nvPr/>
        </p:nvSpPr>
        <p:spPr>
          <a:xfrm>
            <a:off x="10225450" y="5422920"/>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8" name="Connector 107"/>
          <p:cNvCxnSpPr/>
          <p:nvPr/>
        </p:nvCxnSpPr>
        <p:spPr>
          <a:xfrm flipH="1" flipV="1">
            <a:off x="10368963" y="5346183"/>
            <a:ext cx="62415" cy="192096"/>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09" name="Oval 108"/>
          <p:cNvSpPr/>
          <p:nvPr/>
        </p:nvSpPr>
        <p:spPr>
          <a:xfrm>
            <a:off x="10353017" y="5330237"/>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0" name="Connector 109"/>
          <p:cNvCxnSpPr/>
          <p:nvPr/>
        </p:nvCxnSpPr>
        <p:spPr>
          <a:xfrm flipV="1">
            <a:off x="10464229" y="5346183"/>
            <a:ext cx="62415" cy="192096"/>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11" name="Oval 110"/>
          <p:cNvSpPr/>
          <p:nvPr/>
        </p:nvSpPr>
        <p:spPr>
          <a:xfrm>
            <a:off x="10510698" y="5330237"/>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2" name="Connector 111"/>
          <p:cNvCxnSpPr/>
          <p:nvPr/>
        </p:nvCxnSpPr>
        <p:spPr>
          <a:xfrm flipV="1">
            <a:off x="10490805" y="5438866"/>
            <a:ext cx="163407" cy="118722"/>
          </a:xfrm>
          <a:prstGeom prst="line">
            <a:avLst/>
          </a:prstGeom>
          <a:ln w="20320">
            <a:solidFill>
              <a:srgbClr val="2A6BB5">
                <a:alpha val="24000"/>
              </a:srgbClr>
            </a:solidFill>
          </a:ln>
          <a:effectLst/>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10638266" y="5422920"/>
            <a:ext cx="31891" cy="31891"/>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0415912" y="5556939"/>
            <a:ext cx="63783" cy="63783"/>
          </a:xfrm>
          <a:prstGeom prst="ellipse">
            <a:avLst/>
          </a:prstGeom>
          <a:solidFill>
            <a:srgbClr val="2A6BB5">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22960" y="502920"/>
            <a:ext cx="8229600" cy="365760"/>
          </a:xfrm>
          <a:prstGeom prst="rect">
            <a:avLst/>
          </a:prstGeom>
          <a:noFill/>
        </p:spPr>
        <p:txBody>
          <a:bodyPr wrap="square" lIns="0" tIns="0" rIns="0" bIns="0" anchor="t">
            <a:spAutoFit/>
          </a:bodyPr>
          <a:lstStyle/>
          <a:p>
            <a:pPr algn="l">
              <a:lnSpc>
                <a:spcPct val="100000"/>
              </a:lnSpc>
              <a:spcAft>
                <a:spcPts val="0"/>
              </a:spcAft>
            </a:pPr>
            <a:r>
              <a:rPr sz="1200" b="0" i="0" spc="300">
                <a:solidFill>
                  <a:srgbClr val="4DA6FF"/>
                </a:solidFill>
                <a:latin typeface="Georgia"/>
              </a:rPr>
              <a:t>VALUE</a:t>
            </a:r>
          </a:p>
        </p:txBody>
      </p:sp>
      <p:sp>
        <p:nvSpPr>
          <p:cNvPr id="116" name="Rectangle 115"/>
          <p:cNvSpPr/>
          <p:nvPr/>
        </p:nvSpPr>
        <p:spPr>
          <a:xfrm>
            <a:off x="822960" y="914400"/>
            <a:ext cx="41148" cy="502920"/>
          </a:xfrm>
          <a:prstGeom prst="rect">
            <a:avLst/>
          </a:prstGeom>
          <a:solidFill>
            <a:srgbClr val="E6D5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60120" y="868680"/>
            <a:ext cx="9601200" cy="415498"/>
          </a:xfrm>
          <a:prstGeom prst="rect">
            <a:avLst/>
          </a:prstGeom>
          <a:noFill/>
        </p:spPr>
        <p:txBody>
          <a:bodyPr wrap="square" lIns="0" tIns="0" rIns="0" bIns="0" anchor="t">
            <a:spAutoFit/>
          </a:bodyPr>
          <a:lstStyle/>
          <a:p>
            <a:pPr algn="l">
              <a:lnSpc>
                <a:spcPct val="100000"/>
              </a:lnSpc>
              <a:spcAft>
                <a:spcPts val="0"/>
              </a:spcAft>
            </a:pPr>
            <a:r>
              <a:rPr sz="2700" b="1" i="0" dirty="0" err="1">
                <a:solidFill>
                  <a:srgbClr val="EEF4FF"/>
                </a:solidFill>
                <a:latin typeface="Meiryo UI" panose="020B0604030504040204" pitchFamily="50" charset="-128"/>
              </a:rPr>
              <a:t>企画の実現価値と市場性</a:t>
            </a:r>
            <a:endParaRPr sz="2700" b="1" i="0" dirty="0">
              <a:solidFill>
                <a:srgbClr val="EEF4FF"/>
              </a:solidFill>
              <a:latin typeface="Meiryo UI" panose="020B0604030504040204" pitchFamily="50" charset="-128"/>
            </a:endParaRPr>
          </a:p>
        </p:txBody>
      </p:sp>
      <p:sp>
        <p:nvSpPr>
          <p:cNvPr id="118" name="Rounded Rectangle 117"/>
          <p:cNvSpPr/>
          <p:nvPr/>
        </p:nvSpPr>
        <p:spPr>
          <a:xfrm>
            <a:off x="822960" y="1828800"/>
            <a:ext cx="2468880" cy="1051560"/>
          </a:xfrm>
          <a:prstGeom prst="roundRect">
            <a:avLst>
              <a:gd name="adj" fmla="val 10000"/>
            </a:avLst>
          </a:prstGeom>
          <a:solidFill>
            <a:srgbClr val="111E3B"/>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822960" y="2262247"/>
            <a:ext cx="2468880" cy="184666"/>
          </a:xfrm>
          <a:prstGeom prst="rect">
            <a:avLst/>
          </a:prstGeom>
          <a:noFill/>
        </p:spPr>
        <p:txBody>
          <a:bodyPr wrap="square" lIns="0" tIns="0" rIns="0" bIns="0" anchor="ctr">
            <a:spAutoFit/>
          </a:bodyPr>
          <a:lstStyle/>
          <a:p>
            <a:pPr algn="ctr">
              <a:lnSpc>
                <a:spcPct val="100000"/>
              </a:lnSpc>
              <a:spcAft>
                <a:spcPts val="0"/>
              </a:spcAft>
            </a:pPr>
            <a:r>
              <a:rPr sz="1200" b="1" i="0" dirty="0" err="1">
                <a:solidFill>
                  <a:srgbClr val="9AD5FF"/>
                </a:solidFill>
                <a:latin typeface="Meiryo UI" panose="020B0604030504040204" pitchFamily="50" charset="-128"/>
              </a:rPr>
              <a:t>Web技術的価値</a:t>
            </a:r>
            <a:endParaRPr sz="1200" b="1" i="0" dirty="0">
              <a:solidFill>
                <a:srgbClr val="9AD5FF"/>
              </a:solidFill>
              <a:latin typeface="Meiryo UI" panose="020B0604030504040204" pitchFamily="50" charset="-128"/>
            </a:endParaRPr>
          </a:p>
        </p:txBody>
      </p:sp>
      <p:sp>
        <p:nvSpPr>
          <p:cNvPr id="120" name="TextBox 119"/>
          <p:cNvSpPr txBox="1"/>
          <p:nvPr/>
        </p:nvSpPr>
        <p:spPr>
          <a:xfrm>
            <a:off x="3520440" y="2134539"/>
            <a:ext cx="7818120" cy="449226"/>
          </a:xfrm>
          <a:prstGeom prst="rect">
            <a:avLst/>
          </a:prstGeom>
          <a:noFill/>
        </p:spPr>
        <p:txBody>
          <a:bodyPr wrap="square" lIns="0" tIns="0" rIns="0" bIns="0" anchor="ctr">
            <a:spAutoFit/>
          </a:bodyPr>
          <a:lstStyle/>
          <a:p>
            <a:pPr algn="l">
              <a:lnSpc>
                <a:spcPct val="145000"/>
              </a:lnSpc>
              <a:spcAft>
                <a:spcPts val="0"/>
              </a:spcAft>
            </a:pPr>
            <a:r>
              <a:rPr sz="1080" b="0" i="0" dirty="0">
                <a:solidFill>
                  <a:srgbClr val="C3D2EA"/>
                </a:solidFill>
                <a:latin typeface="Meiryo UI" panose="020B0604030504040204" pitchFamily="50" charset="-128"/>
              </a:rPr>
              <a:t>HTML・CSS・JavaScriptの実践的な活用例として、高度なインタラクティブ機能を実装する。レスポンシブデザインと複雑な状態管理を統合した実装の実現可能性を示す。</a:t>
            </a:r>
          </a:p>
        </p:txBody>
      </p:sp>
      <p:cxnSp>
        <p:nvCxnSpPr>
          <p:cNvPr id="121" name="Connector 120"/>
          <p:cNvCxnSpPr/>
          <p:nvPr/>
        </p:nvCxnSpPr>
        <p:spPr>
          <a:xfrm>
            <a:off x="822960" y="3063240"/>
            <a:ext cx="10515600" cy="0"/>
          </a:xfrm>
          <a:prstGeom prst="line">
            <a:avLst/>
          </a:prstGeom>
          <a:ln w="9525">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822960" y="3291840"/>
            <a:ext cx="2468880" cy="1051560"/>
          </a:xfrm>
          <a:prstGeom prst="roundRect">
            <a:avLst>
              <a:gd name="adj" fmla="val 10000"/>
            </a:avLst>
          </a:prstGeom>
          <a:solidFill>
            <a:srgbClr val="111E3B"/>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822960" y="3725287"/>
            <a:ext cx="2468880" cy="184666"/>
          </a:xfrm>
          <a:prstGeom prst="rect">
            <a:avLst/>
          </a:prstGeom>
          <a:noFill/>
        </p:spPr>
        <p:txBody>
          <a:bodyPr wrap="square" lIns="0" tIns="0" rIns="0" bIns="0" anchor="ctr">
            <a:spAutoFit/>
          </a:bodyPr>
          <a:lstStyle/>
          <a:p>
            <a:pPr algn="ctr">
              <a:lnSpc>
                <a:spcPct val="100000"/>
              </a:lnSpc>
              <a:spcAft>
                <a:spcPts val="0"/>
              </a:spcAft>
            </a:pPr>
            <a:r>
              <a:rPr sz="1200" b="1" i="0" dirty="0" err="1">
                <a:solidFill>
                  <a:srgbClr val="9AD5FF"/>
                </a:solidFill>
                <a:latin typeface="Meiryo UI" panose="020B0604030504040204" pitchFamily="50" charset="-128"/>
              </a:rPr>
              <a:t>エンターテイメント性</a:t>
            </a:r>
            <a:endParaRPr sz="1200" b="1" i="0" dirty="0">
              <a:solidFill>
                <a:srgbClr val="9AD5FF"/>
              </a:solidFill>
              <a:latin typeface="Meiryo UI" panose="020B0604030504040204" pitchFamily="50" charset="-128"/>
            </a:endParaRPr>
          </a:p>
        </p:txBody>
      </p:sp>
      <p:sp>
        <p:nvSpPr>
          <p:cNvPr id="124" name="TextBox 123"/>
          <p:cNvSpPr txBox="1"/>
          <p:nvPr/>
        </p:nvSpPr>
        <p:spPr>
          <a:xfrm>
            <a:off x="3520440" y="3597579"/>
            <a:ext cx="7818120" cy="449226"/>
          </a:xfrm>
          <a:prstGeom prst="rect">
            <a:avLst/>
          </a:prstGeom>
          <a:noFill/>
        </p:spPr>
        <p:txBody>
          <a:bodyPr wrap="square" lIns="0" tIns="0" rIns="0" bIns="0" anchor="ctr">
            <a:spAutoFit/>
          </a:bodyPr>
          <a:lstStyle/>
          <a:p>
            <a:pPr algn="l">
              <a:lnSpc>
                <a:spcPct val="145000"/>
              </a:lnSpc>
              <a:spcAft>
                <a:spcPts val="0"/>
              </a:spcAft>
            </a:pPr>
            <a:r>
              <a:rPr sz="1080" b="0" i="0" dirty="0">
                <a:solidFill>
                  <a:srgbClr val="C3D2EA"/>
                </a:solidFill>
                <a:latin typeface="Meiryo UI" panose="020B0604030504040204" pitchFamily="50" charset="-128"/>
              </a:rPr>
              <a:t>ゲームの世界観と操作感をWebサイトに移植することで、新しいユーザー体験を創造する。記憶の欠片収集など、ユーザーの探索欲求を刺激する仕組みを組み込む。</a:t>
            </a:r>
          </a:p>
        </p:txBody>
      </p:sp>
      <p:cxnSp>
        <p:nvCxnSpPr>
          <p:cNvPr id="125" name="Connector 124"/>
          <p:cNvCxnSpPr/>
          <p:nvPr/>
        </p:nvCxnSpPr>
        <p:spPr>
          <a:xfrm>
            <a:off x="822960" y="4526280"/>
            <a:ext cx="10515600" cy="0"/>
          </a:xfrm>
          <a:prstGeom prst="line">
            <a:avLst/>
          </a:prstGeom>
          <a:ln w="9525">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126" name="Rounded Rectangle 125"/>
          <p:cNvSpPr/>
          <p:nvPr/>
        </p:nvSpPr>
        <p:spPr>
          <a:xfrm>
            <a:off x="822960" y="4754880"/>
            <a:ext cx="2468880" cy="1051560"/>
          </a:xfrm>
          <a:prstGeom prst="roundRect">
            <a:avLst>
              <a:gd name="adj" fmla="val 10000"/>
            </a:avLst>
          </a:prstGeom>
          <a:solidFill>
            <a:srgbClr val="111E3B"/>
          </a:solidFill>
          <a:ln w="9525">
            <a:solidFill>
              <a:srgbClr val="2A6B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822960" y="5188327"/>
            <a:ext cx="2468880" cy="184666"/>
          </a:xfrm>
          <a:prstGeom prst="rect">
            <a:avLst/>
          </a:prstGeom>
          <a:noFill/>
        </p:spPr>
        <p:txBody>
          <a:bodyPr wrap="square" lIns="0" tIns="0" rIns="0" bIns="0" anchor="ctr">
            <a:spAutoFit/>
          </a:bodyPr>
          <a:lstStyle/>
          <a:p>
            <a:pPr algn="ctr">
              <a:lnSpc>
                <a:spcPct val="100000"/>
              </a:lnSpc>
              <a:spcAft>
                <a:spcPts val="0"/>
              </a:spcAft>
            </a:pPr>
            <a:r>
              <a:rPr sz="1200" b="1" i="0" dirty="0" err="1">
                <a:solidFill>
                  <a:srgbClr val="9AD5FF"/>
                </a:solidFill>
                <a:latin typeface="Meiryo UI" panose="020B0604030504040204" pitchFamily="50" charset="-128"/>
              </a:rPr>
              <a:t>今後の発展性</a:t>
            </a:r>
            <a:endParaRPr sz="1200" b="1" i="0" dirty="0">
              <a:solidFill>
                <a:srgbClr val="9AD5FF"/>
              </a:solidFill>
              <a:latin typeface="Meiryo UI" panose="020B0604030504040204" pitchFamily="50" charset="-128"/>
            </a:endParaRPr>
          </a:p>
        </p:txBody>
      </p:sp>
      <p:sp>
        <p:nvSpPr>
          <p:cNvPr id="128" name="TextBox 127"/>
          <p:cNvSpPr txBox="1"/>
          <p:nvPr/>
        </p:nvSpPr>
        <p:spPr>
          <a:xfrm>
            <a:off x="3520440" y="5060619"/>
            <a:ext cx="7818120" cy="449226"/>
          </a:xfrm>
          <a:prstGeom prst="rect">
            <a:avLst/>
          </a:prstGeom>
          <a:noFill/>
        </p:spPr>
        <p:txBody>
          <a:bodyPr wrap="square" lIns="0" tIns="0" rIns="0" bIns="0" anchor="ctr">
            <a:spAutoFit/>
          </a:bodyPr>
          <a:lstStyle/>
          <a:p>
            <a:pPr algn="l">
              <a:lnSpc>
                <a:spcPct val="145000"/>
              </a:lnSpc>
              <a:spcAft>
                <a:spcPts val="0"/>
              </a:spcAft>
            </a:pPr>
            <a:r>
              <a:rPr sz="1080" b="0" i="0" dirty="0" err="1">
                <a:solidFill>
                  <a:srgbClr val="C3D2EA"/>
                </a:solidFill>
                <a:latin typeface="Meiryo UI" panose="020B0604030504040204" pitchFamily="50" charset="-128"/>
              </a:rPr>
              <a:t>他のゲーム作品や物語コンテンツへの応用が可能な構成であり</a:t>
            </a:r>
            <a:r>
              <a:rPr sz="1080" b="0" i="0" dirty="0">
                <a:solidFill>
                  <a:srgbClr val="C3D2EA"/>
                </a:solidFill>
                <a:latin typeface="Meiryo UI" panose="020B0604030504040204" pitchFamily="50" charset="-128"/>
              </a:rPr>
              <a:t>、「</a:t>
            </a:r>
            <a:r>
              <a:rPr sz="1080" b="0" i="0" dirty="0" err="1">
                <a:solidFill>
                  <a:srgbClr val="C3D2EA"/>
                </a:solidFill>
                <a:latin typeface="Meiryo UI" panose="020B0604030504040204" pitchFamily="50" charset="-128"/>
              </a:rPr>
              <a:t>記憶を集めながら世界観を辿る」体験型Webサイトの一つのモデルケースとして提示できる</a:t>
            </a:r>
            <a:r>
              <a:rPr sz="1080" b="0" i="0" dirty="0">
                <a:solidFill>
                  <a:srgbClr val="C3D2EA"/>
                </a:solidFill>
                <a:latin typeface="Meiryo UI" panose="020B0604030504040204" pitchFamily="50" charset="-128"/>
              </a:rPr>
              <a:t>。</a:t>
            </a:r>
          </a:p>
        </p:txBody>
      </p:sp>
      <p:cxnSp>
        <p:nvCxnSpPr>
          <p:cNvPr id="129" name="Connector 128"/>
          <p:cNvCxnSpPr/>
          <p:nvPr/>
        </p:nvCxnSpPr>
        <p:spPr>
          <a:xfrm>
            <a:off x="822960" y="5989320"/>
            <a:ext cx="10515600" cy="0"/>
          </a:xfrm>
          <a:prstGeom prst="line">
            <a:avLst/>
          </a:prstGeom>
          <a:ln w="9525">
            <a:solidFill>
              <a:srgbClr val="143A6B"/>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822960" y="6446520"/>
            <a:ext cx="5486400" cy="274320"/>
          </a:xfrm>
          <a:prstGeom prst="rect">
            <a:avLst/>
          </a:prstGeom>
          <a:noFill/>
        </p:spPr>
        <p:txBody>
          <a:bodyPr wrap="square" lIns="0" tIns="0" rIns="0" bIns="0" anchor="t">
            <a:spAutoFit/>
          </a:bodyPr>
          <a:lstStyle/>
          <a:p>
            <a:pPr algn="l">
              <a:lnSpc>
                <a:spcPct val="100000"/>
              </a:lnSpc>
              <a:spcAft>
                <a:spcPts val="0"/>
              </a:spcAft>
            </a:pPr>
            <a:r>
              <a:rPr sz="800" b="0" i="0" spc="150">
                <a:solidFill>
                  <a:srgbClr val="7D8FAE"/>
                </a:solidFill>
                <a:latin typeface="Georgia"/>
              </a:rPr>
              <a:t>KINGDOM HEARTS — MEMORY</a:t>
            </a:r>
          </a:p>
        </p:txBody>
      </p:sp>
      <p:sp>
        <p:nvSpPr>
          <p:cNvPr id="131" name="TextBox 130"/>
          <p:cNvSpPr txBox="1"/>
          <p:nvPr/>
        </p:nvSpPr>
        <p:spPr>
          <a:xfrm>
            <a:off x="10241280" y="6446520"/>
            <a:ext cx="1097280" cy="274320"/>
          </a:xfrm>
          <a:prstGeom prst="rect">
            <a:avLst/>
          </a:prstGeom>
          <a:noFill/>
        </p:spPr>
        <p:txBody>
          <a:bodyPr wrap="square" lIns="0" tIns="0" rIns="0" bIns="0" anchor="t">
            <a:spAutoFit/>
          </a:bodyPr>
          <a:lstStyle/>
          <a:p>
            <a:pPr algn="r">
              <a:lnSpc>
                <a:spcPct val="100000"/>
              </a:lnSpc>
              <a:spcAft>
                <a:spcPts val="0"/>
              </a:spcAft>
            </a:pPr>
            <a:r>
              <a:rPr sz="800" b="0" i="0" spc="150">
                <a:solidFill>
                  <a:srgbClr val="B39A63"/>
                </a:solidFill>
                <a:latin typeface="Georgia"/>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1436</TotalTime>
  <Words>542</Words>
  <Application>Microsoft Office PowerPoint</Application>
  <PresentationFormat>ワイド画面</PresentationFormat>
  <Paragraphs>155</Paragraphs>
  <Slides>12</Slides>
  <Notes>2</Notes>
  <HiddenSlides>2</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vt:i4>
      </vt:variant>
    </vt:vector>
  </HeadingPairs>
  <TitlesOfParts>
    <vt:vector size="18" baseType="lpstr">
      <vt:lpstr>Meiryo UI</vt:lpstr>
      <vt:lpstr>游ゴシック</vt:lpstr>
      <vt:lpstr>Arial</vt:lpstr>
      <vt:lpstr>Calibri</vt:lpstr>
      <vt:lpstr>Georgia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佐藤 万宙(zeal23418190)</cp:lastModifiedBy>
  <cp:revision>6</cp:revision>
  <dcterms:created xsi:type="dcterms:W3CDTF">2013-01-27T09:14:16Z</dcterms:created>
  <dcterms:modified xsi:type="dcterms:W3CDTF">2026-08-27T05:11:48Z</dcterms:modified>
  <cp:category/>
</cp:coreProperties>
</file>